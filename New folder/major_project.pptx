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60" r:id="rId4"/>
    <p:sldId id="275" r:id="rId5"/>
    <p:sldId id="261" r:id="rId6"/>
    <p:sldId id="263" r:id="rId7"/>
    <p:sldId id="274" r:id="rId8"/>
    <p:sldId id="264" r:id="rId9"/>
    <p:sldId id="265" r:id="rId10"/>
    <p:sldId id="266" r:id="rId11"/>
    <p:sldId id="273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Leaf 1</cx:pt>
          <cx:pt idx="1">Leaf 8</cx:pt>
          <cx:pt idx="2">Leaf 9</cx:pt>
          <cx:pt idx="3">Leaf 10</cx:pt>
          <cx:pt idx="4">Leaf 11</cx:pt>
          <cx:pt idx="5">Leaf 12</cx:pt>
          <cx:pt idx="6">Leaf 13</cx:pt>
          <cx:pt idx="7">Oxidiser</cx:pt>
          <cx:pt idx="8">Fuel</cx:pt>
        </cx:lvl>
        <cx:lvl ptCount="16">
          <cx:pt idx="0">Stem 1</cx:pt>
          <cx:pt idx="1">Stem 3</cx:pt>
          <cx:pt idx="2">Stem 3</cx:pt>
          <cx:pt idx="3">Stem 4</cx:pt>
          <cx:pt idx="4">Stem 4</cx:pt>
          <cx:pt idx="5">Stem 5</cx:pt>
          <cx:pt idx="6">Stem 5</cx:pt>
          <cx:pt idx="7">Propellants</cx:pt>
          <cx:pt idx="8">Propellants</cx:pt>
        </cx:lvl>
        <cx:lvl ptCount="16">
          <cx:pt idx="0">Branch 1</cx:pt>
          <cx:pt idx="1">Branch 2</cx:pt>
          <cx:pt idx="2">Thermal liners</cx:pt>
          <cx:pt idx="3">Machining</cx:pt>
          <cx:pt idx="4">Miscellaneous</cx:pt>
          <cx:pt idx="5">Hardware</cx:pt>
          <cx:pt idx="6">Base</cx:pt>
          <cx:pt idx="7">Propellants</cx:pt>
          <cx:pt idx="8">Propellants</cx:pt>
        </cx:lvl>
      </cx:strDim>
      <cx:numDim type="size">
        <cx:f>Sheet1!$D$2:$D$17</cx:f>
        <cx:lvl ptCount="16" formatCode="General">
          <cx:pt idx="0">22</cx:pt>
          <cx:pt idx="1">25</cx:pt>
          <cx:pt idx="2">23</cx:pt>
          <cx:pt idx="3">24</cx:pt>
          <cx:pt idx="4">89</cx:pt>
          <cx:pt idx="5">16</cx:pt>
          <cx:pt idx="6">27</cx:pt>
          <cx:pt idx="7">10</cx:pt>
          <cx:pt idx="8">10</cx:pt>
        </cx:lvl>
      </cx:numDim>
    </cx:data>
  </cx:chartData>
  <cx:chart>
    <cx:title pos="t" align="ctr" overlay="0">
      <cx:tx>
        <cx:txData>
          <cx:v>Bill of Materials (BoM)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862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rPr>
            <a:t>Bill of Materials (BoM)</a:t>
          </a:r>
        </a:p>
      </cx:txPr>
    </cx:title>
    <cx:plotArea>
      <cx:plotAreaRegion>
        <cx:series layoutId="treemap" uniqueId="{5549C27F-E056-4AFC-A3D8-AF0783C172C7}">
          <cx:tx>
            <cx:txData>
              <cx:f>Sheet1!$D$1</cx:f>
              <cx:v>Series1</cx:v>
            </cx:txData>
          </cx:tx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70BC58-1045-437F-ACAE-48AD1D2C276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138930-8DAE-499E-8F54-F004ABA484D5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/>
            <a:t>Theory</a:t>
          </a:r>
          <a:endParaRPr lang="en-US" sz="2400" dirty="0"/>
        </a:p>
      </dgm:t>
    </dgm:pt>
    <dgm:pt modelId="{E9CBDE91-AF62-4AFA-91AC-7EB0E3E01860}" type="parTrans" cxnId="{3C283729-A17F-4A14-8B26-0F6F7959B33F}">
      <dgm:prSet/>
      <dgm:spPr/>
      <dgm:t>
        <a:bodyPr/>
        <a:lstStyle/>
        <a:p>
          <a:endParaRPr lang="en-US"/>
        </a:p>
      </dgm:t>
    </dgm:pt>
    <dgm:pt modelId="{3467BFB4-5A03-4C22-982A-8C447654193E}" type="sibTrans" cxnId="{3C283729-A17F-4A14-8B26-0F6F7959B33F}">
      <dgm:prSet/>
      <dgm:spPr/>
      <dgm:t>
        <a:bodyPr/>
        <a:lstStyle/>
        <a:p>
          <a:endParaRPr lang="en-US"/>
        </a:p>
      </dgm:t>
    </dgm:pt>
    <dgm:pt modelId="{29789624-BDC0-492D-98DD-8063C648EEE0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dirty="0"/>
            <a:t>Design</a:t>
          </a:r>
        </a:p>
      </dgm:t>
    </dgm:pt>
    <dgm:pt modelId="{52D11733-C5AD-4D3F-B8E2-38B48FB279E1}" type="parTrans" cxnId="{429200D3-624F-41F8-9DBB-7B608499FE55}">
      <dgm:prSet/>
      <dgm:spPr/>
      <dgm:t>
        <a:bodyPr/>
        <a:lstStyle/>
        <a:p>
          <a:endParaRPr lang="en-US"/>
        </a:p>
      </dgm:t>
    </dgm:pt>
    <dgm:pt modelId="{C8E9603E-3F32-48EF-AF10-8FAFE4E06591}" type="sibTrans" cxnId="{429200D3-624F-41F8-9DBB-7B608499FE55}">
      <dgm:prSet/>
      <dgm:spPr/>
      <dgm:t>
        <a:bodyPr/>
        <a:lstStyle/>
        <a:p>
          <a:endParaRPr lang="en-US"/>
        </a:p>
      </dgm:t>
    </dgm:pt>
    <dgm:pt modelId="{60210612-DED9-42A6-916A-D6EDCE85171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dirty="0"/>
            <a:t>BoM</a:t>
          </a:r>
        </a:p>
      </dgm:t>
    </dgm:pt>
    <dgm:pt modelId="{7C57B441-3ADA-43F0-83F1-7882161B5020}" type="parTrans" cxnId="{5944CF7E-F2A6-4266-9C54-6A8E8CDF2401}">
      <dgm:prSet/>
      <dgm:spPr/>
      <dgm:t>
        <a:bodyPr/>
        <a:lstStyle/>
        <a:p>
          <a:endParaRPr lang="en-US"/>
        </a:p>
      </dgm:t>
    </dgm:pt>
    <dgm:pt modelId="{64741E18-FB75-42EA-9D51-49CE1F86E3FB}" type="sibTrans" cxnId="{5944CF7E-F2A6-4266-9C54-6A8E8CDF2401}">
      <dgm:prSet/>
      <dgm:spPr/>
      <dgm:t>
        <a:bodyPr/>
        <a:lstStyle/>
        <a:p>
          <a:endParaRPr lang="en-US"/>
        </a:p>
      </dgm:t>
    </dgm:pt>
    <dgm:pt modelId="{F6795CED-1EDF-4FBA-AB25-222A50058D6A}" type="pres">
      <dgm:prSet presAssocID="{D570BC58-1045-437F-ACAE-48AD1D2C276C}" presName="Name0" presStyleCnt="0">
        <dgm:presLayoutVars>
          <dgm:dir/>
          <dgm:resizeHandles val="exact"/>
        </dgm:presLayoutVars>
      </dgm:prSet>
      <dgm:spPr/>
    </dgm:pt>
    <dgm:pt modelId="{2BB5705A-21FF-45EA-8426-AC7FCB3939BC}" type="pres">
      <dgm:prSet presAssocID="{E2138930-8DAE-499E-8F54-F004ABA484D5}" presName="node" presStyleLbl="node1" presStyleIdx="0" presStyleCnt="3">
        <dgm:presLayoutVars>
          <dgm:bulletEnabled val="1"/>
        </dgm:presLayoutVars>
      </dgm:prSet>
      <dgm:spPr/>
    </dgm:pt>
    <dgm:pt modelId="{A79E5BAB-7589-46D1-8ED2-3754A2C5BA10}" type="pres">
      <dgm:prSet presAssocID="{3467BFB4-5A03-4C22-982A-8C447654193E}" presName="sibTrans" presStyleLbl="sibTrans2D1" presStyleIdx="0" presStyleCnt="2"/>
      <dgm:spPr/>
    </dgm:pt>
    <dgm:pt modelId="{A620E550-652E-426A-B7FF-84E6F57FB8B2}" type="pres">
      <dgm:prSet presAssocID="{3467BFB4-5A03-4C22-982A-8C447654193E}" presName="connectorText" presStyleLbl="sibTrans2D1" presStyleIdx="0" presStyleCnt="2"/>
      <dgm:spPr/>
    </dgm:pt>
    <dgm:pt modelId="{315CC73B-FA01-4266-896F-84EB00A1628C}" type="pres">
      <dgm:prSet presAssocID="{29789624-BDC0-492D-98DD-8063C648EEE0}" presName="node" presStyleLbl="node1" presStyleIdx="1" presStyleCnt="3">
        <dgm:presLayoutVars>
          <dgm:bulletEnabled val="1"/>
        </dgm:presLayoutVars>
      </dgm:prSet>
      <dgm:spPr/>
    </dgm:pt>
    <dgm:pt modelId="{7AFEAA9E-CCF6-42F7-91D9-9E7CF8960FD2}" type="pres">
      <dgm:prSet presAssocID="{C8E9603E-3F32-48EF-AF10-8FAFE4E06591}" presName="sibTrans" presStyleLbl="sibTrans2D1" presStyleIdx="1" presStyleCnt="2"/>
      <dgm:spPr/>
    </dgm:pt>
    <dgm:pt modelId="{CEC5F7B9-9F01-46F8-BABF-0E27F10950E6}" type="pres">
      <dgm:prSet presAssocID="{C8E9603E-3F32-48EF-AF10-8FAFE4E06591}" presName="connectorText" presStyleLbl="sibTrans2D1" presStyleIdx="1" presStyleCnt="2"/>
      <dgm:spPr/>
    </dgm:pt>
    <dgm:pt modelId="{CDA3C969-5719-4350-B077-6D33A8AF0935}" type="pres">
      <dgm:prSet presAssocID="{60210612-DED9-42A6-916A-D6EDCE85171F}" presName="node" presStyleLbl="node1" presStyleIdx="2" presStyleCnt="3">
        <dgm:presLayoutVars>
          <dgm:bulletEnabled val="1"/>
        </dgm:presLayoutVars>
      </dgm:prSet>
      <dgm:spPr/>
    </dgm:pt>
  </dgm:ptLst>
  <dgm:cxnLst>
    <dgm:cxn modelId="{73344B11-30C2-4B59-A737-18B0EF7AAF87}" type="presOf" srcId="{C8E9603E-3F32-48EF-AF10-8FAFE4E06591}" destId="{7AFEAA9E-CCF6-42F7-91D9-9E7CF8960FD2}" srcOrd="0" destOrd="0" presId="urn:microsoft.com/office/officeart/2005/8/layout/process1"/>
    <dgm:cxn modelId="{7851B514-0887-48BF-81F4-112A68EA5B33}" type="presOf" srcId="{3467BFB4-5A03-4C22-982A-8C447654193E}" destId="{A79E5BAB-7589-46D1-8ED2-3754A2C5BA10}" srcOrd="0" destOrd="0" presId="urn:microsoft.com/office/officeart/2005/8/layout/process1"/>
    <dgm:cxn modelId="{3C283729-A17F-4A14-8B26-0F6F7959B33F}" srcId="{D570BC58-1045-437F-ACAE-48AD1D2C276C}" destId="{E2138930-8DAE-499E-8F54-F004ABA484D5}" srcOrd="0" destOrd="0" parTransId="{E9CBDE91-AF62-4AFA-91AC-7EB0E3E01860}" sibTransId="{3467BFB4-5A03-4C22-982A-8C447654193E}"/>
    <dgm:cxn modelId="{CB39B24A-613B-4FA7-89D3-3BC9001DB02F}" type="presOf" srcId="{29789624-BDC0-492D-98DD-8063C648EEE0}" destId="{315CC73B-FA01-4266-896F-84EB00A1628C}" srcOrd="0" destOrd="0" presId="urn:microsoft.com/office/officeart/2005/8/layout/process1"/>
    <dgm:cxn modelId="{8185007A-D042-40DC-9E64-78E742FA87F3}" type="presOf" srcId="{60210612-DED9-42A6-916A-D6EDCE85171F}" destId="{CDA3C969-5719-4350-B077-6D33A8AF0935}" srcOrd="0" destOrd="0" presId="urn:microsoft.com/office/officeart/2005/8/layout/process1"/>
    <dgm:cxn modelId="{5944CF7E-F2A6-4266-9C54-6A8E8CDF2401}" srcId="{D570BC58-1045-437F-ACAE-48AD1D2C276C}" destId="{60210612-DED9-42A6-916A-D6EDCE85171F}" srcOrd="2" destOrd="0" parTransId="{7C57B441-3ADA-43F0-83F1-7882161B5020}" sibTransId="{64741E18-FB75-42EA-9D51-49CE1F86E3FB}"/>
    <dgm:cxn modelId="{643B0D83-8FAB-4E05-B79D-B4155AE3CCA9}" type="presOf" srcId="{E2138930-8DAE-499E-8F54-F004ABA484D5}" destId="{2BB5705A-21FF-45EA-8426-AC7FCB3939BC}" srcOrd="0" destOrd="0" presId="urn:microsoft.com/office/officeart/2005/8/layout/process1"/>
    <dgm:cxn modelId="{BB9CE0C7-4F73-4E72-ABC5-125DCABC9859}" type="presOf" srcId="{D570BC58-1045-437F-ACAE-48AD1D2C276C}" destId="{F6795CED-1EDF-4FBA-AB25-222A50058D6A}" srcOrd="0" destOrd="0" presId="urn:microsoft.com/office/officeart/2005/8/layout/process1"/>
    <dgm:cxn modelId="{429200D3-624F-41F8-9DBB-7B608499FE55}" srcId="{D570BC58-1045-437F-ACAE-48AD1D2C276C}" destId="{29789624-BDC0-492D-98DD-8063C648EEE0}" srcOrd="1" destOrd="0" parTransId="{52D11733-C5AD-4D3F-B8E2-38B48FB279E1}" sibTransId="{C8E9603E-3F32-48EF-AF10-8FAFE4E06591}"/>
    <dgm:cxn modelId="{5FA13DD3-530B-47C2-972D-7FA7461B6C72}" type="presOf" srcId="{C8E9603E-3F32-48EF-AF10-8FAFE4E06591}" destId="{CEC5F7B9-9F01-46F8-BABF-0E27F10950E6}" srcOrd="1" destOrd="0" presId="urn:microsoft.com/office/officeart/2005/8/layout/process1"/>
    <dgm:cxn modelId="{85A4C8F5-48E0-471F-A36D-83AFB3920F75}" type="presOf" srcId="{3467BFB4-5A03-4C22-982A-8C447654193E}" destId="{A620E550-652E-426A-B7FF-84E6F57FB8B2}" srcOrd="1" destOrd="0" presId="urn:microsoft.com/office/officeart/2005/8/layout/process1"/>
    <dgm:cxn modelId="{26FD32F0-1161-4129-8698-EEDBE56C146A}" type="presParOf" srcId="{F6795CED-1EDF-4FBA-AB25-222A50058D6A}" destId="{2BB5705A-21FF-45EA-8426-AC7FCB3939BC}" srcOrd="0" destOrd="0" presId="urn:microsoft.com/office/officeart/2005/8/layout/process1"/>
    <dgm:cxn modelId="{36D2BD97-E75D-4FA5-8AD5-AE602BEACAFA}" type="presParOf" srcId="{F6795CED-1EDF-4FBA-AB25-222A50058D6A}" destId="{A79E5BAB-7589-46D1-8ED2-3754A2C5BA10}" srcOrd="1" destOrd="0" presId="urn:microsoft.com/office/officeart/2005/8/layout/process1"/>
    <dgm:cxn modelId="{07384790-5EA9-4851-98EF-41F536AB9A2D}" type="presParOf" srcId="{A79E5BAB-7589-46D1-8ED2-3754A2C5BA10}" destId="{A620E550-652E-426A-B7FF-84E6F57FB8B2}" srcOrd="0" destOrd="0" presId="urn:microsoft.com/office/officeart/2005/8/layout/process1"/>
    <dgm:cxn modelId="{6C3AA7EE-6B2F-44BD-AF0A-EB4C141400C7}" type="presParOf" srcId="{F6795CED-1EDF-4FBA-AB25-222A50058D6A}" destId="{315CC73B-FA01-4266-896F-84EB00A1628C}" srcOrd="2" destOrd="0" presId="urn:microsoft.com/office/officeart/2005/8/layout/process1"/>
    <dgm:cxn modelId="{66884256-F345-42CE-A9B9-0D1A866E8C60}" type="presParOf" srcId="{F6795CED-1EDF-4FBA-AB25-222A50058D6A}" destId="{7AFEAA9E-CCF6-42F7-91D9-9E7CF8960FD2}" srcOrd="3" destOrd="0" presId="urn:microsoft.com/office/officeart/2005/8/layout/process1"/>
    <dgm:cxn modelId="{5D6E9B96-0C12-40F7-BCD1-127710603539}" type="presParOf" srcId="{7AFEAA9E-CCF6-42F7-91D9-9E7CF8960FD2}" destId="{CEC5F7B9-9F01-46F8-BABF-0E27F10950E6}" srcOrd="0" destOrd="0" presId="urn:microsoft.com/office/officeart/2005/8/layout/process1"/>
    <dgm:cxn modelId="{4740511C-D5E5-4D23-BADC-51E72584DA80}" type="presParOf" srcId="{F6795CED-1EDF-4FBA-AB25-222A50058D6A}" destId="{CDA3C969-5719-4350-B077-6D33A8AF093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70BC58-1045-437F-ACAE-48AD1D2C276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2138930-8DAE-499E-8F54-F004ABA484D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Recapitulation of Theory</a:t>
          </a:r>
        </a:p>
      </dgm:t>
    </dgm:pt>
    <dgm:pt modelId="{E9CBDE91-AF62-4AFA-91AC-7EB0E3E01860}" type="parTrans" cxnId="{3C283729-A17F-4A14-8B26-0F6F7959B33F}">
      <dgm:prSet/>
      <dgm:spPr/>
      <dgm:t>
        <a:bodyPr/>
        <a:lstStyle/>
        <a:p>
          <a:endParaRPr lang="en-US"/>
        </a:p>
      </dgm:t>
    </dgm:pt>
    <dgm:pt modelId="{3467BFB4-5A03-4C22-982A-8C447654193E}" type="sibTrans" cxnId="{3C283729-A17F-4A14-8B26-0F6F7959B33F}">
      <dgm:prSet/>
      <dgm:spPr/>
      <dgm:t>
        <a:bodyPr/>
        <a:lstStyle/>
        <a:p>
          <a:endParaRPr lang="en-US"/>
        </a:p>
      </dgm:t>
    </dgm:pt>
    <dgm:pt modelId="{29789624-BDC0-492D-98DD-8063C648EEE0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Production</a:t>
          </a:r>
        </a:p>
      </dgm:t>
    </dgm:pt>
    <dgm:pt modelId="{52D11733-C5AD-4D3F-B8E2-38B48FB279E1}" type="parTrans" cxnId="{429200D3-624F-41F8-9DBB-7B608499FE55}">
      <dgm:prSet/>
      <dgm:spPr/>
      <dgm:t>
        <a:bodyPr/>
        <a:lstStyle/>
        <a:p>
          <a:endParaRPr lang="en-US"/>
        </a:p>
      </dgm:t>
    </dgm:pt>
    <dgm:pt modelId="{C8E9603E-3F32-48EF-AF10-8FAFE4E06591}" type="sibTrans" cxnId="{429200D3-624F-41F8-9DBB-7B608499FE55}">
      <dgm:prSet/>
      <dgm:spPr/>
      <dgm:t>
        <a:bodyPr/>
        <a:lstStyle/>
        <a:p>
          <a:endParaRPr lang="en-US"/>
        </a:p>
      </dgm:t>
    </dgm:pt>
    <dgm:pt modelId="{60210612-DED9-42A6-916A-D6EDCE85171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Calibration and testing</a:t>
          </a:r>
        </a:p>
      </dgm:t>
    </dgm:pt>
    <dgm:pt modelId="{7C57B441-3ADA-43F0-83F1-7882161B5020}" type="parTrans" cxnId="{5944CF7E-F2A6-4266-9C54-6A8E8CDF2401}">
      <dgm:prSet/>
      <dgm:spPr/>
      <dgm:t>
        <a:bodyPr/>
        <a:lstStyle/>
        <a:p>
          <a:endParaRPr lang="en-US"/>
        </a:p>
      </dgm:t>
    </dgm:pt>
    <dgm:pt modelId="{64741E18-FB75-42EA-9D51-49CE1F86E3FB}" type="sibTrans" cxnId="{5944CF7E-F2A6-4266-9C54-6A8E8CDF2401}">
      <dgm:prSet/>
      <dgm:spPr/>
      <dgm:t>
        <a:bodyPr/>
        <a:lstStyle/>
        <a:p>
          <a:endParaRPr lang="en-US"/>
        </a:p>
      </dgm:t>
    </dgm:pt>
    <dgm:pt modelId="{F6795CED-1EDF-4FBA-AB25-222A50058D6A}" type="pres">
      <dgm:prSet presAssocID="{D570BC58-1045-437F-ACAE-48AD1D2C276C}" presName="Name0" presStyleCnt="0">
        <dgm:presLayoutVars>
          <dgm:dir/>
          <dgm:resizeHandles val="exact"/>
        </dgm:presLayoutVars>
      </dgm:prSet>
      <dgm:spPr/>
    </dgm:pt>
    <dgm:pt modelId="{2BB5705A-21FF-45EA-8426-AC7FCB3939BC}" type="pres">
      <dgm:prSet presAssocID="{E2138930-8DAE-499E-8F54-F004ABA484D5}" presName="node" presStyleLbl="node1" presStyleIdx="0" presStyleCnt="3">
        <dgm:presLayoutVars>
          <dgm:bulletEnabled val="1"/>
        </dgm:presLayoutVars>
      </dgm:prSet>
      <dgm:spPr/>
    </dgm:pt>
    <dgm:pt modelId="{A79E5BAB-7589-46D1-8ED2-3754A2C5BA10}" type="pres">
      <dgm:prSet presAssocID="{3467BFB4-5A03-4C22-982A-8C447654193E}" presName="sibTrans" presStyleLbl="sibTrans2D1" presStyleIdx="0" presStyleCnt="2"/>
      <dgm:spPr/>
    </dgm:pt>
    <dgm:pt modelId="{A620E550-652E-426A-B7FF-84E6F57FB8B2}" type="pres">
      <dgm:prSet presAssocID="{3467BFB4-5A03-4C22-982A-8C447654193E}" presName="connectorText" presStyleLbl="sibTrans2D1" presStyleIdx="0" presStyleCnt="2"/>
      <dgm:spPr/>
    </dgm:pt>
    <dgm:pt modelId="{315CC73B-FA01-4266-896F-84EB00A1628C}" type="pres">
      <dgm:prSet presAssocID="{29789624-BDC0-492D-98DD-8063C648EEE0}" presName="node" presStyleLbl="node1" presStyleIdx="1" presStyleCnt="3">
        <dgm:presLayoutVars>
          <dgm:bulletEnabled val="1"/>
        </dgm:presLayoutVars>
      </dgm:prSet>
      <dgm:spPr/>
    </dgm:pt>
    <dgm:pt modelId="{7AFEAA9E-CCF6-42F7-91D9-9E7CF8960FD2}" type="pres">
      <dgm:prSet presAssocID="{C8E9603E-3F32-48EF-AF10-8FAFE4E06591}" presName="sibTrans" presStyleLbl="sibTrans2D1" presStyleIdx="1" presStyleCnt="2"/>
      <dgm:spPr/>
    </dgm:pt>
    <dgm:pt modelId="{CEC5F7B9-9F01-46F8-BABF-0E27F10950E6}" type="pres">
      <dgm:prSet presAssocID="{C8E9603E-3F32-48EF-AF10-8FAFE4E06591}" presName="connectorText" presStyleLbl="sibTrans2D1" presStyleIdx="1" presStyleCnt="2"/>
      <dgm:spPr/>
    </dgm:pt>
    <dgm:pt modelId="{CDA3C969-5719-4350-B077-6D33A8AF0935}" type="pres">
      <dgm:prSet presAssocID="{60210612-DED9-42A6-916A-D6EDCE85171F}" presName="node" presStyleLbl="node1" presStyleIdx="2" presStyleCnt="3">
        <dgm:presLayoutVars>
          <dgm:bulletEnabled val="1"/>
        </dgm:presLayoutVars>
      </dgm:prSet>
      <dgm:spPr/>
    </dgm:pt>
  </dgm:ptLst>
  <dgm:cxnLst>
    <dgm:cxn modelId="{77C76411-1015-4CA6-BA73-21A8AEA36D9B}" type="presOf" srcId="{29789624-BDC0-492D-98DD-8063C648EEE0}" destId="{315CC73B-FA01-4266-896F-84EB00A1628C}" srcOrd="0" destOrd="0" presId="urn:microsoft.com/office/officeart/2005/8/layout/process1"/>
    <dgm:cxn modelId="{3C283729-A17F-4A14-8B26-0F6F7959B33F}" srcId="{D570BC58-1045-437F-ACAE-48AD1D2C276C}" destId="{E2138930-8DAE-499E-8F54-F004ABA484D5}" srcOrd="0" destOrd="0" parTransId="{E9CBDE91-AF62-4AFA-91AC-7EB0E3E01860}" sibTransId="{3467BFB4-5A03-4C22-982A-8C447654193E}"/>
    <dgm:cxn modelId="{78ABA830-D025-4773-B4E5-570CC8E06A71}" type="presOf" srcId="{C8E9603E-3F32-48EF-AF10-8FAFE4E06591}" destId="{7AFEAA9E-CCF6-42F7-91D9-9E7CF8960FD2}" srcOrd="0" destOrd="0" presId="urn:microsoft.com/office/officeart/2005/8/layout/process1"/>
    <dgm:cxn modelId="{FBAF153D-24A0-403B-B9FC-01F07213BCEE}" type="presOf" srcId="{E2138930-8DAE-499E-8F54-F004ABA484D5}" destId="{2BB5705A-21FF-45EA-8426-AC7FCB3939BC}" srcOrd="0" destOrd="0" presId="urn:microsoft.com/office/officeart/2005/8/layout/process1"/>
    <dgm:cxn modelId="{6E194650-E96F-4D84-B946-8C41B80B785E}" type="presOf" srcId="{C8E9603E-3F32-48EF-AF10-8FAFE4E06591}" destId="{CEC5F7B9-9F01-46F8-BABF-0E27F10950E6}" srcOrd="1" destOrd="0" presId="urn:microsoft.com/office/officeart/2005/8/layout/process1"/>
    <dgm:cxn modelId="{5944CF7E-F2A6-4266-9C54-6A8E8CDF2401}" srcId="{D570BC58-1045-437F-ACAE-48AD1D2C276C}" destId="{60210612-DED9-42A6-916A-D6EDCE85171F}" srcOrd="2" destOrd="0" parTransId="{7C57B441-3ADA-43F0-83F1-7882161B5020}" sibTransId="{64741E18-FB75-42EA-9D51-49CE1F86E3FB}"/>
    <dgm:cxn modelId="{83576F7F-86B6-48EA-B0A2-1B666B709A5F}" type="presOf" srcId="{3467BFB4-5A03-4C22-982A-8C447654193E}" destId="{A620E550-652E-426A-B7FF-84E6F57FB8B2}" srcOrd="1" destOrd="0" presId="urn:microsoft.com/office/officeart/2005/8/layout/process1"/>
    <dgm:cxn modelId="{31C998A4-4DBA-4579-B674-E5FCFBA94787}" type="presOf" srcId="{60210612-DED9-42A6-916A-D6EDCE85171F}" destId="{CDA3C969-5719-4350-B077-6D33A8AF0935}" srcOrd="0" destOrd="0" presId="urn:microsoft.com/office/officeart/2005/8/layout/process1"/>
    <dgm:cxn modelId="{FD2C39A6-5527-46D8-88C5-695B586FD242}" type="presOf" srcId="{3467BFB4-5A03-4C22-982A-8C447654193E}" destId="{A79E5BAB-7589-46D1-8ED2-3754A2C5BA10}" srcOrd="0" destOrd="0" presId="urn:microsoft.com/office/officeart/2005/8/layout/process1"/>
    <dgm:cxn modelId="{BB9CE0C7-4F73-4E72-ABC5-125DCABC9859}" type="presOf" srcId="{D570BC58-1045-437F-ACAE-48AD1D2C276C}" destId="{F6795CED-1EDF-4FBA-AB25-222A50058D6A}" srcOrd="0" destOrd="0" presId="urn:microsoft.com/office/officeart/2005/8/layout/process1"/>
    <dgm:cxn modelId="{429200D3-624F-41F8-9DBB-7B608499FE55}" srcId="{D570BC58-1045-437F-ACAE-48AD1D2C276C}" destId="{29789624-BDC0-492D-98DD-8063C648EEE0}" srcOrd="1" destOrd="0" parTransId="{52D11733-C5AD-4D3F-B8E2-38B48FB279E1}" sibTransId="{C8E9603E-3F32-48EF-AF10-8FAFE4E06591}"/>
    <dgm:cxn modelId="{9EA66899-0F51-4A76-9D07-E04C0560D8BD}" type="presParOf" srcId="{F6795CED-1EDF-4FBA-AB25-222A50058D6A}" destId="{2BB5705A-21FF-45EA-8426-AC7FCB3939BC}" srcOrd="0" destOrd="0" presId="urn:microsoft.com/office/officeart/2005/8/layout/process1"/>
    <dgm:cxn modelId="{B98044BF-2D06-49DB-91E0-79CDC70A866D}" type="presParOf" srcId="{F6795CED-1EDF-4FBA-AB25-222A50058D6A}" destId="{A79E5BAB-7589-46D1-8ED2-3754A2C5BA10}" srcOrd="1" destOrd="0" presId="urn:microsoft.com/office/officeart/2005/8/layout/process1"/>
    <dgm:cxn modelId="{A12695EB-E47A-406E-95A7-E15960A9DF54}" type="presParOf" srcId="{A79E5BAB-7589-46D1-8ED2-3754A2C5BA10}" destId="{A620E550-652E-426A-B7FF-84E6F57FB8B2}" srcOrd="0" destOrd="0" presId="urn:microsoft.com/office/officeart/2005/8/layout/process1"/>
    <dgm:cxn modelId="{8B53F8CA-A3E2-4BE8-AB22-32D4A6EC0B83}" type="presParOf" srcId="{F6795CED-1EDF-4FBA-AB25-222A50058D6A}" destId="{315CC73B-FA01-4266-896F-84EB00A1628C}" srcOrd="2" destOrd="0" presId="urn:microsoft.com/office/officeart/2005/8/layout/process1"/>
    <dgm:cxn modelId="{014D512B-AD4A-4D6F-91D8-3BB9C1542322}" type="presParOf" srcId="{F6795CED-1EDF-4FBA-AB25-222A50058D6A}" destId="{7AFEAA9E-CCF6-42F7-91D9-9E7CF8960FD2}" srcOrd="3" destOrd="0" presId="urn:microsoft.com/office/officeart/2005/8/layout/process1"/>
    <dgm:cxn modelId="{A18EB6D4-58EA-439E-91BD-F72342DBD51C}" type="presParOf" srcId="{7AFEAA9E-CCF6-42F7-91D9-9E7CF8960FD2}" destId="{CEC5F7B9-9F01-46F8-BABF-0E27F10950E6}" srcOrd="0" destOrd="0" presId="urn:microsoft.com/office/officeart/2005/8/layout/process1"/>
    <dgm:cxn modelId="{8655F0F9-A210-4FE9-9936-1B7709B9D049}" type="presParOf" srcId="{F6795CED-1EDF-4FBA-AB25-222A50058D6A}" destId="{CDA3C969-5719-4350-B077-6D33A8AF093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F3FFAE-3ECE-4A24-82AE-78B52628FD1B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A2C7C5-38D6-47DA-B0E4-F9832A100429}">
      <dgm:prSet phldrT="[Text]" phldr="0"/>
      <dgm:spPr/>
      <dgm:t>
        <a:bodyPr/>
        <a:lstStyle/>
        <a:p>
          <a:r>
            <a:rPr lang="en-US" dirty="0"/>
            <a:t>Initial Estimate</a:t>
          </a:r>
        </a:p>
      </dgm:t>
    </dgm:pt>
    <dgm:pt modelId="{8E7C6774-3AE3-4A77-9EC6-20FDCB825732}" type="parTrans" cxnId="{F3A1703B-D441-4640-B054-8FB5AD2DA7E4}">
      <dgm:prSet/>
      <dgm:spPr/>
      <dgm:t>
        <a:bodyPr/>
        <a:lstStyle/>
        <a:p>
          <a:endParaRPr lang="en-US"/>
        </a:p>
      </dgm:t>
    </dgm:pt>
    <dgm:pt modelId="{DC8ACA4F-6A38-4055-8938-69DB7B3AC01D}" type="sibTrans" cxnId="{F3A1703B-D441-4640-B054-8FB5AD2DA7E4}">
      <dgm:prSet/>
      <dgm:spPr/>
      <dgm:t>
        <a:bodyPr/>
        <a:lstStyle/>
        <a:p>
          <a:endParaRPr lang="en-US"/>
        </a:p>
      </dgm:t>
    </dgm:pt>
    <dgm:pt modelId="{46772206-8FB2-405D-984E-682183805382}">
      <dgm:prSet phldrT="[Text]" phldr="0"/>
      <dgm:spPr/>
      <dgm:t>
        <a:bodyPr/>
        <a:lstStyle/>
        <a:p>
          <a:pPr algn="ctr"/>
          <a:r>
            <a:rPr lang="en-US" dirty="0"/>
            <a:t>Revisions</a:t>
          </a:r>
        </a:p>
      </dgm:t>
    </dgm:pt>
    <dgm:pt modelId="{9271B1A9-3BEB-4AEF-9290-954BEC75173E}" type="parTrans" cxnId="{89876F07-BC4F-4761-9D80-4091A35BCD56}">
      <dgm:prSet/>
      <dgm:spPr/>
      <dgm:t>
        <a:bodyPr/>
        <a:lstStyle/>
        <a:p>
          <a:endParaRPr lang="en-US"/>
        </a:p>
      </dgm:t>
    </dgm:pt>
    <dgm:pt modelId="{CC99C2FB-BD95-4D33-8594-B299005E48C3}" type="sibTrans" cxnId="{89876F07-BC4F-4761-9D80-4091A35BCD56}">
      <dgm:prSet/>
      <dgm:spPr/>
      <dgm:t>
        <a:bodyPr/>
        <a:lstStyle/>
        <a:p>
          <a:endParaRPr lang="en-US"/>
        </a:p>
      </dgm:t>
    </dgm:pt>
    <dgm:pt modelId="{878C8BB6-12BE-43E2-B067-CD42FEFCF603}">
      <dgm:prSet phldrT="[Text]" phldr="0"/>
      <dgm:spPr/>
      <dgm:t>
        <a:bodyPr/>
        <a:lstStyle/>
        <a:p>
          <a:r>
            <a:rPr lang="en-US" dirty="0"/>
            <a:t>Final Estimate</a:t>
          </a:r>
        </a:p>
      </dgm:t>
    </dgm:pt>
    <dgm:pt modelId="{ACE2AA6D-A32F-44AA-8EDA-86585A040F4E}" type="parTrans" cxnId="{172676B5-C3F0-4789-9E1B-FD1B7B786FC6}">
      <dgm:prSet/>
      <dgm:spPr/>
      <dgm:t>
        <a:bodyPr/>
        <a:lstStyle/>
        <a:p>
          <a:endParaRPr lang="en-US"/>
        </a:p>
      </dgm:t>
    </dgm:pt>
    <dgm:pt modelId="{A243E576-83B4-4DD8-98A4-DB6DA472A324}" type="sibTrans" cxnId="{172676B5-C3F0-4789-9E1B-FD1B7B786FC6}">
      <dgm:prSet/>
      <dgm:spPr/>
      <dgm:t>
        <a:bodyPr/>
        <a:lstStyle/>
        <a:p>
          <a:endParaRPr lang="en-US"/>
        </a:p>
      </dgm:t>
    </dgm:pt>
    <dgm:pt modelId="{262803AF-0DF6-4873-A572-9A7BA57EE21E}" type="pres">
      <dgm:prSet presAssocID="{67F3FFAE-3ECE-4A24-82AE-78B52628FD1B}" presName="Name0" presStyleCnt="0">
        <dgm:presLayoutVars>
          <dgm:dir/>
          <dgm:resizeHandles val="exact"/>
        </dgm:presLayoutVars>
      </dgm:prSet>
      <dgm:spPr/>
    </dgm:pt>
    <dgm:pt modelId="{73BEDE5B-0CF7-4013-8C44-ADCD9A513A0E}" type="pres">
      <dgm:prSet presAssocID="{B3A2C7C5-38D6-47DA-B0E4-F9832A100429}" presName="parTxOnly" presStyleLbl="node1" presStyleIdx="0" presStyleCnt="3">
        <dgm:presLayoutVars>
          <dgm:bulletEnabled val="1"/>
        </dgm:presLayoutVars>
      </dgm:prSet>
      <dgm:spPr/>
    </dgm:pt>
    <dgm:pt modelId="{C3E865C0-B6A9-4E88-9FFA-EA54D00F0020}" type="pres">
      <dgm:prSet presAssocID="{DC8ACA4F-6A38-4055-8938-69DB7B3AC01D}" presName="parSpace" presStyleCnt="0"/>
      <dgm:spPr/>
    </dgm:pt>
    <dgm:pt modelId="{9227D978-8549-42DB-8147-65F61490EAEE}" type="pres">
      <dgm:prSet presAssocID="{46772206-8FB2-405D-984E-682183805382}" presName="parTxOnly" presStyleLbl="node1" presStyleIdx="1" presStyleCnt="3">
        <dgm:presLayoutVars>
          <dgm:bulletEnabled val="1"/>
        </dgm:presLayoutVars>
      </dgm:prSet>
      <dgm:spPr/>
    </dgm:pt>
    <dgm:pt modelId="{DEE7C142-96E9-4153-9F3F-9EF962696872}" type="pres">
      <dgm:prSet presAssocID="{CC99C2FB-BD95-4D33-8594-B299005E48C3}" presName="parSpace" presStyleCnt="0"/>
      <dgm:spPr/>
    </dgm:pt>
    <dgm:pt modelId="{B74D7CA8-7110-4E4D-B65D-C4A864C59CAD}" type="pres">
      <dgm:prSet presAssocID="{878C8BB6-12BE-43E2-B067-CD42FEFCF603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3DA9DD02-5B02-46C5-94EE-F0F718FCAE60}" type="presOf" srcId="{B3A2C7C5-38D6-47DA-B0E4-F9832A100429}" destId="{73BEDE5B-0CF7-4013-8C44-ADCD9A513A0E}" srcOrd="0" destOrd="0" presId="urn:microsoft.com/office/officeart/2005/8/layout/hChevron3"/>
    <dgm:cxn modelId="{89876F07-BC4F-4761-9D80-4091A35BCD56}" srcId="{67F3FFAE-3ECE-4A24-82AE-78B52628FD1B}" destId="{46772206-8FB2-405D-984E-682183805382}" srcOrd="1" destOrd="0" parTransId="{9271B1A9-3BEB-4AEF-9290-954BEC75173E}" sibTransId="{CC99C2FB-BD95-4D33-8594-B299005E48C3}"/>
    <dgm:cxn modelId="{F3A1703B-D441-4640-B054-8FB5AD2DA7E4}" srcId="{67F3FFAE-3ECE-4A24-82AE-78B52628FD1B}" destId="{B3A2C7C5-38D6-47DA-B0E4-F9832A100429}" srcOrd="0" destOrd="0" parTransId="{8E7C6774-3AE3-4A77-9EC6-20FDCB825732}" sibTransId="{DC8ACA4F-6A38-4055-8938-69DB7B3AC01D}"/>
    <dgm:cxn modelId="{EFE73B8B-29D9-4CD4-BB88-C70128C493AA}" type="presOf" srcId="{46772206-8FB2-405D-984E-682183805382}" destId="{9227D978-8549-42DB-8147-65F61490EAEE}" srcOrd="0" destOrd="0" presId="urn:microsoft.com/office/officeart/2005/8/layout/hChevron3"/>
    <dgm:cxn modelId="{AC656A9C-4FFE-4BDD-A751-133B418514D7}" type="presOf" srcId="{878C8BB6-12BE-43E2-B067-CD42FEFCF603}" destId="{B74D7CA8-7110-4E4D-B65D-C4A864C59CAD}" srcOrd="0" destOrd="0" presId="urn:microsoft.com/office/officeart/2005/8/layout/hChevron3"/>
    <dgm:cxn modelId="{172676B5-C3F0-4789-9E1B-FD1B7B786FC6}" srcId="{67F3FFAE-3ECE-4A24-82AE-78B52628FD1B}" destId="{878C8BB6-12BE-43E2-B067-CD42FEFCF603}" srcOrd="2" destOrd="0" parTransId="{ACE2AA6D-A32F-44AA-8EDA-86585A040F4E}" sibTransId="{A243E576-83B4-4DD8-98A4-DB6DA472A324}"/>
    <dgm:cxn modelId="{BEDEE4F1-7609-483B-8AB6-32AFA405E396}" type="presOf" srcId="{67F3FFAE-3ECE-4A24-82AE-78B52628FD1B}" destId="{262803AF-0DF6-4873-A572-9A7BA57EE21E}" srcOrd="0" destOrd="0" presId="urn:microsoft.com/office/officeart/2005/8/layout/hChevron3"/>
    <dgm:cxn modelId="{1038E35C-4955-4C09-A170-D6E22FBFB1CD}" type="presParOf" srcId="{262803AF-0DF6-4873-A572-9A7BA57EE21E}" destId="{73BEDE5B-0CF7-4013-8C44-ADCD9A513A0E}" srcOrd="0" destOrd="0" presId="urn:microsoft.com/office/officeart/2005/8/layout/hChevron3"/>
    <dgm:cxn modelId="{8586E772-D9B2-478A-AE26-EF499ABD2D0B}" type="presParOf" srcId="{262803AF-0DF6-4873-A572-9A7BA57EE21E}" destId="{C3E865C0-B6A9-4E88-9FFA-EA54D00F0020}" srcOrd="1" destOrd="0" presId="urn:microsoft.com/office/officeart/2005/8/layout/hChevron3"/>
    <dgm:cxn modelId="{DF8520D6-5F28-40AC-ADF3-0E6A6C19E2D6}" type="presParOf" srcId="{262803AF-0DF6-4873-A572-9A7BA57EE21E}" destId="{9227D978-8549-42DB-8147-65F61490EAEE}" srcOrd="2" destOrd="0" presId="urn:microsoft.com/office/officeart/2005/8/layout/hChevron3"/>
    <dgm:cxn modelId="{D7B5809D-1629-48D4-A0D3-91DD03FF9E77}" type="presParOf" srcId="{262803AF-0DF6-4873-A572-9A7BA57EE21E}" destId="{DEE7C142-96E9-4153-9F3F-9EF962696872}" srcOrd="3" destOrd="0" presId="urn:microsoft.com/office/officeart/2005/8/layout/hChevron3"/>
    <dgm:cxn modelId="{A4E5321D-3932-4D32-9CB6-AB2E1350D5D6}" type="presParOf" srcId="{262803AF-0DF6-4873-A572-9A7BA57EE21E}" destId="{B74D7CA8-7110-4E4D-B65D-C4A864C59CAD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5705A-21FF-45EA-8426-AC7FCB3939BC}">
      <dsp:nvSpPr>
        <dsp:cNvPr id="0" name=""/>
        <dsp:cNvSpPr/>
      </dsp:nvSpPr>
      <dsp:spPr>
        <a:xfrm>
          <a:off x="6517" y="1719366"/>
          <a:ext cx="1948138" cy="11688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/>
            <a:t>Theory</a:t>
          </a:r>
          <a:endParaRPr lang="en-US" sz="2400" kern="1200" dirty="0"/>
        </a:p>
      </dsp:txBody>
      <dsp:txXfrm>
        <a:off x="40752" y="1753601"/>
        <a:ext cx="1879668" cy="1100413"/>
      </dsp:txXfrm>
    </dsp:sp>
    <dsp:sp modelId="{A79E5BAB-7589-46D1-8ED2-3754A2C5BA10}">
      <dsp:nvSpPr>
        <dsp:cNvPr id="0" name=""/>
        <dsp:cNvSpPr/>
      </dsp:nvSpPr>
      <dsp:spPr>
        <a:xfrm>
          <a:off x="2149470" y="2062239"/>
          <a:ext cx="413005" cy="483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49470" y="2158867"/>
        <a:ext cx="289104" cy="289882"/>
      </dsp:txXfrm>
    </dsp:sp>
    <dsp:sp modelId="{315CC73B-FA01-4266-896F-84EB00A1628C}">
      <dsp:nvSpPr>
        <dsp:cNvPr id="0" name=""/>
        <dsp:cNvSpPr/>
      </dsp:nvSpPr>
      <dsp:spPr>
        <a:xfrm>
          <a:off x="2733912" y="1719366"/>
          <a:ext cx="1948138" cy="11688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 dirty="0"/>
            <a:t>Design</a:t>
          </a:r>
        </a:p>
      </dsp:txBody>
      <dsp:txXfrm>
        <a:off x="2768147" y="1753601"/>
        <a:ext cx="1879668" cy="1100413"/>
      </dsp:txXfrm>
    </dsp:sp>
    <dsp:sp modelId="{7AFEAA9E-CCF6-42F7-91D9-9E7CF8960FD2}">
      <dsp:nvSpPr>
        <dsp:cNvPr id="0" name=""/>
        <dsp:cNvSpPr/>
      </dsp:nvSpPr>
      <dsp:spPr>
        <a:xfrm>
          <a:off x="4876865" y="2062239"/>
          <a:ext cx="413005" cy="483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76865" y="2158867"/>
        <a:ext cx="289104" cy="289882"/>
      </dsp:txXfrm>
    </dsp:sp>
    <dsp:sp modelId="{CDA3C969-5719-4350-B077-6D33A8AF0935}">
      <dsp:nvSpPr>
        <dsp:cNvPr id="0" name=""/>
        <dsp:cNvSpPr/>
      </dsp:nvSpPr>
      <dsp:spPr>
        <a:xfrm>
          <a:off x="5461307" y="1719366"/>
          <a:ext cx="1948138" cy="11688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 dirty="0"/>
            <a:t>BoM</a:t>
          </a:r>
        </a:p>
      </dsp:txBody>
      <dsp:txXfrm>
        <a:off x="5495542" y="1753601"/>
        <a:ext cx="1879668" cy="11004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5705A-21FF-45EA-8426-AC7FCB3939BC}">
      <dsp:nvSpPr>
        <dsp:cNvPr id="0" name=""/>
        <dsp:cNvSpPr/>
      </dsp:nvSpPr>
      <dsp:spPr>
        <a:xfrm>
          <a:off x="6823" y="1896491"/>
          <a:ext cx="2039468" cy="12236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 dirty="0"/>
            <a:t>Recapitulation of Theory</a:t>
          </a:r>
        </a:p>
      </dsp:txBody>
      <dsp:txXfrm>
        <a:off x="42663" y="1932331"/>
        <a:ext cx="1967788" cy="1152000"/>
      </dsp:txXfrm>
    </dsp:sp>
    <dsp:sp modelId="{A79E5BAB-7589-46D1-8ED2-3754A2C5BA10}">
      <dsp:nvSpPr>
        <dsp:cNvPr id="0" name=""/>
        <dsp:cNvSpPr/>
      </dsp:nvSpPr>
      <dsp:spPr>
        <a:xfrm>
          <a:off x="2250238" y="2255437"/>
          <a:ext cx="432367" cy="5057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250238" y="2356595"/>
        <a:ext cx="302657" cy="303472"/>
      </dsp:txXfrm>
    </dsp:sp>
    <dsp:sp modelId="{315CC73B-FA01-4266-896F-84EB00A1628C}">
      <dsp:nvSpPr>
        <dsp:cNvPr id="0" name=""/>
        <dsp:cNvSpPr/>
      </dsp:nvSpPr>
      <dsp:spPr>
        <a:xfrm>
          <a:off x="2862078" y="1896491"/>
          <a:ext cx="2039468" cy="12236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 dirty="0"/>
            <a:t>Production</a:t>
          </a:r>
        </a:p>
      </dsp:txBody>
      <dsp:txXfrm>
        <a:off x="2897918" y="1932331"/>
        <a:ext cx="1967788" cy="1152000"/>
      </dsp:txXfrm>
    </dsp:sp>
    <dsp:sp modelId="{7AFEAA9E-CCF6-42F7-91D9-9E7CF8960FD2}">
      <dsp:nvSpPr>
        <dsp:cNvPr id="0" name=""/>
        <dsp:cNvSpPr/>
      </dsp:nvSpPr>
      <dsp:spPr>
        <a:xfrm>
          <a:off x="5105493" y="2255437"/>
          <a:ext cx="432367" cy="5057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105493" y="2356595"/>
        <a:ext cx="302657" cy="303472"/>
      </dsp:txXfrm>
    </dsp:sp>
    <dsp:sp modelId="{CDA3C969-5719-4350-B077-6D33A8AF0935}">
      <dsp:nvSpPr>
        <dsp:cNvPr id="0" name=""/>
        <dsp:cNvSpPr/>
      </dsp:nvSpPr>
      <dsp:spPr>
        <a:xfrm>
          <a:off x="5717334" y="1896491"/>
          <a:ext cx="2039468" cy="12236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 dirty="0"/>
            <a:t>Calibration and testing</a:t>
          </a:r>
        </a:p>
      </dsp:txBody>
      <dsp:txXfrm>
        <a:off x="5753174" y="1932331"/>
        <a:ext cx="1967788" cy="1152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BEDE5B-0CF7-4013-8C44-ADCD9A513A0E}">
      <dsp:nvSpPr>
        <dsp:cNvPr id="0" name=""/>
        <dsp:cNvSpPr/>
      </dsp:nvSpPr>
      <dsp:spPr>
        <a:xfrm>
          <a:off x="3838" y="0"/>
          <a:ext cx="3356442" cy="38470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346" tIns="50673" rIns="25337" bIns="5067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Initial Estimate</a:t>
          </a:r>
        </a:p>
      </dsp:txBody>
      <dsp:txXfrm>
        <a:off x="3838" y="0"/>
        <a:ext cx="3260266" cy="384706"/>
      </dsp:txXfrm>
    </dsp:sp>
    <dsp:sp modelId="{9227D978-8549-42DB-8147-65F61490EAEE}">
      <dsp:nvSpPr>
        <dsp:cNvPr id="0" name=""/>
        <dsp:cNvSpPr/>
      </dsp:nvSpPr>
      <dsp:spPr>
        <a:xfrm>
          <a:off x="2688991" y="0"/>
          <a:ext cx="3356442" cy="3847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50673" rIns="25337" bIns="5067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Revisions</a:t>
          </a:r>
        </a:p>
      </dsp:txBody>
      <dsp:txXfrm>
        <a:off x="2881344" y="0"/>
        <a:ext cx="2971736" cy="384706"/>
      </dsp:txXfrm>
    </dsp:sp>
    <dsp:sp modelId="{B74D7CA8-7110-4E4D-B65D-C4A864C59CAD}">
      <dsp:nvSpPr>
        <dsp:cNvPr id="0" name=""/>
        <dsp:cNvSpPr/>
      </dsp:nvSpPr>
      <dsp:spPr>
        <a:xfrm>
          <a:off x="5374145" y="0"/>
          <a:ext cx="3356442" cy="3847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50673" rIns="25337" bIns="5067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Final Estimate</a:t>
          </a:r>
        </a:p>
      </dsp:txBody>
      <dsp:txXfrm>
        <a:off x="5566498" y="0"/>
        <a:ext cx="2971736" cy="3847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56F2-6B3D-0D8D-8547-61BC3136F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F9934F-7FFA-79E1-38E8-913E75ED1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A6A24-1CCE-7D95-F8D5-A6F882CAD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B18ED-0B77-428E-9296-9967DE0F78B2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9DA8D-A801-16F5-1D7A-DE234B909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AE37B-AD72-63F6-CA1C-15CDAD0E8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7AE-3EE4-4CFD-86B6-C5508CFB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2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D7AE-9C5B-52C4-6015-262656124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67D1B-470F-19BA-3533-A513C286A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1B655-4909-9A43-DA49-2B9CC5A84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B18ED-0B77-428E-9296-9967DE0F78B2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55041-7D17-EAE9-4C9C-DB6EB8957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6B0B6-922A-1EC5-F74A-34D9051F3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7AE-3EE4-4CFD-86B6-C5508CFB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55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81839-128F-E760-38E3-9C696ABB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1B0B5-7DB9-9C88-5F8F-CC8928E19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8F017-64E2-499E-C5D6-EBE336E4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B18ED-0B77-428E-9296-9967DE0F78B2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3510C-06B8-C3F0-7005-1D05B2B43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5D898-5F33-C4F3-04E8-922D40751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7AE-3EE4-4CFD-86B6-C5508CFB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80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A40A9-BECB-2F01-9D80-8106E2EEF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3871E-D237-8145-B4E0-54415BCF6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6260B-57F8-B9FC-7A86-33E47D5DF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48C7-31DC-9A57-C657-ACC314C85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B18ED-0B77-428E-9296-9967DE0F78B2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2264A-0D69-4E31-D358-02A44C43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8C162-842A-FEA5-CC81-1CB096DA1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7AE-3EE4-4CFD-86B6-C5508CFB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46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C7E02-E435-E06D-137C-19CA0942E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28E6D-A9F0-5A2D-ABB1-92BD3ED0B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37698-AC22-F069-F7A3-9C5BF3FC1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F32CCF-C75E-13E4-96AB-5FB72F8EAB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B5DDA0-E397-9B41-DD3B-E610B3805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E0CA88-B905-EB6D-FA46-6EB7041AC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B18ED-0B77-428E-9296-9967DE0F78B2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80D2B3-CD2F-4FC9-BE61-D21D4D84D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452308-7A46-9DA0-8823-F31BDC7D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7AE-3EE4-4CFD-86B6-C5508CFB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2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2A5C8-A686-3B14-81BB-C1F254D6A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5E1F8-5A48-C330-E15C-1EFFD51F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B18ED-0B77-428E-9296-9967DE0F78B2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9A4F24-5C84-8F64-8D8D-9F992BBE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8C8C0-26D3-E265-F317-15BC3E0A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7AE-3EE4-4CFD-86B6-C5508CFB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516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47FE6C-482A-28D3-8142-8541F629A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B18ED-0B77-428E-9296-9967DE0F78B2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A015CB-4B38-A6FE-9A80-87F118C22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FE1D0-D904-24F0-C814-8A79B5B2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7AE-3EE4-4CFD-86B6-C5508CFB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0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DB84-9A85-E07D-A65E-67ED322FF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DB5C8-26AE-C583-43F8-82BBA7E9B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56553-65DB-1327-AE29-A5987C0BB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8433C-B7DB-8F51-E8C8-1E38EDBED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B18ED-0B77-428E-9296-9967DE0F78B2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8C583-65C9-5DE0-6FEF-1C662C8F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2C2CE-0EB3-F340-2CDD-F0BD6E3FC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7AE-3EE4-4CFD-86B6-C5508CFB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9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DD359-7A6E-F0F2-998F-EA3EF8D7B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6ADBFE-C684-B4DB-8364-E4F053332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E314D-1B86-68A8-2601-E0C22A5C1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DB67E-8F2E-9BDC-F023-C323B4B2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B18ED-0B77-428E-9296-9967DE0F78B2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7165B-30E7-FE36-BBE4-DEA489C0E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E06FF-D251-1E63-8888-61020D21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7AE-3EE4-4CFD-86B6-C5508CFB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87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262D8-AD67-E714-248E-C95D25842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DFCBD-754A-0193-004C-EA0B28DB1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02433-D7A5-59A4-DDDF-03D0F6FB8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B18ED-0B77-428E-9296-9967DE0F78B2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41AB1-9A0A-5DD4-A5FB-D348E471E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749B3-5C07-BEE8-C2FA-8CEE5C3CA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7AE-3EE4-4CFD-86B6-C5508CFB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46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9A9E74-EEEE-B959-8081-B0FA6E2B45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2BEFBE-3709-0421-2687-EC25DEC72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1DB33-3A8F-3B77-C527-48F9AEF60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B18ED-0B77-428E-9296-9967DE0F78B2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68E55-2C5C-05BB-6BA6-FE514A83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28161-A4F1-095E-393A-C7C0A0B13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17AE-3EE4-4CFD-86B6-C5508CFB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4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AA0B3A-905B-292C-CDAE-03A3AD7D8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83154-4940-486C-EEE3-BB0703EAA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B5B5A-7803-B9E1-A77F-B7477FB63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B18ED-0B77-428E-9296-9967DE0F78B2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30B41-DEB0-8FF1-ACBE-08CBE89D06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47030-4FAC-7890-784A-BB814DEA7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E17AE-3EE4-4CFD-86B6-C5508CFB9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5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Layout" Target="../diagrams/layout3.xml"/><Relationship Id="rId7" Type="http://schemas.microsoft.com/office/2014/relationships/chartEx" Target="../charts/chartEx1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09402D-5EC7-27BC-F751-466BA56DAD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45" t="14684" r="17262" b="14632"/>
          <a:stretch/>
        </p:blipFill>
        <p:spPr bwMode="auto">
          <a:xfrm>
            <a:off x="449668" y="469028"/>
            <a:ext cx="1207770" cy="11163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9E1E226-1A03-191B-AD63-EC98A899BF7B}"/>
              </a:ext>
            </a:extLst>
          </p:cNvPr>
          <p:cNvSpPr/>
          <p:nvPr/>
        </p:nvSpPr>
        <p:spPr>
          <a:xfrm>
            <a:off x="1776707" y="469028"/>
            <a:ext cx="9034669" cy="104360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LUCKNOW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0933A59-8CEB-3108-1168-EAAB7592B40D}"/>
              </a:ext>
            </a:extLst>
          </p:cNvPr>
          <p:cNvGrpSpPr/>
          <p:nvPr/>
        </p:nvGrpSpPr>
        <p:grpSpPr>
          <a:xfrm>
            <a:off x="3514873" y="1749281"/>
            <a:ext cx="5162247" cy="2745280"/>
            <a:chOff x="4153379" y="1749281"/>
            <a:chExt cx="5162247" cy="274528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BD4A0BD-042D-CD49-7679-9C9A12D72ED6}"/>
                </a:ext>
              </a:extLst>
            </p:cNvPr>
            <p:cNvSpPr txBox="1"/>
            <p:nvPr/>
          </p:nvSpPr>
          <p:spPr>
            <a:xfrm>
              <a:off x="4153379" y="1749281"/>
              <a:ext cx="516224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FACULTY OF ENGINEERING AND TECHNOLOGY</a:t>
              </a:r>
            </a:p>
            <a:p>
              <a:pPr algn="ctr"/>
              <a:r>
                <a:rPr lang="en-US" sz="2000" b="1" dirty="0"/>
                <a:t>2024-2025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F7831C-5716-741B-3811-DD767A91A013}"/>
                </a:ext>
              </a:extLst>
            </p:cNvPr>
            <p:cNvSpPr txBox="1"/>
            <p:nvPr/>
          </p:nvSpPr>
          <p:spPr>
            <a:xfrm>
              <a:off x="5343740" y="2406968"/>
              <a:ext cx="2781531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Mechanical Engineering</a:t>
              </a:r>
            </a:p>
            <a:p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0D843B1-2517-0ABC-4623-3E209A2BECD3}"/>
                </a:ext>
              </a:extLst>
            </p:cNvPr>
            <p:cNvSpPr txBox="1"/>
            <p:nvPr/>
          </p:nvSpPr>
          <p:spPr>
            <a:xfrm>
              <a:off x="5901103" y="2880359"/>
              <a:ext cx="1666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PRESENTATION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F9B91B-F088-09E8-631B-155A03689C73}"/>
                </a:ext>
              </a:extLst>
            </p:cNvPr>
            <p:cNvSpPr txBox="1"/>
            <p:nvPr/>
          </p:nvSpPr>
          <p:spPr>
            <a:xfrm>
              <a:off x="5594063" y="3340399"/>
              <a:ext cx="22808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Subject- Major Project</a:t>
              </a:r>
            </a:p>
            <a:p>
              <a:pPr algn="ctr"/>
              <a:r>
                <a:rPr lang="en-US" dirty="0"/>
                <a:t>CODE:ME-754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1EB4C02-741A-A43D-E62D-BC22DA53CEE9}"/>
                </a:ext>
              </a:extLst>
            </p:cNvPr>
            <p:cNvSpPr txBox="1"/>
            <p:nvPr/>
          </p:nvSpPr>
          <p:spPr>
            <a:xfrm>
              <a:off x="5901103" y="4125229"/>
              <a:ext cx="1675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B.Tech</a:t>
              </a:r>
              <a:r>
                <a:rPr lang="en-US" dirty="0"/>
                <a:t>- </a:t>
              </a:r>
              <a:r>
                <a:rPr lang="en-US" dirty="0" err="1"/>
                <a:t>IV</a:t>
              </a:r>
              <a:r>
                <a:rPr lang="en-US" baseline="30000" dirty="0" err="1"/>
                <a:t>th</a:t>
              </a:r>
              <a:r>
                <a:rPr lang="en-US" dirty="0"/>
                <a:t> Year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C18D360-E391-B163-BBE7-F660D90E4A50}"/>
              </a:ext>
            </a:extLst>
          </p:cNvPr>
          <p:cNvSpPr txBox="1"/>
          <p:nvPr/>
        </p:nvSpPr>
        <p:spPr>
          <a:xfrm>
            <a:off x="7057768" y="5086588"/>
            <a:ext cx="493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Submitted by-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A859B5-4E58-B529-25A4-6A6684E4C93C}"/>
              </a:ext>
            </a:extLst>
          </p:cNvPr>
          <p:cNvSpPr txBox="1"/>
          <p:nvPr/>
        </p:nvSpPr>
        <p:spPr>
          <a:xfrm>
            <a:off x="264133" y="5178286"/>
            <a:ext cx="15025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Submitted to-</a:t>
            </a:r>
          </a:p>
          <a:p>
            <a:r>
              <a:rPr lang="en-US" i="1" dirty="0"/>
              <a:t>Dr. {}</a:t>
            </a:r>
          </a:p>
          <a:p>
            <a:r>
              <a:rPr lang="en-US" i="1" dirty="0"/>
              <a:t>Er. {}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AC1536C-7733-6A7B-ABBC-1EEFFFEDB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599495"/>
              </p:ext>
            </p:extLst>
          </p:nvPr>
        </p:nvGraphicFramePr>
        <p:xfrm>
          <a:off x="7269641" y="5455920"/>
          <a:ext cx="5303520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3630598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428413703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33698836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Aditya Patel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Ayush Mishra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Ashish Raj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55221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/>
                        <a:t>2210013105002</a:t>
                      </a:r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/>
                        <a:t>2210013105012</a:t>
                      </a:r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/>
                        <a:t>2210013105011</a:t>
                      </a:r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47796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dirty="0"/>
                        <a:t>Prashant Patel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Tanishq Maurya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9377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i="1" dirty="0"/>
                        <a:t>2210013105026</a:t>
                      </a:r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2210013105036</a:t>
                      </a:r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9990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858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961E1-45E4-0EC5-90FD-40BD05E33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269" y="2531489"/>
            <a:ext cx="6096000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Impact" panose="020B0806030902050204" pitchFamily="34" charset="0"/>
              </a:rPr>
              <a:t>Air-breathing Hypergolic LREs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BE01F-5B00-8EBD-9473-C10D17FFA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189" y="5349195"/>
            <a:ext cx="1938068" cy="1655762"/>
          </a:xfrm>
        </p:spPr>
        <p:txBody>
          <a:bodyPr/>
          <a:lstStyle/>
          <a:p>
            <a:r>
              <a:rPr lang="en-US" i="1" dirty="0"/>
              <a:t>By- Group 3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2E0736D-AD73-FF47-426E-97A22CA60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61" t="10119" r="22596"/>
          <a:stretch>
            <a:fillRect/>
          </a:stretch>
        </p:blipFill>
        <p:spPr>
          <a:xfrm>
            <a:off x="7200900" y="0"/>
            <a:ext cx="4991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374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8A325-061F-9898-FF39-29C6B52F7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1889" y="834523"/>
            <a:ext cx="1051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4" name="Picture Placeholder 8" descr="Close up of the moon">
            <a:extLst>
              <a:ext uri="{FF2B5EF4-FFF2-40B4-BE49-F238E27FC236}">
                <a16:creationId xmlns:a16="http://schemas.microsoft.com/office/drawing/2014/main" id="{C982BF7F-74F9-E5DA-CDEA-904AE05EC76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0629" y="0"/>
            <a:ext cx="6095994" cy="6858000"/>
          </a:xfrm>
          <a:prstGeom prst="rect">
            <a:avLst/>
          </a:prstGeom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F9CCD241-FF45-09AD-E9E3-B820516686EF}"/>
              </a:ext>
            </a:extLst>
          </p:cNvPr>
          <p:cNvSpPr txBox="1">
            <a:spLocks/>
          </p:cNvSpPr>
          <p:nvPr/>
        </p:nvSpPr>
        <p:spPr>
          <a:xfrm>
            <a:off x="6571889" y="2292335"/>
            <a:ext cx="4188640" cy="4151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UNDERSTANDING BASICS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DESIGN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BoM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CONCLUSION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65D595-864C-58CE-4E06-8F51EC069594}"/>
              </a:ext>
            </a:extLst>
          </p:cNvPr>
          <p:cNvCxnSpPr>
            <a:cxnSpLocks/>
          </p:cNvCxnSpPr>
          <p:nvPr/>
        </p:nvCxnSpPr>
        <p:spPr>
          <a:xfrm rot="10800000">
            <a:off x="11332699" y="5289725"/>
            <a:ext cx="0" cy="7062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585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34FC0-88B4-32C6-77EE-B244C1A128CF}"/>
              </a:ext>
            </a:extLst>
          </p:cNvPr>
          <p:cNvSpPr txBox="1">
            <a:spLocks/>
          </p:cNvSpPr>
          <p:nvPr/>
        </p:nvSpPr>
        <p:spPr>
          <a:xfrm>
            <a:off x="792280" y="776028"/>
            <a:ext cx="7355677" cy="4572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164592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cap="all" spc="50" baseline="0">
                <a:solidFill>
                  <a:schemeClr val="tx1"/>
                </a:solidFill>
                <a:latin typeface="+mj-lt"/>
                <a:ea typeface="+mn-ea"/>
                <a:cs typeface="Poppins" pitchFamily="2" charset="77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4592" marR="0" lvl="0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all" spc="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Poppins" pitchFamily="2" charset="77"/>
              </a:rPr>
              <a:t>“Reach for the moon, even if you miss, you'll land among the stars.”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37C2EB-4671-A597-BAFF-36BD5EEC05F2}"/>
              </a:ext>
            </a:extLst>
          </p:cNvPr>
          <p:cNvSpPr txBox="1">
            <a:spLocks/>
          </p:cNvSpPr>
          <p:nvPr/>
        </p:nvSpPr>
        <p:spPr>
          <a:xfrm>
            <a:off x="812600" y="5601041"/>
            <a:ext cx="8229600" cy="466344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Norman Vincent Peale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F5920A-9784-3E4D-E3F5-DE00C82C6285}"/>
              </a:ext>
            </a:extLst>
          </p:cNvPr>
          <p:cNvCxnSpPr>
            <a:cxnSpLocks/>
          </p:cNvCxnSpPr>
          <p:nvPr/>
        </p:nvCxnSpPr>
        <p:spPr>
          <a:xfrm rot="10800000">
            <a:off x="11332699" y="5289725"/>
            <a:ext cx="0" cy="7062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617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1B16A-373F-0188-3E20-85BD6B14F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EBE25-BD38-CE19-4918-ABF728528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DF19693-239A-1265-AA93-CAFB8A7726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3285070"/>
              </p:ext>
            </p:extLst>
          </p:nvPr>
        </p:nvGraphicFramePr>
        <p:xfrm>
          <a:off x="627899" y="365125"/>
          <a:ext cx="7415964" cy="4607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F941932-3B9E-D339-ABED-152ADDE399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8604053"/>
              </p:ext>
            </p:extLst>
          </p:nvPr>
        </p:nvGraphicFramePr>
        <p:xfrm>
          <a:off x="4043363" y="2900363"/>
          <a:ext cx="7763626" cy="5016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1ED64E09-1DDB-2932-5BA3-BC40A2DF2E1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75460" y="2942894"/>
            <a:ext cx="1591692" cy="1273997"/>
          </a:xfrm>
          <a:prstGeom prst="curvedConnector3">
            <a:avLst>
              <a:gd name="adj1" fmla="val -2282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9C8CE2-8EE6-B501-510D-DCAE66A7C912}"/>
              </a:ext>
            </a:extLst>
          </p:cNvPr>
          <p:cNvCxnSpPr>
            <a:cxnSpLocks/>
          </p:cNvCxnSpPr>
          <p:nvPr/>
        </p:nvCxnSpPr>
        <p:spPr>
          <a:xfrm rot="10800000">
            <a:off x="849756" y="5486399"/>
            <a:ext cx="0" cy="7062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8FB46F3F-0152-1651-FC31-A89FE77BE45A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43363" y="4216891"/>
            <a:ext cx="2408807" cy="1150730"/>
          </a:xfrm>
          <a:prstGeom prst="curvedConnector3">
            <a:avLst>
              <a:gd name="adj1" fmla="val 2410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359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EC237-2924-BF78-CCAD-CBCCD9837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CE11-FA68-C70C-D642-941E361AE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Nozzle theory and gas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D14D-04D7-6CEE-1BD9-40FD65884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A concise definition of </a:t>
            </a:r>
            <a:r>
              <a:rPr lang="en-US" sz="1800" b="1" dirty="0"/>
              <a:t>Gas Dynamics, </a:t>
            </a:r>
            <a:r>
              <a:rPr lang="en-US" sz="1800" dirty="0"/>
              <a:t>is the behavior of gases when their motion is fast enough (typically at high Mach numbers) that changes in </a:t>
            </a:r>
            <a:r>
              <a:rPr lang="en-US" sz="1800" b="1" dirty="0"/>
              <a:t>density</a:t>
            </a:r>
            <a:r>
              <a:rPr lang="en-US" sz="1800" dirty="0"/>
              <a:t> and </a:t>
            </a:r>
            <a:r>
              <a:rPr lang="en-US" sz="1800" b="1" dirty="0"/>
              <a:t>temperature</a:t>
            </a:r>
            <a:r>
              <a:rPr lang="en-US" sz="1800" dirty="0"/>
              <a:t> become significant, treating the gas as a continuous medium.</a:t>
            </a:r>
          </a:p>
          <a:p>
            <a:r>
              <a:rPr lang="en-US" sz="1800" dirty="0"/>
              <a:t>This behaviors of gas is expressed by Prandtl-Meyer relation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2F9F686-0039-9313-F13F-AF78025C794B}"/>
              </a:ext>
            </a:extLst>
          </p:cNvPr>
          <p:cNvCxnSpPr>
            <a:cxnSpLocks/>
          </p:cNvCxnSpPr>
          <p:nvPr/>
        </p:nvCxnSpPr>
        <p:spPr>
          <a:xfrm rot="10800000">
            <a:off x="11332699" y="5289725"/>
            <a:ext cx="0" cy="7062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AF1986-C22A-CDE7-99E0-848ED79C1110}"/>
                  </a:ext>
                </a:extLst>
              </p:cNvPr>
              <p:cNvSpPr txBox="1"/>
              <p:nvPr/>
            </p:nvSpPr>
            <p:spPr>
              <a:xfrm>
                <a:off x="2329542" y="3579039"/>
                <a:ext cx="2227943" cy="8154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dv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ra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dM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AF1986-C22A-CDE7-99E0-848ED79C1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542" y="3579039"/>
                <a:ext cx="2227943" cy="8154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685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FBF49-24E3-AEC0-A99E-FE1C738D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9B60A-BCA3-E3AF-D805-A39BB66BA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Characteristics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78B6D8-DB63-8DE3-66BA-46EE303C0BC4}"/>
                  </a:ext>
                </a:extLst>
              </p:cNvPr>
              <p:cNvSpPr txBox="1"/>
              <p:nvPr/>
            </p:nvSpPr>
            <p:spPr>
              <a:xfrm>
                <a:off x="718931" y="1690688"/>
                <a:ext cx="558646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isentropic nozzle flow have three flow regions, namely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Sub-sonic (M&lt;1)	(A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,p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,T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Trans-sonic (M=1)(A = A*,p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dirty="0"/>
                  <a:t>,T=T*,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Super-sonic (M&gt;1)(A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i="1" smtClean="0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,p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,T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78B6D8-DB63-8DE3-66BA-46EE303C0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1" y="1690688"/>
                <a:ext cx="5586466" cy="1200329"/>
              </a:xfrm>
              <a:prstGeom prst="rect">
                <a:avLst/>
              </a:prstGeom>
              <a:blipFill>
                <a:blip r:embed="rId2"/>
                <a:stretch>
                  <a:fillRect l="-983" t="-2538" r="-109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76E10123-4B4B-3939-AF36-DBFC99C120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" y="3930476"/>
                <a:ext cx="1636217" cy="572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0" lang="en-US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dV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0" lang="en-US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V</m:t>
                          </m:r>
                        </m:den>
                      </m:f>
                      <m:r>
                        <a:rPr kumimoji="0" lang="en-US" alt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US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0" lang="en-US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p>
                              <m:r>
                                <a:rPr kumimoji="0" lang="en-US" altLang="en-US" sz="18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f>
                        <m:fPr>
                          <m:ctrlPr>
                            <a:rPr kumimoji="0" lang="en-US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0" lang="en-US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dA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0" lang="en-US" altLang="en-US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</m:oMath>
                  </m:oMathPara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76E10123-4B4B-3939-AF36-DBFC99C120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3930476"/>
                <a:ext cx="1636217" cy="5722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19427B5-2DF4-DBD5-42E8-E79E1BC3D3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676" y="3320574"/>
            <a:ext cx="3249324" cy="18467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D31381-7A56-7EC2-BF5B-4A2AC9612C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646" y="1690688"/>
            <a:ext cx="3361211" cy="396825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2B313B-8591-906A-0132-6079F85297AD}"/>
              </a:ext>
            </a:extLst>
          </p:cNvPr>
          <p:cNvCxnSpPr>
            <a:cxnSpLocks/>
          </p:cNvCxnSpPr>
          <p:nvPr/>
        </p:nvCxnSpPr>
        <p:spPr>
          <a:xfrm rot="16200000">
            <a:off x="1404927" y="5714268"/>
            <a:ext cx="0" cy="7062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553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C2867-49B2-81CB-754B-1CF85638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C1EC-828D-0B4B-5C45-7D42D72A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6884"/>
            <a:ext cx="10515600" cy="1325563"/>
          </a:xfrm>
        </p:spPr>
        <p:txBody>
          <a:bodyPr/>
          <a:lstStyle/>
          <a:p>
            <a:r>
              <a:rPr lang="en-US" dirty="0"/>
              <a:t>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1D22BA-4057-8EFD-F3AC-EA353A509B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617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A </a:t>
                </a:r>
                <a:r>
                  <a:rPr lang="en-US" sz="1800" b="1" dirty="0"/>
                  <a:t>performance</a:t>
                </a:r>
                <a:r>
                  <a:rPr lang="en-US" sz="1800" dirty="0"/>
                  <a:t> of an LRE, is the intricate trade-off between mass and thrust. It depends on various factors like </a:t>
                </a:r>
                <a:r>
                  <a:rPr lang="en-US" sz="1800" i="1" dirty="0"/>
                  <a:t>propellant choice, mixture ratio, combustion chamber pressure, nozzle expansion ratio and combustion efficiencies</a:t>
                </a:r>
                <a:r>
                  <a:rPr lang="en-US" sz="1800" dirty="0"/>
                  <a:t> etc. 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sp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</m:acc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+(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“Tsiolkovsky’s equation”</a:t>
                </a:r>
              </a:p>
              <a:p>
                <a:r>
                  <a:rPr lang="en-US" b="0" dirty="0"/>
                  <a:t>C*=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</m:acc>
                      </m:den>
                    </m:f>
                  </m:oMath>
                </a14:m>
                <a:r>
                  <a:rPr lang="en-US" b="0" dirty="0"/>
                  <a:t>  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Cofficient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Thrust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1D22BA-4057-8EFD-F3AC-EA353A509B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617"/>
                <a:ext cx="10515600" cy="4351338"/>
              </a:xfrm>
              <a:blipFill>
                <a:blip r:embed="rId2"/>
                <a:stretch>
                  <a:fillRect l="-1043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DA06E5-1DD6-5B5B-3082-4784615FC3EB}"/>
              </a:ext>
            </a:extLst>
          </p:cNvPr>
          <p:cNvCxnSpPr>
            <a:cxnSpLocks/>
          </p:cNvCxnSpPr>
          <p:nvPr/>
        </p:nvCxnSpPr>
        <p:spPr>
          <a:xfrm rot="10800000">
            <a:off x="11332699" y="5289725"/>
            <a:ext cx="0" cy="7062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31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A5DC7-C82E-9FBC-17B6-D73B0082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11304"/>
            <a:ext cx="6770914" cy="1325563"/>
          </a:xfrm>
        </p:spPr>
        <p:txBody>
          <a:bodyPr>
            <a:normAutofit/>
          </a:bodyPr>
          <a:lstStyle/>
          <a:p>
            <a:pPr algn="ctr"/>
            <a:r>
              <a:rPr lang="en-US" sz="8800" dirty="0">
                <a:latin typeface="Arial Black" panose="020B0A04020102020204" pitchFamily="34" charset="0"/>
              </a:rPr>
              <a:t>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90C67-D726-99AE-D19E-5E555EE1C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525" y="47625"/>
            <a:ext cx="4943475" cy="681037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1338B7-758E-CD71-D134-9D3CCE29CDEA}"/>
              </a:ext>
            </a:extLst>
          </p:cNvPr>
          <p:cNvCxnSpPr>
            <a:cxnSpLocks/>
          </p:cNvCxnSpPr>
          <p:nvPr/>
        </p:nvCxnSpPr>
        <p:spPr>
          <a:xfrm rot="10800000">
            <a:off x="843644" y="1077685"/>
            <a:ext cx="0" cy="7062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941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575EB-073C-D49F-A15E-572F6950A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7143-09A4-A139-ACFE-7662CC767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7BE224-8D4E-EDD1-32E1-AD10B6FF0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955537" y="814772"/>
            <a:ext cx="4238086" cy="59899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AB71D8-71E3-1F0A-1B42-01252522D862}"/>
              </a:ext>
            </a:extLst>
          </p:cNvPr>
          <p:cNvSpPr txBox="1"/>
          <p:nvPr/>
        </p:nvSpPr>
        <p:spPr>
          <a:xfrm>
            <a:off x="7646525" y="3625065"/>
            <a:ext cx="3425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Design of combustion chamber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49532C1-8283-8F9C-860A-0F0E44440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029211"/>
              </p:ext>
            </p:extLst>
          </p:nvPr>
        </p:nvGraphicFramePr>
        <p:xfrm>
          <a:off x="7646525" y="4248106"/>
          <a:ext cx="3798758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9379">
                  <a:extLst>
                    <a:ext uri="{9D8B030D-6E8A-4147-A177-3AD203B41FA5}">
                      <a16:colId xmlns:a16="http://schemas.microsoft.com/office/drawing/2014/main" val="2170737589"/>
                    </a:ext>
                  </a:extLst>
                </a:gridCol>
                <a:gridCol w="1899379">
                  <a:extLst>
                    <a:ext uri="{9D8B030D-6E8A-4147-A177-3AD203B41FA5}">
                      <a16:colId xmlns:a16="http://schemas.microsoft.com/office/drawing/2014/main" val="35625168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077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clearance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.02mm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395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 (thickness)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1631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-25000" dirty="0"/>
                        <a:t>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311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374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5A522-7A3E-6F38-9023-418EEE045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360BA73-9A2B-EEA6-43F2-EF0B8FAFD67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545111" y="1882235"/>
                <a:ext cx="5181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Oxidizer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sz="1600" dirty="0"/>
                  <a:t>Molecular mass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 </m:t>
                    </m:r>
                  </m:oMath>
                </a14:m>
                <a:r>
                  <a:rPr lang="en-US" altLang="en-US" sz="1600" dirty="0">
                    <a:latin typeface="Google Sans Text"/>
                  </a:rPr>
                  <a:t>34.015 g/mol</a:t>
                </a:r>
                <a:endParaRPr lang="en-US" sz="1600" dirty="0"/>
              </a:p>
              <a:p>
                <a:r>
                  <a:rPr lang="en-US" sz="1600" dirty="0"/>
                  <a:t>Stoic M.R = 2.83</a:t>
                </a: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∆°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nor/>
                      </m:rPr>
                      <a:rPr lang="en-US" sz="1600" dirty="0"/>
                      <m:t>−187.8 </m:t>
                    </m:r>
                    <m:r>
                      <m:rPr>
                        <m:nor/>
                      </m:rPr>
                      <a:rPr lang="en-US" sz="1600" dirty="0"/>
                      <m:t>Kj</m:t>
                    </m:r>
                    <m:r>
                      <m:rPr>
                        <m:nor/>
                      </m:rPr>
                      <a:rPr lang="en-US" sz="1600" dirty="0"/>
                      <m:t>/</m:t>
                    </m:r>
                    <m:r>
                      <m:rPr>
                        <m:nor/>
                      </m:rPr>
                      <a:rPr lang="en-US" sz="1600" dirty="0"/>
                      <m:t>mol</m:t>
                    </m:r>
                  </m:oMath>
                </a14:m>
                <a:endParaRPr lang="en-US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sz="1600" dirty="0"/>
                  <a:t> (@298K)</a:t>
                </a:r>
              </a:p>
              <a:p>
                <a:pPr lvl="1"/>
                <a:r>
                  <a:rPr lang="en-US" sz="1600" dirty="0"/>
                  <a:t>Liquid: 2.6 J/</a:t>
                </a:r>
                <a:r>
                  <a:rPr lang="en-US" sz="1600" dirty="0" err="1"/>
                  <a:t>g.K</a:t>
                </a:r>
                <a:endParaRPr lang="en-US" sz="1600" dirty="0"/>
              </a:p>
              <a:p>
                <a:pPr lvl="1"/>
                <a:r>
                  <a:rPr lang="en-US" sz="1600" dirty="0"/>
                  <a:t>Gas: 43.0 J/</a:t>
                </a:r>
                <a:r>
                  <a:rPr lang="en-US" sz="1600" dirty="0" err="1"/>
                  <a:t>mol.K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360BA73-9A2B-EEA6-43F2-EF0B8FAFD6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545111" y="1882235"/>
                <a:ext cx="5181600" cy="4351338"/>
              </a:xfrm>
              <a:blipFill>
                <a:blip r:embed="rId2"/>
                <a:stretch>
                  <a:fillRect l="-247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59BE90D-02B0-EC30-CC62-F57BF906D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Choice of propellants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A42BA-2DD6-D895-A6A3-49290A7D4C6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725266"/>
                <a:ext cx="5181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Fuel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sz="1600" dirty="0"/>
                  <a:t>Molecular mass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1600" dirty="0"/>
                  <a:t> 93.13 g/mol</a:t>
                </a:r>
              </a:p>
              <a:p>
                <a:r>
                  <a:rPr lang="en-US" sz="1600" dirty="0"/>
                  <a:t>Stoic M.R = 2.83</a:t>
                </a:r>
              </a:p>
              <a:p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∆°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nor/>
                      </m:rPr>
                      <a:rPr lang="en-US" sz="1600" dirty="0"/>
                      <m:t>31.3 </m:t>
                    </m:r>
                    <m:r>
                      <m:rPr>
                        <m:nor/>
                      </m:rPr>
                      <a:rPr lang="en-US" sz="1600" dirty="0"/>
                      <m:t>Kj</m:t>
                    </m:r>
                    <m:r>
                      <m:rPr>
                        <m:nor/>
                      </m:rPr>
                      <a:rPr lang="en-US" sz="1600" dirty="0"/>
                      <m:t>/</m:t>
                    </m:r>
                    <m:r>
                      <m:rPr>
                        <m:nor/>
                      </m:rPr>
                      <a:rPr lang="en-US" sz="1600" dirty="0"/>
                      <m:t>mol</m:t>
                    </m:r>
                  </m:oMath>
                </a14:m>
                <a:endParaRPr lang="en-US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sz="1600" dirty="0"/>
                  <a:t>(@298K)</a:t>
                </a:r>
              </a:p>
              <a:p>
                <a:pPr lvl="1"/>
                <a:r>
                  <a:rPr lang="en-US" sz="1600" dirty="0"/>
                  <a:t>Liquid: 1.92 J/</a:t>
                </a:r>
                <a:r>
                  <a:rPr lang="en-US" sz="1600" dirty="0" err="1"/>
                  <a:t>g.K</a:t>
                </a:r>
                <a:endParaRPr lang="en-US" sz="1600" dirty="0"/>
              </a:p>
              <a:p>
                <a:pPr lvl="1"/>
                <a:r>
                  <a:rPr lang="en-US" sz="1600" dirty="0"/>
                  <a:t>Gas: 120.9 J/</a:t>
                </a:r>
                <a:r>
                  <a:rPr lang="en-US" sz="1600" dirty="0" err="1"/>
                  <a:t>mol.K</a:t>
                </a:r>
                <a:endParaRPr lang="en-US" sz="16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A42BA-2DD6-D895-A6A3-49290A7D4C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725266"/>
                <a:ext cx="5181600" cy="4351338"/>
              </a:xfrm>
              <a:blipFill>
                <a:blip r:embed="rId3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8143F0-1902-7183-E98A-2EA2CA0A8EE8}"/>
                  </a:ext>
                </a:extLst>
              </p:cNvPr>
              <p:cNvSpPr txBox="1"/>
              <p:nvPr/>
            </p:nvSpPr>
            <p:spPr>
              <a:xfrm>
                <a:off x="838200" y="5974271"/>
                <a:ext cx="6300827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→6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+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8143F0-1902-7183-E98A-2EA2CA0A8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974271"/>
                <a:ext cx="6300827" cy="518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575CEC5-44DB-78DC-C867-3C9475E1DF07}"/>
              </a:ext>
            </a:extLst>
          </p:cNvPr>
          <p:cNvGrpSpPr/>
          <p:nvPr/>
        </p:nvGrpSpPr>
        <p:grpSpPr>
          <a:xfrm>
            <a:off x="1620503" y="2128988"/>
            <a:ext cx="7935656" cy="1714500"/>
            <a:chOff x="1620503" y="2128988"/>
            <a:chExt cx="7935656" cy="1714500"/>
          </a:xfrm>
        </p:grpSpPr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DD850F0C-1AD5-9540-90F1-1C2670DCF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20503" y="2128988"/>
              <a:ext cx="962025" cy="1714500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94C2ACEB-84E4-E1C6-C514-D8291758D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437273" y="2479832"/>
              <a:ext cx="2118886" cy="11946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4350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8670-B3FD-90F1-0809-E059506FC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8C9AC-79E5-74C8-1D3C-896305070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EECEF-92D8-8682-20EF-066D59DC02AA}"/>
              </a:ext>
            </a:extLst>
          </p:cNvPr>
          <p:cNvSpPr txBox="1"/>
          <p:nvPr/>
        </p:nvSpPr>
        <p:spPr>
          <a:xfrm>
            <a:off x="748491" y="1704396"/>
            <a:ext cx="109261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Feed system </a:t>
            </a:r>
            <a:r>
              <a:rPr lang="en-US" dirty="0"/>
              <a:t>is the mechanism designed to efficiently provide the desired mass flow rate of propellant.</a:t>
            </a:r>
          </a:p>
          <a:p>
            <a:r>
              <a:rPr lang="en-US" dirty="0"/>
              <a:t>	In this case, since we have Air- breathing engine we will be using a 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carburetion</a:t>
            </a:r>
            <a:r>
              <a:rPr lang="en-US" dirty="0"/>
              <a:t> for feed and mixing of propellants.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A7949F0-5A1A-573B-B723-31D366613759}"/>
              </a:ext>
            </a:extLst>
          </p:cNvPr>
          <p:cNvGrpSpPr/>
          <p:nvPr/>
        </p:nvGrpSpPr>
        <p:grpSpPr>
          <a:xfrm>
            <a:off x="2019869" y="2446069"/>
            <a:ext cx="7658672" cy="4717164"/>
            <a:chOff x="2019869" y="2231254"/>
            <a:chExt cx="7658672" cy="47171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6568F0D-3F61-70EC-7C1E-6EE31D4CF59D}"/>
                </a:ext>
              </a:extLst>
            </p:cNvPr>
            <p:cNvGrpSpPr/>
            <p:nvPr/>
          </p:nvGrpSpPr>
          <p:grpSpPr>
            <a:xfrm>
              <a:off x="2019869" y="2231254"/>
              <a:ext cx="7658672" cy="4717164"/>
              <a:chOff x="2019869" y="2231254"/>
              <a:chExt cx="7658672" cy="471716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D7898DB-A83C-99D1-1AAC-9DE7DBBC6045}"/>
                  </a:ext>
                </a:extLst>
              </p:cNvPr>
              <p:cNvSpPr/>
              <p:nvPr/>
            </p:nvSpPr>
            <p:spPr>
              <a:xfrm>
                <a:off x="3166281" y="3002507"/>
                <a:ext cx="5213444" cy="3193577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Flowchart: Delay 4">
                <a:extLst>
                  <a:ext uri="{FF2B5EF4-FFF2-40B4-BE49-F238E27FC236}">
                    <a16:creationId xmlns:a16="http://schemas.microsoft.com/office/drawing/2014/main" id="{85C64C52-30DF-01A8-3DE9-5AEED40B8A73}"/>
                  </a:ext>
                </a:extLst>
              </p:cNvPr>
              <p:cNvSpPr/>
              <p:nvPr/>
            </p:nvSpPr>
            <p:spPr>
              <a:xfrm rot="5400000">
                <a:off x="5172502" y="996287"/>
                <a:ext cx="1201002" cy="5213444"/>
              </a:xfrm>
              <a:prstGeom prst="flowChartDelay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Flowchart: Delay 5">
                <a:extLst>
                  <a:ext uri="{FF2B5EF4-FFF2-40B4-BE49-F238E27FC236}">
                    <a16:creationId xmlns:a16="http://schemas.microsoft.com/office/drawing/2014/main" id="{2081A27E-0D06-C22B-18FA-41EA05C0DC1D}"/>
                  </a:ext>
                </a:extLst>
              </p:cNvPr>
              <p:cNvSpPr/>
              <p:nvPr/>
            </p:nvSpPr>
            <p:spPr>
              <a:xfrm rot="16200000" flipV="1">
                <a:off x="5172502" y="2988862"/>
                <a:ext cx="1201002" cy="5213444"/>
              </a:xfrm>
              <a:prstGeom prst="flowChartDelay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0451AA9-329C-EB95-EBA6-26784BB4F8F0}"/>
                  </a:ext>
                </a:extLst>
              </p:cNvPr>
              <p:cNvSpPr/>
              <p:nvPr/>
            </p:nvSpPr>
            <p:spPr>
              <a:xfrm rot="19781253">
                <a:off x="5986818" y="2231254"/>
                <a:ext cx="218364" cy="212887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E69A6E5-E6AB-1420-A19D-061B27856C67}"/>
                  </a:ext>
                </a:extLst>
              </p:cNvPr>
              <p:cNvSpPr/>
              <p:nvPr/>
            </p:nvSpPr>
            <p:spPr>
              <a:xfrm rot="1818747" flipH="1">
                <a:off x="5986818" y="4819544"/>
                <a:ext cx="218364" cy="212887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61576580-6A8C-0553-7FD6-B73F4A0941B9}"/>
                  </a:ext>
                </a:extLst>
              </p:cNvPr>
              <p:cNvCxnSpPr/>
              <p:nvPr/>
            </p:nvCxnSpPr>
            <p:spPr>
              <a:xfrm>
                <a:off x="2019869" y="4599297"/>
                <a:ext cx="1787856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05B619F-01ED-3FE9-3AE4-EA440630B579}"/>
                  </a:ext>
                </a:extLst>
              </p:cNvPr>
              <p:cNvCxnSpPr/>
              <p:nvPr/>
            </p:nvCxnSpPr>
            <p:spPr>
              <a:xfrm>
                <a:off x="5841241" y="2866027"/>
                <a:ext cx="845308" cy="14466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AF75BBE4-0837-9BC7-F02D-19ECC6612A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88922" y="4929113"/>
                <a:ext cx="845308" cy="14466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A3224DDD-F05D-C1A9-DBE5-E824C21F8884}"/>
                  </a:ext>
                </a:extLst>
              </p:cNvPr>
              <p:cNvCxnSpPr/>
              <p:nvPr/>
            </p:nvCxnSpPr>
            <p:spPr>
              <a:xfrm>
                <a:off x="7890685" y="4571999"/>
                <a:ext cx="1787856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AF96157-8202-10D5-593B-D79F3EE2C1F2}"/>
                </a:ext>
              </a:extLst>
            </p:cNvPr>
            <p:cNvGrpSpPr/>
            <p:nvPr/>
          </p:nvGrpSpPr>
          <p:grpSpPr>
            <a:xfrm>
              <a:off x="2216405" y="3355615"/>
              <a:ext cx="7440807" cy="2424634"/>
              <a:chOff x="2216405" y="3355615"/>
              <a:chExt cx="7440807" cy="2424634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8E5847-BB93-CB2A-6A48-169D2EB7A6E7}"/>
                  </a:ext>
                </a:extLst>
              </p:cNvPr>
              <p:cNvSpPr txBox="1"/>
              <p:nvPr/>
            </p:nvSpPr>
            <p:spPr>
              <a:xfrm>
                <a:off x="2216405" y="4269479"/>
                <a:ext cx="949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Atm. Air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6069757-7553-C8EA-E465-34F943841102}"/>
                  </a:ext>
                </a:extLst>
              </p:cNvPr>
              <p:cNvSpPr txBox="1"/>
              <p:nvPr/>
            </p:nvSpPr>
            <p:spPr>
              <a:xfrm>
                <a:off x="8394226" y="3971321"/>
                <a:ext cx="12629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Air+ propellants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3AE2E5-9ACE-5DC0-4C2E-F9268F66CD12}"/>
                  </a:ext>
                </a:extLst>
              </p:cNvPr>
              <p:cNvSpPr txBox="1"/>
              <p:nvPr/>
            </p:nvSpPr>
            <p:spPr>
              <a:xfrm>
                <a:off x="6396245" y="3355615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Fuel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C671F3-B9B1-599A-9AB5-88E630461A29}"/>
                  </a:ext>
                </a:extLst>
              </p:cNvPr>
              <p:cNvSpPr txBox="1"/>
              <p:nvPr/>
            </p:nvSpPr>
            <p:spPr>
              <a:xfrm>
                <a:off x="6471300" y="5410917"/>
                <a:ext cx="9479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Oxidizer</a:t>
                </a:r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98015E3-58E8-9373-E01D-DA7BE369E1C4}"/>
              </a:ext>
            </a:extLst>
          </p:cNvPr>
          <p:cNvSpPr txBox="1"/>
          <p:nvPr/>
        </p:nvSpPr>
        <p:spPr>
          <a:xfrm>
            <a:off x="2407566" y="4932161"/>
            <a:ext cx="608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Inlet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467529-5F4D-8CC0-A119-869034C4A65D}"/>
              </a:ext>
            </a:extLst>
          </p:cNvPr>
          <p:cNvSpPr txBox="1"/>
          <p:nvPr/>
        </p:nvSpPr>
        <p:spPr>
          <a:xfrm>
            <a:off x="8406436" y="4972996"/>
            <a:ext cx="1377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Combustion chamber</a:t>
            </a:r>
          </a:p>
        </p:txBody>
      </p:sp>
    </p:spTree>
    <p:extLst>
      <p:ext uri="{BB962C8B-B14F-4D97-AF65-F5344CB8AC3E}">
        <p14:creationId xmlns:p14="http://schemas.microsoft.com/office/powerpoint/2010/main" val="1447154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C6195-31D8-4A9F-C06E-4A70BB1AF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8B676-B7A0-40BE-9FDE-4D6564828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38CAE-EA8E-397A-A55E-6205B66F3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102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Control system</a:t>
            </a:r>
            <a:r>
              <a:rPr lang="en-US" sz="1800" dirty="0"/>
              <a:t> design refers to a </a:t>
            </a:r>
            <a:r>
              <a:rPr lang="en-US" sz="1800" i="1" dirty="0"/>
              <a:t>microcontrollers</a:t>
            </a:r>
            <a:r>
              <a:rPr lang="en-US" sz="1800" dirty="0"/>
              <a:t> &amp; </a:t>
            </a:r>
            <a:r>
              <a:rPr lang="en-US" sz="1800" i="1" dirty="0"/>
              <a:t>actuators </a:t>
            </a:r>
            <a:r>
              <a:rPr lang="en-US" sz="1800" dirty="0"/>
              <a:t>required to control the</a:t>
            </a:r>
            <a:endParaRPr lang="en-US" sz="1800" i="1" dirty="0"/>
          </a:p>
          <a:p>
            <a:pPr marL="0" indent="0">
              <a:buNone/>
            </a:pPr>
            <a:r>
              <a:rPr lang="en-US" sz="1800" dirty="0"/>
              <a:t>A </a:t>
            </a:r>
            <a:r>
              <a:rPr lang="en-US" sz="1800" b="1" dirty="0"/>
              <a:t>control system </a:t>
            </a:r>
            <a:r>
              <a:rPr lang="en-US" sz="1800" dirty="0"/>
              <a:t>is necessary for numerous reasons, like;</a:t>
            </a:r>
          </a:p>
          <a:p>
            <a:pPr lvl="1"/>
            <a:r>
              <a:rPr lang="en-US" sz="1800" dirty="0"/>
              <a:t>Can be used to throttle or cut the flow of propellant</a:t>
            </a:r>
          </a:p>
          <a:p>
            <a:pPr lvl="1"/>
            <a:r>
              <a:rPr lang="en-US" sz="1800" dirty="0"/>
              <a:t>Can be used to change gimbal angle</a:t>
            </a:r>
          </a:p>
          <a:p>
            <a:pPr lvl="1"/>
            <a:r>
              <a:rPr lang="en-US" sz="1800" dirty="0"/>
              <a:t>Flight control and flight recorder</a:t>
            </a:r>
          </a:p>
          <a:p>
            <a:pPr lvl="1"/>
            <a:r>
              <a:rPr lang="en-US" sz="1800" dirty="0"/>
              <a:t>Active feedback Control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7AF3D1-7F2C-BA6A-E3E7-E50E8492A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319" y="2822228"/>
            <a:ext cx="6096000" cy="3475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F741DB-9468-5C23-A06D-4F4754E74807}"/>
              </a:ext>
            </a:extLst>
          </p:cNvPr>
          <p:cNvSpPr txBox="1"/>
          <p:nvPr/>
        </p:nvSpPr>
        <p:spPr>
          <a:xfrm>
            <a:off x="2642283" y="3858027"/>
            <a:ext cx="1838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Notable example:</a:t>
            </a:r>
          </a:p>
        </p:txBody>
      </p:sp>
    </p:spTree>
    <p:extLst>
      <p:ext uri="{BB962C8B-B14F-4D97-AF65-F5344CB8AC3E}">
        <p14:creationId xmlns:p14="http://schemas.microsoft.com/office/powerpoint/2010/main" val="2717429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CDA4F-E46C-84FF-5B75-9B3F9C549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BD51-D259-32ED-D9C1-002995F1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BoM (Bill of Materials)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A9D4B10-9A72-9CCC-1C58-0C7B0715B0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4979572"/>
              </p:ext>
            </p:extLst>
          </p:nvPr>
        </p:nvGraphicFramePr>
        <p:xfrm>
          <a:off x="871536" y="1690688"/>
          <a:ext cx="8734426" cy="384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48DDF083-7E1A-6EED-2329-1D4D63F22A2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53369508"/>
                  </p:ext>
                </p:extLst>
              </p:nvPr>
            </p:nvGraphicFramePr>
            <p:xfrm>
              <a:off x="5238749" y="2397654"/>
              <a:ext cx="6572251" cy="409522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48DDF083-7E1A-6EED-2329-1D4D63F22A2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38749" y="2397654"/>
                <a:ext cx="6572251" cy="4095221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6EDC0FC-B879-AD65-F9F8-D9C0386FD228}"/>
              </a:ext>
            </a:extLst>
          </p:cNvPr>
          <p:cNvSpPr txBox="1"/>
          <p:nvPr/>
        </p:nvSpPr>
        <p:spPr>
          <a:xfrm>
            <a:off x="871536" y="2554586"/>
            <a:ext cx="3867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 Tools are really goods getting an initial estimate of bill of material, it accurately provides a rough idea of cost assessment</a:t>
            </a:r>
          </a:p>
        </p:txBody>
      </p:sp>
    </p:spTree>
    <p:extLst>
      <p:ext uri="{BB962C8B-B14F-4D97-AF65-F5344CB8AC3E}">
        <p14:creationId xmlns:p14="http://schemas.microsoft.com/office/powerpoint/2010/main" val="2608134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89D74-1956-1A16-DCC6-69AFDD64F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028" y="43633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QUESTIONS?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2FAC92-3D4E-2268-2BE2-21ED4CE80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414" y="0"/>
            <a:ext cx="7897586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0F17C94-DEB7-082D-03A4-421CBDB07026}"/>
              </a:ext>
            </a:extLst>
          </p:cNvPr>
          <p:cNvSpPr/>
          <p:nvPr/>
        </p:nvSpPr>
        <p:spPr>
          <a:xfrm>
            <a:off x="4294414" y="0"/>
            <a:ext cx="7897586" cy="6858000"/>
          </a:xfrm>
          <a:prstGeom prst="rect">
            <a:avLst/>
          </a:prstGeom>
          <a:solidFill>
            <a:schemeClr val="dk1">
              <a:alpha val="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37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59795-0C27-DBC7-9EB2-964FC30BD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62FB6E-A787-D42A-FDBD-2BDB0380F0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D2B9A-786D-4C27-9481-E635BDCE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THANKYOU</a:t>
            </a:r>
          </a:p>
        </p:txBody>
      </p:sp>
      <p:pic>
        <p:nvPicPr>
          <p:cNvPr id="3" name="Picture 2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EF8784F4-9542-859A-B7D6-B758F8A844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5" name="Title 8">
            <a:extLst>
              <a:ext uri="{FF2B5EF4-FFF2-40B4-BE49-F238E27FC236}">
                <a16:creationId xmlns:a16="http://schemas.microsoft.com/office/drawing/2014/main" id="{31B1380B-2BE9-2DE1-79BD-D0E765CE5291}"/>
              </a:ext>
            </a:extLst>
          </p:cNvPr>
          <p:cNvSpPr txBox="1">
            <a:spLocks/>
          </p:cNvSpPr>
          <p:nvPr/>
        </p:nvSpPr>
        <p:spPr>
          <a:xfrm>
            <a:off x="310381" y="4308204"/>
            <a:ext cx="3275299" cy="16919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  <a:latin typeface="Arial Black" panose="020B0A04020102020204" pitchFamily="34" charset="0"/>
              </a:rPr>
              <a:t>Thank</a:t>
            </a:r>
          </a:p>
          <a:p>
            <a:r>
              <a:rPr lang="en-US" sz="6000" dirty="0">
                <a:solidFill>
                  <a:schemeClr val="bg1"/>
                </a:solidFill>
                <a:latin typeface="Arial Black" panose="020B0A04020102020204" pitchFamily="34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4132358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589</Words>
  <Application>Microsoft Office PowerPoint</Application>
  <PresentationFormat>Widescreen</PresentationFormat>
  <Paragraphs>118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Cambria Math</vt:lpstr>
      <vt:lpstr>Google Sans Text</vt:lpstr>
      <vt:lpstr>Impact</vt:lpstr>
      <vt:lpstr>Poppins</vt:lpstr>
      <vt:lpstr>Wingdings</vt:lpstr>
      <vt:lpstr>Office Theme</vt:lpstr>
      <vt:lpstr>PowerPoint Presentation</vt:lpstr>
      <vt:lpstr>Air-breathing Hypergolic LREs</vt:lpstr>
      <vt:lpstr>Agenda</vt:lpstr>
      <vt:lpstr>PowerPoint Presentation</vt:lpstr>
      <vt:lpstr>Process</vt:lpstr>
      <vt:lpstr>Nozzle theory and gas dynamics</vt:lpstr>
      <vt:lpstr>Flow Characteristics</vt:lpstr>
      <vt:lpstr>Performance</vt:lpstr>
      <vt:lpstr>DESIGN</vt:lpstr>
      <vt:lpstr>Structural Design</vt:lpstr>
      <vt:lpstr>Choice of propellants</vt:lpstr>
      <vt:lpstr>Feed System</vt:lpstr>
      <vt:lpstr>Control System Design</vt:lpstr>
      <vt:lpstr>BoM (Bill of Materials)</vt:lpstr>
      <vt:lpstr>QUESTIONS?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tanishk mr</dc:creator>
  <cp:lastModifiedBy>tanishk mr</cp:lastModifiedBy>
  <cp:revision>5</cp:revision>
  <dcterms:created xsi:type="dcterms:W3CDTF">2025-11-14T15:41:32Z</dcterms:created>
  <dcterms:modified xsi:type="dcterms:W3CDTF">2025-11-27T11:22:45Z</dcterms:modified>
</cp:coreProperties>
</file>