
<file path=[Content_Types].xml><?xml version="1.0" encoding="utf-8"?>
<Types xmlns="http://schemas.openxmlformats.org/package/2006/content-types">
  <Default Extension="glb" ContentType="model/gltf.binary"/>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4168" r:id="rId4"/>
  </p:sldMasterIdLst>
  <p:notesMasterIdLst>
    <p:notesMasterId r:id="rId21"/>
  </p:notesMasterIdLst>
  <p:handoutMasterIdLst>
    <p:handoutMasterId r:id="rId22"/>
  </p:handoutMasterIdLst>
  <p:sldIdLst>
    <p:sldId id="344" r:id="rId5"/>
    <p:sldId id="329" r:id="rId6"/>
    <p:sldId id="343" r:id="rId7"/>
    <p:sldId id="345" r:id="rId8"/>
    <p:sldId id="330" r:id="rId9"/>
    <p:sldId id="339" r:id="rId10"/>
    <p:sldId id="340" r:id="rId11"/>
    <p:sldId id="341" r:id="rId12"/>
    <p:sldId id="333" r:id="rId13"/>
    <p:sldId id="334" r:id="rId14"/>
    <p:sldId id="335" r:id="rId15"/>
    <p:sldId id="336" r:id="rId16"/>
    <p:sldId id="346" r:id="rId17"/>
    <p:sldId id="347" r:id="rId18"/>
    <p:sldId id="342" r:id="rId19"/>
    <p:sldId id="33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C0000"/>
    <a:srgbClr val="7BB0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85316" autoAdjust="0"/>
  </p:normalViewPr>
  <p:slideViewPr>
    <p:cSldViewPr snapToGrid="0">
      <p:cViewPr varScale="1">
        <p:scale>
          <a:sx n="74" d="100"/>
          <a:sy n="74" d="100"/>
        </p:scale>
        <p:origin x="610" y="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5" d="100"/>
          <a:sy n="65" d="100"/>
        </p:scale>
        <p:origin x="3082" y="3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B4CB405-BC11-414E-B0F4-9E1C4642FE1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C71A09E4-E76E-43B1-9270-846FE19D3E2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1A0A57E1-CEB3-4C96-B7C6-36B0FA3064E4}" type="datetimeFigureOut">
              <a:rPr lang="en-US" smtClean="0"/>
              <a:t>5/1/2025</a:t>
            </a:fld>
            <a:endParaRPr lang="en-US" dirty="0"/>
          </a:p>
        </p:txBody>
      </p:sp>
      <p:sp>
        <p:nvSpPr>
          <p:cNvPr id="4" name="Footer Placeholder 3">
            <a:extLst>
              <a:ext uri="{FF2B5EF4-FFF2-40B4-BE49-F238E27FC236}">
                <a16:creationId xmlns:a16="http://schemas.microsoft.com/office/drawing/2014/main" id="{44791962-6490-4685-B760-76A1628AD51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D3697A7F-1461-4B81-83F2-8C494CFB80B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D0D51C3-EABD-4553-9DC0-81CFC2A7F30E}" type="slidenum">
              <a:rPr lang="en-US" smtClean="0"/>
              <a:t>‹#›</a:t>
            </a:fld>
            <a:endParaRPr lang="en-US" dirty="0"/>
          </a:p>
        </p:txBody>
      </p:sp>
    </p:spTree>
    <p:extLst>
      <p:ext uri="{BB962C8B-B14F-4D97-AF65-F5344CB8AC3E}">
        <p14:creationId xmlns:p14="http://schemas.microsoft.com/office/powerpoint/2010/main" val="398146132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CF1BBD7-2276-4DDA-BFFE-26CAACEE5E98}" type="datetimeFigureOut">
              <a:rPr lang="en-US" smtClean="0"/>
              <a:t>5/1/2025</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0279F17-7BA4-49BC-BB37-7F646CF8D2F0}" type="slidenum">
              <a:rPr lang="en-US" smtClean="0"/>
              <a:t>‹#›</a:t>
            </a:fld>
            <a:endParaRPr lang="en-US" dirty="0"/>
          </a:p>
        </p:txBody>
      </p:sp>
    </p:spTree>
    <p:extLst>
      <p:ext uri="{BB962C8B-B14F-4D97-AF65-F5344CB8AC3E}">
        <p14:creationId xmlns:p14="http://schemas.microsoft.com/office/powerpoint/2010/main" val="4265740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0279F17-7BA4-49BC-BB37-7F646CF8D2F0}" type="slidenum">
              <a:rPr lang="en-US" smtClean="0"/>
              <a:t>2</a:t>
            </a:fld>
            <a:endParaRPr lang="en-US" dirty="0"/>
          </a:p>
        </p:txBody>
      </p:sp>
    </p:spTree>
    <p:extLst>
      <p:ext uri="{BB962C8B-B14F-4D97-AF65-F5344CB8AC3E}">
        <p14:creationId xmlns:p14="http://schemas.microsoft.com/office/powerpoint/2010/main" val="2917891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chemeClr val="tx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DED748D9-6073-DA29-847A-6A6C39D6A69B}"/>
              </a:ext>
            </a:extLst>
          </p:cNvPr>
          <p:cNvPicPr>
            <a:picLocks noChangeAspect="1"/>
          </p:cNvPicPr>
          <p:nvPr userDrawn="1"/>
        </p:nvPicPr>
        <p:blipFill rotWithShape="1">
          <a:blip r:embed="rId2">
            <a:grayscl/>
            <a:alphaModFix amt="41000"/>
          </a:blip>
          <a:srcRect l="-223" t="45170" r="17078" b="17468"/>
          <a:stretch/>
        </p:blipFill>
        <p:spPr>
          <a:xfrm rot="10800000">
            <a:off x="-2" y="0"/>
            <a:ext cx="6300593" cy="2304790"/>
          </a:xfrm>
          <a:prstGeom prst="rect">
            <a:avLst/>
          </a:prstGeom>
        </p:spPr>
      </p:pic>
      <p:grpSp>
        <p:nvGrpSpPr>
          <p:cNvPr id="9" name="Group 8">
            <a:extLst>
              <a:ext uri="{FF2B5EF4-FFF2-40B4-BE49-F238E27FC236}">
                <a16:creationId xmlns:a16="http://schemas.microsoft.com/office/drawing/2014/main" id="{3522E8A7-C256-4D0D-38F5-744CC21A3F1B}"/>
              </a:ext>
            </a:extLst>
          </p:cNvPr>
          <p:cNvGrpSpPr/>
          <p:nvPr userDrawn="1"/>
        </p:nvGrpSpPr>
        <p:grpSpPr>
          <a:xfrm>
            <a:off x="11613628" y="319274"/>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itle 1">
            <a:extLst>
              <a:ext uri="{FF2B5EF4-FFF2-40B4-BE49-F238E27FC236}">
                <a16:creationId xmlns:a16="http://schemas.microsoft.com/office/drawing/2014/main" id="{C41695A2-5AD2-67EB-7D51-A56C0DCF1440}"/>
              </a:ext>
            </a:extLst>
          </p:cNvPr>
          <p:cNvSpPr>
            <a:spLocks noGrp="1"/>
          </p:cNvSpPr>
          <p:nvPr>
            <p:ph type="title" hasCustomPrompt="1"/>
          </p:nvPr>
        </p:nvSpPr>
        <p:spPr>
          <a:xfrm>
            <a:off x="1800772" y="1793289"/>
            <a:ext cx="3010925" cy="3373515"/>
          </a:xfrm>
        </p:spPr>
        <p:txBody>
          <a:bodyPr lIns="0" tIns="0" rIns="0" bIns="0" anchor="ctr"/>
          <a:lstStyle>
            <a:lvl1pPr algn="l">
              <a:lnSpc>
                <a:spcPct val="75000"/>
              </a:lnSpc>
              <a:defRPr sz="80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29" name="Text Placeholder 20">
            <a:extLst>
              <a:ext uri="{FF2B5EF4-FFF2-40B4-BE49-F238E27FC236}">
                <a16:creationId xmlns:a16="http://schemas.microsoft.com/office/drawing/2014/main" id="{423228AD-A556-C433-B2EA-87D97B6FF63B}"/>
              </a:ext>
            </a:extLst>
          </p:cNvPr>
          <p:cNvSpPr>
            <a:spLocks noGrp="1"/>
          </p:cNvSpPr>
          <p:nvPr>
            <p:ph type="body" sz="quarter" idx="14" hasCustomPrompt="1"/>
          </p:nvPr>
        </p:nvSpPr>
        <p:spPr>
          <a:xfrm>
            <a:off x="5502975" y="3086826"/>
            <a:ext cx="5667049" cy="2079978"/>
          </a:xfrm>
        </p:spPr>
        <p:txBody>
          <a:bodyPr lIns="0" tIns="0" rIns="0" bIns="0"/>
          <a:lstStyle>
            <a:lvl1pPr marL="2857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5pPr>
          </a:lstStyle>
          <a:p>
            <a:pPr lvl="0"/>
            <a:r>
              <a:rPr lang="en-US" dirty="0"/>
              <a:t>Click to add text</a:t>
            </a:r>
          </a:p>
        </p:txBody>
      </p:sp>
      <p:pic>
        <p:nvPicPr>
          <p:cNvPr id="3" name="Picture 2">
            <a:extLst>
              <a:ext uri="{FF2B5EF4-FFF2-40B4-BE49-F238E27FC236}">
                <a16:creationId xmlns:a16="http://schemas.microsoft.com/office/drawing/2014/main" id="{77547038-27D1-FF6B-7831-F79C0B103590}"/>
              </a:ext>
            </a:extLst>
          </p:cNvPr>
          <p:cNvPicPr>
            <a:picLocks noChangeAspect="1"/>
          </p:cNvPicPr>
          <p:nvPr userDrawn="1"/>
        </p:nvPicPr>
        <p:blipFill rotWithShape="1">
          <a:blip r:embed="rId2">
            <a:grayscl/>
            <a:alphaModFix amt="41000"/>
          </a:blip>
          <a:srcRect l="-222" t="45170" r="19778" b="17468"/>
          <a:stretch/>
        </p:blipFill>
        <p:spPr>
          <a:xfrm>
            <a:off x="6096001" y="4549953"/>
            <a:ext cx="6096000" cy="2304790"/>
          </a:xfrm>
          <a:prstGeom prst="rect">
            <a:avLst/>
          </a:prstGeom>
        </p:spPr>
      </p:pic>
      <p:grpSp>
        <p:nvGrpSpPr>
          <p:cNvPr id="2" name="Group 1">
            <a:extLst>
              <a:ext uri="{FF2B5EF4-FFF2-40B4-BE49-F238E27FC236}">
                <a16:creationId xmlns:a16="http://schemas.microsoft.com/office/drawing/2014/main" id="{74392963-F9C3-8CCC-D239-15D7A4074039}"/>
              </a:ext>
            </a:extLst>
          </p:cNvPr>
          <p:cNvGrpSpPr/>
          <p:nvPr userDrawn="1"/>
        </p:nvGrpSpPr>
        <p:grpSpPr>
          <a:xfrm>
            <a:off x="530436" y="6223933"/>
            <a:ext cx="89941" cy="314793"/>
            <a:chOff x="5538866" y="1851285"/>
            <a:chExt cx="89941" cy="314793"/>
          </a:xfrm>
          <a:noFill/>
        </p:grpSpPr>
        <p:sp>
          <p:nvSpPr>
            <p:cNvPr id="4" name="Oval 3">
              <a:extLst>
                <a:ext uri="{FF2B5EF4-FFF2-40B4-BE49-F238E27FC236}">
                  <a16:creationId xmlns:a16="http://schemas.microsoft.com/office/drawing/2014/main" id="{E602030E-DB17-B78E-57D1-2DE77370C0A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F78C2D1A-F468-13E2-E0B2-A616C5D32D07}"/>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ext Placeholder 11">
            <a:extLst>
              <a:ext uri="{FF2B5EF4-FFF2-40B4-BE49-F238E27FC236}">
                <a16:creationId xmlns:a16="http://schemas.microsoft.com/office/drawing/2014/main" id="{FA6D1E3C-605D-AD1A-9356-148E871C2DE0}"/>
              </a:ext>
            </a:extLst>
          </p:cNvPr>
          <p:cNvSpPr>
            <a:spLocks noGrp="1"/>
          </p:cNvSpPr>
          <p:nvPr>
            <p:ph type="body" sz="quarter" idx="15" hasCustomPrompt="1"/>
          </p:nvPr>
        </p:nvSpPr>
        <p:spPr>
          <a:xfrm>
            <a:off x="5502976" y="1793289"/>
            <a:ext cx="5658458" cy="1127125"/>
          </a:xfrm>
        </p:spPr>
        <p:txBody>
          <a:bodyPr lIns="0" tIns="0" rIns="0" bIns="0"/>
          <a:lstStyle>
            <a:lvl1pPr marL="0" indent="0">
              <a:buNone/>
              <a:defRPr sz="1400" cap="all" baseline="0">
                <a:solidFill>
                  <a:schemeClr val="bg1"/>
                </a:solidFill>
              </a:defRPr>
            </a:lvl1pPr>
            <a:lvl2pPr marL="457200" indent="0">
              <a:buNone/>
              <a:defRPr cap="all" baseline="0">
                <a:solidFill>
                  <a:schemeClr val="bg1"/>
                </a:solidFill>
              </a:defRPr>
            </a:lvl2pPr>
            <a:lvl3pPr marL="914400" indent="0">
              <a:buNone/>
              <a:defRPr cap="all" baseline="0">
                <a:solidFill>
                  <a:schemeClr val="bg1"/>
                </a:solidFill>
              </a:defRPr>
            </a:lvl3pPr>
            <a:lvl4pPr marL="1371600" indent="0">
              <a:buNone/>
              <a:defRPr cap="all" baseline="0">
                <a:solidFill>
                  <a:schemeClr val="bg1"/>
                </a:solidFill>
              </a:defRPr>
            </a:lvl4pPr>
            <a:lvl5pPr marL="1828800" indent="0">
              <a:buNone/>
              <a:defRPr cap="all" baseline="0">
                <a:solidFill>
                  <a:schemeClr val="bg1"/>
                </a:solidFill>
              </a:defRPr>
            </a:lvl5pPr>
          </a:lstStyle>
          <a:p>
            <a:pPr lvl="0"/>
            <a:r>
              <a:rPr lang="en-US" dirty="0"/>
              <a:t>Click to add text</a:t>
            </a:r>
          </a:p>
        </p:txBody>
      </p:sp>
    </p:spTree>
    <p:extLst>
      <p:ext uri="{BB962C8B-B14F-4D97-AF65-F5344CB8AC3E}">
        <p14:creationId xmlns:p14="http://schemas.microsoft.com/office/powerpoint/2010/main" val="28455729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chemeClr val="tx1"/>
        </a:solidFill>
        <a:effectLst/>
      </p:bgPr>
    </p:bg>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DED748D9-6073-DA29-847A-6A6C39D6A69B}"/>
              </a:ext>
            </a:extLst>
          </p:cNvPr>
          <p:cNvPicPr>
            <a:picLocks noChangeAspect="1"/>
          </p:cNvPicPr>
          <p:nvPr userDrawn="1"/>
        </p:nvPicPr>
        <p:blipFill rotWithShape="1">
          <a:blip r:embed="rId2">
            <a:grayscl/>
            <a:alphaModFix amt="41000"/>
          </a:blip>
          <a:srcRect l="-223" t="45170" r="17078" b="17468"/>
          <a:stretch/>
        </p:blipFill>
        <p:spPr>
          <a:xfrm rot="10800000">
            <a:off x="-2" y="0"/>
            <a:ext cx="6300593" cy="2304790"/>
          </a:xfrm>
          <a:prstGeom prst="rect">
            <a:avLst/>
          </a:prstGeom>
        </p:spPr>
      </p:pic>
      <p:grpSp>
        <p:nvGrpSpPr>
          <p:cNvPr id="9" name="Group 8">
            <a:extLst>
              <a:ext uri="{FF2B5EF4-FFF2-40B4-BE49-F238E27FC236}">
                <a16:creationId xmlns:a16="http://schemas.microsoft.com/office/drawing/2014/main" id="{3522E8A7-C256-4D0D-38F5-744CC21A3F1B}"/>
              </a:ext>
            </a:extLst>
          </p:cNvPr>
          <p:cNvGrpSpPr/>
          <p:nvPr userDrawn="1"/>
        </p:nvGrpSpPr>
        <p:grpSpPr>
          <a:xfrm>
            <a:off x="11613628" y="319274"/>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8" name="Title 1">
            <a:extLst>
              <a:ext uri="{FF2B5EF4-FFF2-40B4-BE49-F238E27FC236}">
                <a16:creationId xmlns:a16="http://schemas.microsoft.com/office/drawing/2014/main" id="{C41695A2-5AD2-67EB-7D51-A56C0DCF1440}"/>
              </a:ext>
            </a:extLst>
          </p:cNvPr>
          <p:cNvSpPr>
            <a:spLocks noGrp="1"/>
          </p:cNvSpPr>
          <p:nvPr>
            <p:ph type="title" hasCustomPrompt="1"/>
          </p:nvPr>
        </p:nvSpPr>
        <p:spPr>
          <a:xfrm>
            <a:off x="1790925" y="1582977"/>
            <a:ext cx="3978939" cy="1946607"/>
          </a:xfrm>
        </p:spPr>
        <p:txBody>
          <a:bodyPr lIns="0" tIns="0" rIns="0" bIns="0" anchor="ctr"/>
          <a:lstStyle>
            <a:lvl1pPr algn="l">
              <a:lnSpc>
                <a:spcPct val="75000"/>
              </a:lnSpc>
              <a:defRPr sz="80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pic>
        <p:nvPicPr>
          <p:cNvPr id="3" name="Picture 2">
            <a:extLst>
              <a:ext uri="{FF2B5EF4-FFF2-40B4-BE49-F238E27FC236}">
                <a16:creationId xmlns:a16="http://schemas.microsoft.com/office/drawing/2014/main" id="{77547038-27D1-FF6B-7831-F79C0B103590}"/>
              </a:ext>
            </a:extLst>
          </p:cNvPr>
          <p:cNvPicPr>
            <a:picLocks noChangeAspect="1"/>
          </p:cNvPicPr>
          <p:nvPr userDrawn="1"/>
        </p:nvPicPr>
        <p:blipFill rotWithShape="1">
          <a:blip r:embed="rId2">
            <a:grayscl/>
            <a:alphaModFix amt="41000"/>
          </a:blip>
          <a:srcRect l="-222" t="45170" r="19778" b="17468"/>
          <a:stretch/>
        </p:blipFill>
        <p:spPr>
          <a:xfrm>
            <a:off x="6096001" y="4549953"/>
            <a:ext cx="6096000" cy="2304790"/>
          </a:xfrm>
          <a:prstGeom prst="rect">
            <a:avLst/>
          </a:prstGeom>
        </p:spPr>
      </p:pic>
      <p:grpSp>
        <p:nvGrpSpPr>
          <p:cNvPr id="2" name="Group 1">
            <a:extLst>
              <a:ext uri="{FF2B5EF4-FFF2-40B4-BE49-F238E27FC236}">
                <a16:creationId xmlns:a16="http://schemas.microsoft.com/office/drawing/2014/main" id="{74392963-F9C3-8CCC-D239-15D7A4074039}"/>
              </a:ext>
            </a:extLst>
          </p:cNvPr>
          <p:cNvGrpSpPr/>
          <p:nvPr userDrawn="1"/>
        </p:nvGrpSpPr>
        <p:grpSpPr>
          <a:xfrm>
            <a:off x="530436" y="6223933"/>
            <a:ext cx="89941" cy="314793"/>
            <a:chOff x="5538866" y="1851285"/>
            <a:chExt cx="89941" cy="314793"/>
          </a:xfrm>
          <a:noFill/>
        </p:grpSpPr>
        <p:sp>
          <p:nvSpPr>
            <p:cNvPr id="4" name="Oval 3">
              <a:extLst>
                <a:ext uri="{FF2B5EF4-FFF2-40B4-BE49-F238E27FC236}">
                  <a16:creationId xmlns:a16="http://schemas.microsoft.com/office/drawing/2014/main" id="{E602030E-DB17-B78E-57D1-2DE77370C0A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Oval 4">
              <a:extLst>
                <a:ext uri="{FF2B5EF4-FFF2-40B4-BE49-F238E27FC236}">
                  <a16:creationId xmlns:a16="http://schemas.microsoft.com/office/drawing/2014/main" id="{F78C2D1A-F468-13E2-E0B2-A616C5D32D07}"/>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2" name="Text Placeholder 11">
            <a:extLst>
              <a:ext uri="{FF2B5EF4-FFF2-40B4-BE49-F238E27FC236}">
                <a16:creationId xmlns:a16="http://schemas.microsoft.com/office/drawing/2014/main" id="{FA6D1E3C-605D-AD1A-9356-148E871C2DE0}"/>
              </a:ext>
            </a:extLst>
          </p:cNvPr>
          <p:cNvSpPr>
            <a:spLocks noGrp="1"/>
          </p:cNvSpPr>
          <p:nvPr>
            <p:ph type="body" sz="quarter" idx="15" hasCustomPrompt="1"/>
          </p:nvPr>
        </p:nvSpPr>
        <p:spPr>
          <a:xfrm>
            <a:off x="5239512" y="2347118"/>
            <a:ext cx="5161563" cy="2304791"/>
          </a:xfrm>
        </p:spPr>
        <p:txBody>
          <a:bodyPr lIns="0" tIns="0" rIns="0" bIns="0" anchor="ctr"/>
          <a:lstStyle>
            <a:lvl1pPr marL="0" indent="0" algn="r">
              <a:lnSpc>
                <a:spcPct val="75000"/>
              </a:lnSpc>
              <a:spcBef>
                <a:spcPts val="0"/>
              </a:spcBef>
              <a:spcAft>
                <a:spcPts val="0"/>
              </a:spcAft>
              <a:buNone/>
              <a:defRPr sz="8000" cap="all" spc="-150" baseline="0">
                <a:solidFill>
                  <a:schemeClr val="bg1"/>
                </a:solidFill>
                <a:latin typeface="+mj-lt"/>
              </a:defRPr>
            </a:lvl1pPr>
            <a:lvl2pPr marL="457200" indent="0">
              <a:buNone/>
              <a:defRPr cap="all" baseline="0">
                <a:solidFill>
                  <a:schemeClr val="bg1"/>
                </a:solidFill>
              </a:defRPr>
            </a:lvl2pPr>
            <a:lvl3pPr marL="914400" indent="0">
              <a:buNone/>
              <a:defRPr cap="all" baseline="0">
                <a:solidFill>
                  <a:schemeClr val="bg1"/>
                </a:solidFill>
              </a:defRPr>
            </a:lvl3pPr>
            <a:lvl4pPr marL="1371600" indent="0">
              <a:buNone/>
              <a:defRPr cap="all" baseline="0">
                <a:solidFill>
                  <a:schemeClr val="bg1"/>
                </a:solidFill>
              </a:defRPr>
            </a:lvl4pPr>
            <a:lvl5pPr marL="1828800" indent="0">
              <a:buNone/>
              <a:defRPr cap="all" baseline="0">
                <a:solidFill>
                  <a:schemeClr val="bg1"/>
                </a:solidFill>
              </a:defRPr>
            </a:lvl5pPr>
          </a:lstStyle>
          <a:p>
            <a:pPr lvl="0"/>
            <a:r>
              <a:rPr lang="en-US" dirty="0"/>
              <a:t>Add  title</a:t>
            </a:r>
          </a:p>
        </p:txBody>
      </p:sp>
      <p:sp>
        <p:nvSpPr>
          <p:cNvPr id="13" name="Text Placeholder 12">
            <a:extLst>
              <a:ext uri="{FF2B5EF4-FFF2-40B4-BE49-F238E27FC236}">
                <a16:creationId xmlns:a16="http://schemas.microsoft.com/office/drawing/2014/main" id="{5D7BC5E0-03EB-A193-1303-34484219ED76}"/>
              </a:ext>
            </a:extLst>
          </p:cNvPr>
          <p:cNvSpPr>
            <a:spLocks noGrp="1"/>
          </p:cNvSpPr>
          <p:nvPr>
            <p:ph type="body" sz="quarter" idx="16" hasCustomPrompt="1"/>
          </p:nvPr>
        </p:nvSpPr>
        <p:spPr>
          <a:xfrm>
            <a:off x="1352614" y="5010341"/>
            <a:ext cx="9501187" cy="1139447"/>
          </a:xfrm>
        </p:spPr>
        <p:txBody>
          <a:bodyPr/>
          <a:lstStyle>
            <a:lvl1pPr marL="0" indent="0" algn="ctr">
              <a:buNone/>
              <a:defRPr sz="1400" cap="all" baseline="0">
                <a:solidFill>
                  <a:schemeClr val="bg1"/>
                </a:solidFill>
              </a:defRPr>
            </a:lvl1pPr>
            <a:lvl2pPr marL="457200" indent="0">
              <a:buNone/>
              <a:defRPr sz="1400" cap="all" baseline="0">
                <a:solidFill>
                  <a:schemeClr val="bg1"/>
                </a:solidFill>
              </a:defRPr>
            </a:lvl2pPr>
            <a:lvl3pPr marL="914400" indent="0">
              <a:buNone/>
              <a:defRPr sz="1400" cap="all" baseline="0">
                <a:solidFill>
                  <a:schemeClr val="bg1"/>
                </a:solidFill>
              </a:defRPr>
            </a:lvl3pPr>
            <a:lvl4pPr marL="1371600" indent="0">
              <a:buNone/>
              <a:defRPr sz="1400" cap="all" baseline="0">
                <a:solidFill>
                  <a:schemeClr val="bg1"/>
                </a:solidFill>
              </a:defRPr>
            </a:lvl4pPr>
            <a:lvl5pPr marL="1828800" indent="0">
              <a:buNone/>
              <a:defRPr sz="1400" cap="all" baseline="0">
                <a:solidFill>
                  <a:schemeClr val="bg1"/>
                </a:solidFill>
              </a:defRPr>
            </a:lvl5pPr>
          </a:lstStyle>
          <a:p>
            <a:pPr lvl="0"/>
            <a:r>
              <a:rPr lang="en-US" dirty="0"/>
              <a:t>Click to add subtitle</a:t>
            </a:r>
          </a:p>
        </p:txBody>
      </p:sp>
    </p:spTree>
    <p:extLst>
      <p:ext uri="{BB962C8B-B14F-4D97-AF65-F5344CB8AC3E}">
        <p14:creationId xmlns:p14="http://schemas.microsoft.com/office/powerpoint/2010/main" val="7056796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mparison">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082032" y="608075"/>
            <a:ext cx="10061455" cy="644653"/>
          </a:xfrm>
        </p:spPr>
        <p:txBody>
          <a:bodyPr lIns="0" tIns="0" rIns="0" bIns="0" anchor="ctr"/>
          <a:lstStyle>
            <a:lvl1pPr algn="l">
              <a:lnSpc>
                <a:spcPct val="75000"/>
              </a:lnSpc>
              <a:defRPr sz="48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220826" y="1481328"/>
            <a:ext cx="2939694" cy="3227832"/>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1220827"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5" name="Picture Placeholder 11" descr="picture placeholder">
            <a:extLst>
              <a:ext uri="{FF2B5EF4-FFF2-40B4-BE49-F238E27FC236}">
                <a16:creationId xmlns:a16="http://schemas.microsoft.com/office/drawing/2014/main" id="{BDEA8563-2200-B57E-810F-41DD854A672E}"/>
              </a:ext>
            </a:extLst>
          </p:cNvPr>
          <p:cNvSpPr>
            <a:spLocks noGrp="1"/>
          </p:cNvSpPr>
          <p:nvPr>
            <p:ph type="pic" sz="quarter" idx="17"/>
          </p:nvPr>
        </p:nvSpPr>
        <p:spPr>
          <a:xfrm>
            <a:off x="4690863" y="1481328"/>
            <a:ext cx="2939694" cy="3227832"/>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Text Placeholder 20">
            <a:extLst>
              <a:ext uri="{FF2B5EF4-FFF2-40B4-BE49-F238E27FC236}">
                <a16:creationId xmlns:a16="http://schemas.microsoft.com/office/drawing/2014/main" id="{ED97174A-CD7A-C701-0CE9-02D5F895EF90}"/>
              </a:ext>
            </a:extLst>
          </p:cNvPr>
          <p:cNvSpPr>
            <a:spLocks noGrp="1"/>
          </p:cNvSpPr>
          <p:nvPr>
            <p:ph type="body" sz="quarter" idx="18" hasCustomPrompt="1"/>
          </p:nvPr>
        </p:nvSpPr>
        <p:spPr>
          <a:xfrm>
            <a:off x="4690864"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13" name="Picture Placeholder 11" descr="picture placeholder">
            <a:extLst>
              <a:ext uri="{FF2B5EF4-FFF2-40B4-BE49-F238E27FC236}">
                <a16:creationId xmlns:a16="http://schemas.microsoft.com/office/drawing/2014/main" id="{630D9652-C4A0-E049-3F65-924827826FE0}"/>
              </a:ext>
            </a:extLst>
          </p:cNvPr>
          <p:cNvSpPr>
            <a:spLocks noGrp="1"/>
          </p:cNvSpPr>
          <p:nvPr>
            <p:ph type="pic" sz="quarter" idx="19"/>
          </p:nvPr>
        </p:nvSpPr>
        <p:spPr>
          <a:xfrm>
            <a:off x="8188558" y="1481328"/>
            <a:ext cx="2939694" cy="3227832"/>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5" name="Text Placeholder 20">
            <a:extLst>
              <a:ext uri="{FF2B5EF4-FFF2-40B4-BE49-F238E27FC236}">
                <a16:creationId xmlns:a16="http://schemas.microsoft.com/office/drawing/2014/main" id="{99B6060F-8C38-5C36-BCF1-620E2F4AF90F}"/>
              </a:ext>
            </a:extLst>
          </p:cNvPr>
          <p:cNvSpPr>
            <a:spLocks noGrp="1"/>
          </p:cNvSpPr>
          <p:nvPr>
            <p:ph type="body" sz="quarter" idx="20" hasCustomPrompt="1"/>
          </p:nvPr>
        </p:nvSpPr>
        <p:spPr>
          <a:xfrm>
            <a:off x="8188559"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6585395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Picture, and Content">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6482084" y="890015"/>
            <a:ext cx="3091684" cy="1938529"/>
          </a:xfrm>
        </p:spPr>
        <p:txBody>
          <a:bodyPr lIns="0" tIns="0" rIns="0" bIns="0" anchor="b"/>
          <a:lstStyle>
            <a:lvl1pPr algn="l">
              <a:lnSpc>
                <a:spcPct val="75000"/>
              </a:lnSpc>
              <a:defRPr sz="4800" b="0" i="0" cap="all" spc="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220826" y="1"/>
            <a:ext cx="4785234" cy="6858000"/>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7636834" y="3438143"/>
            <a:ext cx="3439598" cy="2631523"/>
          </a:xfrm>
        </p:spPr>
        <p:txBody>
          <a:bodyPr lIns="0" tIns="0" rIns="0" bIns="0"/>
          <a:lstStyle>
            <a:lvl1pPr marL="2857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2716891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Two picture">
    <p:bg>
      <p:bgPr>
        <a:solidFill>
          <a:schemeClr val="tx1"/>
        </a:solidFill>
        <a:effectLst/>
      </p:bgPr>
    </p:bg>
    <p:spTree>
      <p:nvGrpSpPr>
        <p:cNvPr id="1" name=""/>
        <p:cNvGrpSpPr/>
        <p:nvPr/>
      </p:nvGrpSpPr>
      <p:grpSpPr>
        <a:xfrm>
          <a:off x="0" y="0"/>
          <a:ext cx="0" cy="0"/>
          <a:chOff x="0" y="0"/>
          <a:chExt cx="0" cy="0"/>
        </a:xfrm>
      </p:grpSpPr>
      <p:sp>
        <p:nvSpPr>
          <p:cNvPr id="13" name="Picture Placeholder 11" descr="picture placeholder">
            <a:extLst>
              <a:ext uri="{FF2B5EF4-FFF2-40B4-BE49-F238E27FC236}">
                <a16:creationId xmlns:a16="http://schemas.microsoft.com/office/drawing/2014/main" id="{007489C8-C2F6-7874-81E6-FAF3CB72CD35}"/>
              </a:ext>
            </a:extLst>
          </p:cNvPr>
          <p:cNvSpPr>
            <a:spLocks noGrp="1"/>
          </p:cNvSpPr>
          <p:nvPr>
            <p:ph type="pic" sz="quarter" idx="19"/>
          </p:nvPr>
        </p:nvSpPr>
        <p:spPr>
          <a:xfrm>
            <a:off x="4782575" y="1634085"/>
            <a:ext cx="2941845" cy="3191257"/>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079075" y="560048"/>
            <a:ext cx="4622471" cy="2384319"/>
          </a:xfrm>
        </p:spPr>
        <p:txBody>
          <a:bodyPr lIns="0" tIns="0" rIns="0" bIns="0" anchor="ctr"/>
          <a:lstStyle>
            <a:lvl1pPr algn="l">
              <a:lnSpc>
                <a:spcPct val="75000"/>
              </a:lnSpc>
              <a:defRPr sz="48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15" name="Text Placeholder 20">
            <a:extLst>
              <a:ext uri="{FF2B5EF4-FFF2-40B4-BE49-F238E27FC236}">
                <a16:creationId xmlns:a16="http://schemas.microsoft.com/office/drawing/2014/main" id="{A41ABB58-FB44-EE86-1061-E95F87391708}"/>
              </a:ext>
            </a:extLst>
          </p:cNvPr>
          <p:cNvSpPr>
            <a:spLocks noGrp="1"/>
          </p:cNvSpPr>
          <p:nvPr>
            <p:ph type="body" sz="quarter" idx="20" hasCustomPrompt="1"/>
          </p:nvPr>
        </p:nvSpPr>
        <p:spPr>
          <a:xfrm>
            <a:off x="1079076" y="3089598"/>
            <a:ext cx="3577916" cy="493776"/>
          </a:xfrm>
        </p:spPr>
        <p:txBody>
          <a:bodyPr lIns="0" tIns="0" rIns="0" bIns="0"/>
          <a:lstStyle>
            <a:lvl1pPr marL="0" indent="0">
              <a:buClr>
                <a:schemeClr val="bg1"/>
              </a:buClr>
              <a:buFont typeface="Courier New" panose="02070309020205020404" pitchFamily="49" charset="0"/>
              <a:buNone/>
              <a:defRPr sz="1400" b="0" i="0" cap="all" baseline="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subtitle</a:t>
            </a:r>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1079076" y="3631142"/>
            <a:ext cx="2721367" cy="2631523"/>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5" name="Text Placeholder 20">
            <a:extLst>
              <a:ext uri="{FF2B5EF4-FFF2-40B4-BE49-F238E27FC236}">
                <a16:creationId xmlns:a16="http://schemas.microsoft.com/office/drawing/2014/main" id="{28C33102-C0D9-31A0-A7A1-2BAC395320A6}"/>
              </a:ext>
            </a:extLst>
          </p:cNvPr>
          <p:cNvSpPr>
            <a:spLocks noGrp="1"/>
          </p:cNvSpPr>
          <p:nvPr>
            <p:ph type="body" sz="quarter" idx="17" hasCustomPrompt="1"/>
          </p:nvPr>
        </p:nvSpPr>
        <p:spPr>
          <a:xfrm>
            <a:off x="4705640" y="5285084"/>
            <a:ext cx="3095716" cy="939292"/>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8193024" y="1634086"/>
            <a:ext cx="2941845" cy="3191257"/>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Text Placeholder 20">
            <a:extLst>
              <a:ext uri="{FF2B5EF4-FFF2-40B4-BE49-F238E27FC236}">
                <a16:creationId xmlns:a16="http://schemas.microsoft.com/office/drawing/2014/main" id="{F5D171A2-DD04-FA64-A705-BE5D0C937E16}"/>
              </a:ext>
            </a:extLst>
          </p:cNvPr>
          <p:cNvSpPr>
            <a:spLocks noGrp="1"/>
          </p:cNvSpPr>
          <p:nvPr>
            <p:ph type="body" sz="quarter" idx="18" hasCustomPrompt="1"/>
          </p:nvPr>
        </p:nvSpPr>
        <p:spPr>
          <a:xfrm>
            <a:off x="8116088" y="5285084"/>
            <a:ext cx="3095716" cy="939292"/>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010831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llage">
    <p:bg>
      <p:bgPr>
        <a:solidFill>
          <a:schemeClr val="tx1"/>
        </a:solidFill>
        <a:effectLst/>
      </p:bgPr>
    </p:bg>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2049355"/>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5" name="Title 1">
            <a:extLst>
              <a:ext uri="{FF2B5EF4-FFF2-40B4-BE49-F238E27FC236}">
                <a16:creationId xmlns:a16="http://schemas.microsoft.com/office/drawing/2014/main" id="{D1BC8852-D44A-D95C-9A79-F92DD4EC2F1C}"/>
              </a:ext>
            </a:extLst>
          </p:cNvPr>
          <p:cNvSpPr>
            <a:spLocks noGrp="1"/>
          </p:cNvSpPr>
          <p:nvPr>
            <p:ph type="title" hasCustomPrompt="1"/>
          </p:nvPr>
        </p:nvSpPr>
        <p:spPr>
          <a:xfrm>
            <a:off x="1242131" y="425139"/>
            <a:ext cx="3164770" cy="2403406"/>
          </a:xfrm>
        </p:spPr>
        <p:txBody>
          <a:bodyPr lIns="0" tIns="0" rIns="0" bIns="0" anchor="b"/>
          <a:lstStyle>
            <a:lvl1pPr algn="l">
              <a:lnSpc>
                <a:spcPct val="75000"/>
              </a:lnSpc>
              <a:defRPr sz="48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16" name="Text Placeholder 20">
            <a:extLst>
              <a:ext uri="{FF2B5EF4-FFF2-40B4-BE49-F238E27FC236}">
                <a16:creationId xmlns:a16="http://schemas.microsoft.com/office/drawing/2014/main" id="{08E62040-BF32-845C-9224-98B69005FCF5}"/>
              </a:ext>
            </a:extLst>
          </p:cNvPr>
          <p:cNvSpPr>
            <a:spLocks noGrp="1"/>
          </p:cNvSpPr>
          <p:nvPr>
            <p:ph type="body" sz="quarter" idx="14" hasCustomPrompt="1"/>
          </p:nvPr>
        </p:nvSpPr>
        <p:spPr>
          <a:xfrm>
            <a:off x="1242130" y="3075681"/>
            <a:ext cx="3164764" cy="1376398"/>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angal" panose="02040503050203030202" pitchFamily="18" charset="0"/>
                <a:cs typeface="Mangal" panose="02040503050203030202" pitchFamily="18" charset="0"/>
              </a:defRPr>
            </a:lvl5pPr>
          </a:lstStyle>
          <a:p>
            <a:pPr lvl="0"/>
            <a:r>
              <a:rPr lang="en-US" dirty="0"/>
              <a:t>Click to add text</a:t>
            </a:r>
          </a:p>
        </p:txBody>
      </p:sp>
      <p:sp>
        <p:nvSpPr>
          <p:cNvPr id="7" name="Picture Placeholder 11" descr="picture placeholder">
            <a:extLst>
              <a:ext uri="{FF2B5EF4-FFF2-40B4-BE49-F238E27FC236}">
                <a16:creationId xmlns:a16="http://schemas.microsoft.com/office/drawing/2014/main" id="{7D19173E-BF72-7982-B9A1-FE487C1188DB}"/>
              </a:ext>
            </a:extLst>
          </p:cNvPr>
          <p:cNvSpPr>
            <a:spLocks noGrp="1"/>
          </p:cNvSpPr>
          <p:nvPr>
            <p:ph type="pic" sz="quarter" idx="21"/>
          </p:nvPr>
        </p:nvSpPr>
        <p:spPr>
          <a:xfrm>
            <a:off x="1242131" y="4721601"/>
            <a:ext cx="3522392" cy="2136399"/>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3" name="Picture Placeholder 11" descr="picture placeholder">
            <a:extLst>
              <a:ext uri="{FF2B5EF4-FFF2-40B4-BE49-F238E27FC236}">
                <a16:creationId xmlns:a16="http://schemas.microsoft.com/office/drawing/2014/main" id="{D51C203A-3A92-6BC5-A236-DBB70B517E71}"/>
              </a:ext>
            </a:extLst>
          </p:cNvPr>
          <p:cNvSpPr>
            <a:spLocks noGrp="1"/>
          </p:cNvSpPr>
          <p:nvPr>
            <p:ph type="pic" sz="quarter" idx="16"/>
          </p:nvPr>
        </p:nvSpPr>
        <p:spPr>
          <a:xfrm>
            <a:off x="4921959" y="1"/>
            <a:ext cx="3925538" cy="2933008"/>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Picture Placeholder 11" descr="picture placeholder">
            <a:extLst>
              <a:ext uri="{FF2B5EF4-FFF2-40B4-BE49-F238E27FC236}">
                <a16:creationId xmlns:a16="http://schemas.microsoft.com/office/drawing/2014/main" id="{BA8C2200-B8F4-7A2E-4F97-B31B53D38A8C}"/>
              </a:ext>
            </a:extLst>
          </p:cNvPr>
          <p:cNvSpPr>
            <a:spLocks noGrp="1"/>
          </p:cNvSpPr>
          <p:nvPr>
            <p:ph type="pic" sz="quarter" idx="19"/>
          </p:nvPr>
        </p:nvSpPr>
        <p:spPr>
          <a:xfrm>
            <a:off x="4921959" y="3082045"/>
            <a:ext cx="2262279" cy="1465065"/>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3" name="Picture Placeholder 11" descr="picture placeholder">
            <a:extLst>
              <a:ext uri="{FF2B5EF4-FFF2-40B4-BE49-F238E27FC236}">
                <a16:creationId xmlns:a16="http://schemas.microsoft.com/office/drawing/2014/main" id="{6290D66C-EBB5-C620-E71D-0FBB89C55769}"/>
              </a:ext>
            </a:extLst>
          </p:cNvPr>
          <p:cNvSpPr>
            <a:spLocks noGrp="1"/>
          </p:cNvSpPr>
          <p:nvPr>
            <p:ph type="pic" sz="quarter" idx="20"/>
          </p:nvPr>
        </p:nvSpPr>
        <p:spPr>
          <a:xfrm>
            <a:off x="4921959" y="4721601"/>
            <a:ext cx="2262279" cy="2136399"/>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4" name="Picture Placeholder 11" descr="picture placeholder">
            <a:extLst>
              <a:ext uri="{FF2B5EF4-FFF2-40B4-BE49-F238E27FC236}">
                <a16:creationId xmlns:a16="http://schemas.microsoft.com/office/drawing/2014/main" id="{4AAF9077-F4CB-6EB4-F15E-CA235E89EBD9}"/>
              </a:ext>
            </a:extLst>
          </p:cNvPr>
          <p:cNvSpPr>
            <a:spLocks noGrp="1"/>
          </p:cNvSpPr>
          <p:nvPr>
            <p:ph type="pic" sz="quarter" idx="17"/>
          </p:nvPr>
        </p:nvSpPr>
        <p:spPr>
          <a:xfrm>
            <a:off x="8996534" y="335197"/>
            <a:ext cx="2301704" cy="2597810"/>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5" name="Picture Placeholder 11" descr="picture placeholder">
            <a:extLst>
              <a:ext uri="{FF2B5EF4-FFF2-40B4-BE49-F238E27FC236}">
                <a16:creationId xmlns:a16="http://schemas.microsoft.com/office/drawing/2014/main" id="{720F3E71-0F7F-4FA9-5236-34EDD2EEC73F}"/>
              </a:ext>
            </a:extLst>
          </p:cNvPr>
          <p:cNvSpPr>
            <a:spLocks noGrp="1"/>
          </p:cNvSpPr>
          <p:nvPr>
            <p:ph type="pic" sz="quarter" idx="18"/>
          </p:nvPr>
        </p:nvSpPr>
        <p:spPr>
          <a:xfrm>
            <a:off x="7337475" y="3082045"/>
            <a:ext cx="4854525" cy="2978479"/>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7545843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Picture">
    <p:bg>
      <p:bgPr>
        <a:solidFill>
          <a:schemeClr val="tx1"/>
        </a:solidFill>
        <a:effectLst/>
      </p:bgPr>
    </p:bg>
    <p:spTree>
      <p:nvGrpSpPr>
        <p:cNvPr id="1" name=""/>
        <p:cNvGrpSpPr/>
        <p:nvPr/>
      </p:nvGrpSpPr>
      <p:grpSpPr>
        <a:xfrm>
          <a:off x="0" y="0"/>
          <a:ext cx="0" cy="0"/>
          <a:chOff x="0" y="0"/>
          <a:chExt cx="0" cy="0"/>
        </a:xfrm>
      </p:grpSpPr>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228004" y="890011"/>
            <a:ext cx="10963996" cy="5170510"/>
          </a:xfrm>
        </p:spPr>
        <p:txBody>
          <a:bodyPr anchor="ct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3" name="Title 1">
            <a:extLst>
              <a:ext uri="{FF2B5EF4-FFF2-40B4-BE49-F238E27FC236}">
                <a16:creationId xmlns:a16="http://schemas.microsoft.com/office/drawing/2014/main" id="{DF9F0849-FB1F-B511-68E2-73CBF63D60F9}"/>
              </a:ext>
            </a:extLst>
          </p:cNvPr>
          <p:cNvSpPr>
            <a:spLocks noGrp="1"/>
          </p:cNvSpPr>
          <p:nvPr>
            <p:ph type="title" hasCustomPrompt="1"/>
          </p:nvPr>
        </p:nvSpPr>
        <p:spPr>
          <a:xfrm>
            <a:off x="1083196" y="649990"/>
            <a:ext cx="10126933" cy="425138"/>
          </a:xfrm>
        </p:spPr>
        <p:txBody>
          <a:bodyPr lIns="0" tIns="0" rIns="0" bIns="0" anchor="t"/>
          <a:lstStyle>
            <a:lvl1pPr algn="l">
              <a:lnSpc>
                <a:spcPct val="75000"/>
              </a:lnSpc>
              <a:defRPr sz="4800" b="0" i="0" spc="-15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6" name="Text Placeholder 5">
            <a:extLst>
              <a:ext uri="{FF2B5EF4-FFF2-40B4-BE49-F238E27FC236}">
                <a16:creationId xmlns:a16="http://schemas.microsoft.com/office/drawing/2014/main" id="{A927A013-657B-B1EA-05D7-FCFD2EA6E63F}"/>
              </a:ext>
            </a:extLst>
          </p:cNvPr>
          <p:cNvSpPr>
            <a:spLocks noGrp="1"/>
          </p:cNvSpPr>
          <p:nvPr>
            <p:ph type="body" sz="quarter" idx="18" hasCustomPrompt="1"/>
          </p:nvPr>
        </p:nvSpPr>
        <p:spPr>
          <a:xfrm>
            <a:off x="1082406" y="5856042"/>
            <a:ext cx="10126918" cy="425138"/>
          </a:xfrm>
        </p:spPr>
        <p:txBody>
          <a:bodyPr lIns="0" tIns="0" rIns="0" bIns="0"/>
          <a:lstStyle>
            <a:lvl1pPr marL="0" indent="0" algn="r">
              <a:lnSpc>
                <a:spcPct val="75000"/>
              </a:lnSpc>
              <a:spcBef>
                <a:spcPts val="0"/>
              </a:spcBef>
              <a:spcAft>
                <a:spcPts val="0"/>
              </a:spcAft>
              <a:buNone/>
              <a:defRPr sz="4800" cap="all" spc="-150" baseline="0">
                <a:solidFill>
                  <a:schemeClr val="bg1"/>
                </a:solidFill>
                <a:latin typeface="+mj-lt"/>
                <a:ea typeface="MS PMincho" panose="02020600040205080304" pitchFamily="18" charset="-128"/>
              </a:defRPr>
            </a:lvl1pPr>
            <a:lvl2pPr marL="457200" indent="0">
              <a:buNone/>
              <a:defRPr spc="-150">
                <a:solidFill>
                  <a:schemeClr val="bg1"/>
                </a:solidFill>
                <a:latin typeface="MS PMincho" panose="02020600040205080304" pitchFamily="18" charset="-128"/>
                <a:ea typeface="MS PMincho" panose="02020600040205080304" pitchFamily="18" charset="-128"/>
              </a:defRPr>
            </a:lvl2pPr>
            <a:lvl3pPr marL="914400" indent="0">
              <a:buNone/>
              <a:defRPr spc="-150">
                <a:solidFill>
                  <a:schemeClr val="bg1"/>
                </a:solidFill>
                <a:latin typeface="MS PMincho" panose="02020600040205080304" pitchFamily="18" charset="-128"/>
                <a:ea typeface="MS PMincho" panose="02020600040205080304" pitchFamily="18" charset="-128"/>
              </a:defRPr>
            </a:lvl3pPr>
            <a:lvl4pPr marL="1371600" indent="0">
              <a:buNone/>
              <a:defRPr spc="-150">
                <a:solidFill>
                  <a:schemeClr val="bg1"/>
                </a:solidFill>
                <a:latin typeface="MS PMincho" panose="02020600040205080304" pitchFamily="18" charset="-128"/>
                <a:ea typeface="MS PMincho" panose="02020600040205080304" pitchFamily="18" charset="-128"/>
              </a:defRPr>
            </a:lvl4pPr>
            <a:lvl5pPr marL="1828800" indent="0">
              <a:buNone/>
              <a:defRPr spc="-150">
                <a:solidFill>
                  <a:schemeClr val="bg1"/>
                </a:solidFill>
                <a:latin typeface="MS PMincho" panose="02020600040205080304" pitchFamily="18" charset="-128"/>
                <a:ea typeface="MS PMincho" panose="02020600040205080304" pitchFamily="18" charset="-128"/>
              </a:defRPr>
            </a:lvl5pPr>
          </a:lstStyle>
          <a:p>
            <a:pPr lvl="0"/>
            <a:r>
              <a:rPr lang="en-US" dirty="0"/>
              <a:t>Add title</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0387643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itle, Subtitle, Picture, and Content">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6482084" y="890015"/>
            <a:ext cx="3091684" cy="1938529"/>
          </a:xfrm>
        </p:spPr>
        <p:txBody>
          <a:bodyPr lIns="0" tIns="0" rIns="0" bIns="0" anchor="b"/>
          <a:lstStyle>
            <a:lvl1pPr algn="l">
              <a:lnSpc>
                <a:spcPct val="75000"/>
              </a:lnSpc>
              <a:defRPr sz="4800" b="0" i="0" cap="all" spc="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220826" y="1"/>
            <a:ext cx="4785234" cy="6858000"/>
          </a:xfrm>
        </p:spPr>
        <p:txBody>
          <a:bodyPr/>
          <a:lstStyle>
            <a:lvl1pPr marL="0" indent="0">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4" name="Text Placeholder 3">
            <a:extLst>
              <a:ext uri="{FF2B5EF4-FFF2-40B4-BE49-F238E27FC236}">
                <a16:creationId xmlns:a16="http://schemas.microsoft.com/office/drawing/2014/main" id="{A2D1F475-EF10-D813-0860-75BE8B40BFC3}"/>
              </a:ext>
            </a:extLst>
          </p:cNvPr>
          <p:cNvSpPr>
            <a:spLocks noGrp="1"/>
          </p:cNvSpPr>
          <p:nvPr>
            <p:ph type="body" sz="quarter" idx="17" hasCustomPrompt="1"/>
          </p:nvPr>
        </p:nvSpPr>
        <p:spPr>
          <a:xfrm>
            <a:off x="7636835" y="3429000"/>
            <a:ext cx="3439596" cy="434975"/>
          </a:xfrm>
        </p:spPr>
        <p:txBody>
          <a:bodyPr lIns="0" rIns="0"/>
          <a:lstStyle>
            <a:lvl1pPr marL="0" indent="0">
              <a:buNone/>
              <a:defRPr sz="1400" cap="all" baseline="0">
                <a:solidFill>
                  <a:schemeClr val="bg1"/>
                </a:solidFill>
              </a:defRPr>
            </a:lvl1pPr>
            <a:lvl2pPr marL="457200" indent="0">
              <a:buNone/>
              <a:defRPr sz="1400" cap="all" baseline="0">
                <a:solidFill>
                  <a:schemeClr val="bg1"/>
                </a:solidFill>
              </a:defRPr>
            </a:lvl2pPr>
            <a:lvl3pPr marL="914400" indent="0">
              <a:buNone/>
              <a:defRPr sz="1400" cap="all" baseline="0">
                <a:solidFill>
                  <a:schemeClr val="bg1"/>
                </a:solidFill>
              </a:defRPr>
            </a:lvl3pPr>
            <a:lvl4pPr marL="1371600" indent="0">
              <a:buNone/>
              <a:defRPr sz="1400" cap="all" baseline="0">
                <a:solidFill>
                  <a:schemeClr val="bg1"/>
                </a:solidFill>
              </a:defRPr>
            </a:lvl4pPr>
            <a:lvl5pPr marL="1828800" indent="0">
              <a:buNone/>
              <a:defRPr sz="1400" cap="all" baseline="0">
                <a:solidFill>
                  <a:schemeClr val="bg1"/>
                </a:solidFill>
              </a:defRPr>
            </a:lvl5pPr>
          </a:lstStyle>
          <a:p>
            <a:pPr lvl="0"/>
            <a:r>
              <a:rPr lang="en-US" dirty="0"/>
              <a:t>Click to add subtitle</a:t>
            </a:r>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7636834" y="4083247"/>
            <a:ext cx="3439598" cy="2040209"/>
          </a:xfrm>
        </p:spPr>
        <p:txBody>
          <a:bodyPr lIns="0" tIns="0" rIns="0" bIns="0"/>
          <a:lstStyle>
            <a:lvl1pPr marL="2857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1498680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Picture and text">
    <p:bg>
      <p:bgPr>
        <a:solidFill>
          <a:schemeClr val="tx1"/>
        </a:solidFill>
        <a:effectLst/>
      </p:bgPr>
    </p:bg>
    <p:spTree>
      <p:nvGrpSpPr>
        <p:cNvPr id="1" name=""/>
        <p:cNvGrpSpPr/>
        <p:nvPr/>
      </p:nvGrpSpPr>
      <p:grpSpPr>
        <a:xfrm>
          <a:off x="0" y="0"/>
          <a:ext cx="0" cy="0"/>
          <a:chOff x="0" y="0"/>
          <a:chExt cx="0" cy="0"/>
        </a:xfrm>
      </p:grpSpPr>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869581" y="2160494"/>
            <a:ext cx="6058564" cy="4697507"/>
          </a:xfrm>
        </p:spPr>
        <p:txBody>
          <a:bodyPr anchor="ct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226150" y="596200"/>
            <a:ext cx="4758948" cy="1938529"/>
          </a:xfrm>
        </p:spPr>
        <p:txBody>
          <a:bodyPr lIns="0" tIns="0" rIns="0" bIns="0" anchor="b"/>
          <a:lstStyle>
            <a:lvl1pPr algn="l">
              <a:lnSpc>
                <a:spcPct val="75000"/>
              </a:lnSpc>
              <a:defRPr sz="4800" b="0" i="0" spc="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6" name="Text Placeholder 20">
            <a:extLst>
              <a:ext uri="{FF2B5EF4-FFF2-40B4-BE49-F238E27FC236}">
                <a16:creationId xmlns:a16="http://schemas.microsoft.com/office/drawing/2014/main" id="{EBEAF734-7706-B3C3-A222-4374E6E420F4}"/>
              </a:ext>
            </a:extLst>
          </p:cNvPr>
          <p:cNvSpPr>
            <a:spLocks noGrp="1"/>
          </p:cNvSpPr>
          <p:nvPr>
            <p:ph type="body" sz="quarter" idx="17" hasCustomPrompt="1"/>
          </p:nvPr>
        </p:nvSpPr>
        <p:spPr>
          <a:xfrm>
            <a:off x="7604041" y="900724"/>
            <a:ext cx="3439597" cy="2392155"/>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8075745" y="3292881"/>
            <a:ext cx="2967893" cy="2238343"/>
          </a:xfrm>
        </p:spPr>
        <p:txBody>
          <a:bodyPr lIns="0" tIns="0" rIns="0" bIns="0"/>
          <a:lstStyle>
            <a:lvl1pPr marL="2857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1pPr>
            <a:lvl2pPr marL="7429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2pPr>
            <a:lvl3pPr marL="1200150" indent="-2857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3pPr>
            <a:lvl4pPr marL="15430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4pPr>
            <a:lvl5pPr marL="2000250" indent="-171450">
              <a:buClr>
                <a:schemeClr val="bg1"/>
              </a:buClr>
              <a:buFont typeface="Courier New" panose="02070309020205020404" pitchFamily="49" charset="0"/>
              <a:buChar char="o"/>
              <a:defRPr sz="1400" b="0" i="0">
                <a:solidFill>
                  <a:schemeClr val="bg1"/>
                </a:solidFill>
                <a:latin typeface="+mn-lt"/>
                <a:cs typeface="Mangal" panose="02040503050203030202" pitchFamily="18" charset="0"/>
              </a:defRPr>
            </a:lvl5pPr>
          </a:lstStyle>
          <a:p>
            <a:pPr lvl="0"/>
            <a:r>
              <a:rPr lang="en-US" dirty="0"/>
              <a:t>Click to add text</a:t>
            </a:r>
          </a:p>
        </p:txBody>
      </p:sp>
      <p:sp>
        <p:nvSpPr>
          <p:cNvPr id="13" name="Text Placeholder 20">
            <a:extLst>
              <a:ext uri="{FF2B5EF4-FFF2-40B4-BE49-F238E27FC236}">
                <a16:creationId xmlns:a16="http://schemas.microsoft.com/office/drawing/2014/main" id="{7E41109A-8BEA-FEB0-7ED8-F6C1DB5D4BFB}"/>
              </a:ext>
            </a:extLst>
          </p:cNvPr>
          <p:cNvSpPr>
            <a:spLocks noGrp="1"/>
          </p:cNvSpPr>
          <p:nvPr>
            <p:ph type="body" sz="quarter" idx="18" hasCustomPrompt="1"/>
          </p:nvPr>
        </p:nvSpPr>
        <p:spPr>
          <a:xfrm>
            <a:off x="7604041" y="5703628"/>
            <a:ext cx="3523517" cy="355422"/>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j-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37979534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mparison with Subtitle">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082032" y="608075"/>
            <a:ext cx="10061455" cy="644653"/>
          </a:xfrm>
        </p:spPr>
        <p:txBody>
          <a:bodyPr lIns="0" tIns="0" rIns="0" bIns="0" anchor="ctr"/>
          <a:lstStyle>
            <a:lvl1pPr algn="l">
              <a:lnSpc>
                <a:spcPct val="75000"/>
              </a:lnSpc>
              <a:defRPr sz="4800" b="0" i="0" cap="all"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20" name="Text Placeholder 19">
            <a:extLst>
              <a:ext uri="{FF2B5EF4-FFF2-40B4-BE49-F238E27FC236}">
                <a16:creationId xmlns:a16="http://schemas.microsoft.com/office/drawing/2014/main" id="{827C4070-4CFF-FDA7-C0F7-167D09EE7929}"/>
              </a:ext>
            </a:extLst>
          </p:cNvPr>
          <p:cNvSpPr>
            <a:spLocks noGrp="1"/>
          </p:cNvSpPr>
          <p:nvPr>
            <p:ph type="body" sz="quarter" idx="23" hasCustomPrompt="1"/>
          </p:nvPr>
        </p:nvSpPr>
        <p:spPr>
          <a:xfrm>
            <a:off x="1073710" y="1288398"/>
            <a:ext cx="10071100" cy="466725"/>
          </a:xfrm>
        </p:spPr>
        <p:txBody>
          <a:bodyPr lIns="0" rIns="0"/>
          <a:lstStyle>
            <a:lvl1pPr marL="0" indent="0">
              <a:buNone/>
              <a:defRPr sz="1400" cap="all" baseline="0">
                <a:solidFill>
                  <a:schemeClr val="bg1"/>
                </a:solidFill>
              </a:defRPr>
            </a:lvl1pPr>
            <a:lvl2pPr marL="457200" indent="0">
              <a:buNone/>
              <a:defRPr sz="1400" cap="all" baseline="0">
                <a:solidFill>
                  <a:schemeClr val="bg1"/>
                </a:solidFill>
              </a:defRPr>
            </a:lvl2pPr>
            <a:lvl3pPr marL="914400" indent="0">
              <a:buNone/>
              <a:defRPr sz="1400" cap="all" baseline="0">
                <a:solidFill>
                  <a:schemeClr val="bg1"/>
                </a:solidFill>
              </a:defRPr>
            </a:lvl3pPr>
            <a:lvl4pPr marL="1371600" indent="0">
              <a:buNone/>
              <a:defRPr sz="1400" cap="all" baseline="0">
                <a:solidFill>
                  <a:schemeClr val="bg1"/>
                </a:solidFill>
              </a:defRPr>
            </a:lvl4pPr>
            <a:lvl5pPr marL="1828800" indent="0">
              <a:buNone/>
              <a:defRPr sz="1400" cap="all" baseline="0">
                <a:solidFill>
                  <a:schemeClr val="bg1"/>
                </a:solidFill>
              </a:defRPr>
            </a:lvl5pPr>
          </a:lstStyle>
          <a:p>
            <a:pPr lvl="0"/>
            <a:r>
              <a:rPr lang="en-US" dirty="0"/>
              <a:t>Click to add subtitle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100853" y="1954306"/>
            <a:ext cx="2939694" cy="2754854"/>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7" name="Text Placeholder 20">
            <a:extLst>
              <a:ext uri="{FF2B5EF4-FFF2-40B4-BE49-F238E27FC236}">
                <a16:creationId xmlns:a16="http://schemas.microsoft.com/office/drawing/2014/main" id="{BABDA1A4-3206-A325-2576-C4DB8737BB3A}"/>
              </a:ext>
            </a:extLst>
          </p:cNvPr>
          <p:cNvSpPr>
            <a:spLocks noGrp="1"/>
          </p:cNvSpPr>
          <p:nvPr>
            <p:ph type="body" sz="quarter" idx="14" hasCustomPrompt="1"/>
          </p:nvPr>
        </p:nvSpPr>
        <p:spPr>
          <a:xfrm>
            <a:off x="1092783"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16" name="Picture Placeholder 11" descr="picture placeholder">
            <a:extLst>
              <a:ext uri="{FF2B5EF4-FFF2-40B4-BE49-F238E27FC236}">
                <a16:creationId xmlns:a16="http://schemas.microsoft.com/office/drawing/2014/main" id="{6056702D-014D-8146-A1CF-42D52C1D1B08}"/>
              </a:ext>
            </a:extLst>
          </p:cNvPr>
          <p:cNvSpPr>
            <a:spLocks noGrp="1"/>
          </p:cNvSpPr>
          <p:nvPr>
            <p:ph type="pic" sz="quarter" idx="21"/>
          </p:nvPr>
        </p:nvSpPr>
        <p:spPr>
          <a:xfrm>
            <a:off x="4642912" y="1954306"/>
            <a:ext cx="2939694" cy="2754854"/>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Text Placeholder 20">
            <a:extLst>
              <a:ext uri="{FF2B5EF4-FFF2-40B4-BE49-F238E27FC236}">
                <a16:creationId xmlns:a16="http://schemas.microsoft.com/office/drawing/2014/main" id="{ED97174A-CD7A-C701-0CE9-02D5F895EF90}"/>
              </a:ext>
            </a:extLst>
          </p:cNvPr>
          <p:cNvSpPr>
            <a:spLocks noGrp="1"/>
          </p:cNvSpPr>
          <p:nvPr>
            <p:ph type="body" sz="quarter" idx="18" hasCustomPrompt="1"/>
          </p:nvPr>
        </p:nvSpPr>
        <p:spPr>
          <a:xfrm>
            <a:off x="4642917"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18" name="Picture Placeholder 11" descr="picture placeholder">
            <a:extLst>
              <a:ext uri="{FF2B5EF4-FFF2-40B4-BE49-F238E27FC236}">
                <a16:creationId xmlns:a16="http://schemas.microsoft.com/office/drawing/2014/main" id="{1AE62733-AF33-D10E-D484-04859AC2A447}"/>
              </a:ext>
            </a:extLst>
          </p:cNvPr>
          <p:cNvSpPr>
            <a:spLocks noGrp="1"/>
          </p:cNvSpPr>
          <p:nvPr>
            <p:ph type="pic" sz="quarter" idx="22"/>
          </p:nvPr>
        </p:nvSpPr>
        <p:spPr>
          <a:xfrm>
            <a:off x="8203793" y="1954306"/>
            <a:ext cx="2939694" cy="2754854"/>
          </a:xfrm>
        </p:spPr>
        <p:txBody>
          <a:bodyP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15" name="Text Placeholder 20">
            <a:extLst>
              <a:ext uri="{FF2B5EF4-FFF2-40B4-BE49-F238E27FC236}">
                <a16:creationId xmlns:a16="http://schemas.microsoft.com/office/drawing/2014/main" id="{99B6060F-8C38-5C36-BCF1-620E2F4AF90F}"/>
              </a:ext>
            </a:extLst>
          </p:cNvPr>
          <p:cNvSpPr>
            <a:spLocks noGrp="1"/>
          </p:cNvSpPr>
          <p:nvPr>
            <p:ph type="body" sz="quarter" idx="20" hasCustomPrompt="1"/>
          </p:nvPr>
        </p:nvSpPr>
        <p:spPr>
          <a:xfrm>
            <a:off x="8203798" y="5138927"/>
            <a:ext cx="2939689" cy="921596"/>
          </a:xfrm>
        </p:spPr>
        <p:txBody>
          <a:bodyPr lIns="0" tIns="0" rIns="0" bIns="0"/>
          <a:lstStyle>
            <a:lvl1pPr marL="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1pPr>
            <a:lvl2pPr marL="4572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2pPr>
            <a:lvl3pPr marL="9144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3pPr>
            <a:lvl4pPr marL="13716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4pPr>
            <a:lvl5pPr marL="1828800" indent="0">
              <a:buClr>
                <a:schemeClr val="bg1"/>
              </a:buClr>
              <a:buFont typeface="Courier New" panose="02070309020205020404" pitchFamily="49" charset="0"/>
              <a:buNone/>
              <a:defRPr sz="14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4576347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Picture with Caption">
    <p:bg>
      <p:bgPr>
        <a:solidFill>
          <a:schemeClr val="tx1"/>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0C91152F-5BDA-D61B-1CCF-A86EFB6F5540}"/>
              </a:ext>
            </a:extLst>
          </p:cNvPr>
          <p:cNvSpPr>
            <a:spLocks noGrp="1"/>
          </p:cNvSpPr>
          <p:nvPr>
            <p:ph type="title" hasCustomPrompt="1"/>
          </p:nvPr>
        </p:nvSpPr>
        <p:spPr>
          <a:xfrm>
            <a:off x="1082370" y="613839"/>
            <a:ext cx="4833725" cy="1713677"/>
          </a:xfrm>
        </p:spPr>
        <p:txBody>
          <a:bodyPr lIns="0" tIns="0" rIns="0" bIns="0" anchor="t"/>
          <a:lstStyle>
            <a:lvl1pPr algn="l">
              <a:lnSpc>
                <a:spcPct val="75000"/>
              </a:lnSpc>
              <a:defRPr sz="4800" b="0" i="0" spc="-150" baseline="0">
                <a:solidFill>
                  <a:schemeClr val="bg1"/>
                </a:solidFill>
                <a:latin typeface="+mj-lt"/>
                <a:ea typeface="MS PMincho" panose="02020600040205080304" pitchFamily="18" charset="-128"/>
                <a:cs typeface="Mangal" panose="02040503050203030202" pitchFamily="18" charset="0"/>
              </a:defRPr>
            </a:lvl1pPr>
          </a:lstStyle>
          <a:p>
            <a:r>
              <a:rPr lang="en-US" dirty="0"/>
              <a:t>Add title</a:t>
            </a:r>
          </a:p>
        </p:txBody>
      </p:sp>
      <p:grpSp>
        <p:nvGrpSpPr>
          <p:cNvPr id="9" name="Group 8">
            <a:extLst>
              <a:ext uri="{FF2B5EF4-FFF2-40B4-BE49-F238E27FC236}">
                <a16:creationId xmlns:a16="http://schemas.microsoft.com/office/drawing/2014/main" id="{3522E8A7-C256-4D0D-38F5-744CC21A3F1B}"/>
              </a:ext>
              <a:ext uri="{C183D7F6-B498-43B3-948B-1728B52AA6E4}">
                <adec:decorative xmlns:adec="http://schemas.microsoft.com/office/drawing/2017/decorative" val="1"/>
              </a:ext>
            </a:extLst>
          </p:cNvPr>
          <p:cNvGrpSpPr/>
          <p:nvPr userDrawn="1"/>
        </p:nvGrpSpPr>
        <p:grpSpPr>
          <a:xfrm>
            <a:off x="11613628" y="335197"/>
            <a:ext cx="89941" cy="314793"/>
            <a:chOff x="5538866" y="1851285"/>
            <a:chExt cx="89941" cy="314793"/>
          </a:xfrm>
          <a:solidFill>
            <a:schemeClr val="bg1"/>
          </a:solidFill>
        </p:grpSpPr>
        <p:sp>
          <p:nvSpPr>
            <p:cNvPr id="10" name="Oval 9">
              <a:extLst>
                <a:ext uri="{FF2B5EF4-FFF2-40B4-BE49-F238E27FC236}">
                  <a16:creationId xmlns:a16="http://schemas.microsoft.com/office/drawing/2014/main" id="{7194A7E3-B379-7E79-0952-AF4C6A614000}"/>
                </a:ext>
              </a:extLst>
            </p:cNvPr>
            <p:cNvSpPr/>
            <p:nvPr userDrawn="1"/>
          </p:nvSpPr>
          <p:spPr>
            <a:xfrm>
              <a:off x="5538866" y="1851285"/>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Oval 10">
              <a:extLst>
                <a:ext uri="{FF2B5EF4-FFF2-40B4-BE49-F238E27FC236}">
                  <a16:creationId xmlns:a16="http://schemas.microsoft.com/office/drawing/2014/main" id="{716CD3AC-CC76-8555-8E6F-C480301CF8B9}"/>
                </a:ext>
              </a:extLst>
            </p:cNvPr>
            <p:cNvSpPr/>
            <p:nvPr userDrawn="1"/>
          </p:nvSpPr>
          <p:spPr>
            <a:xfrm>
              <a:off x="5538866" y="2076137"/>
              <a:ext cx="89941" cy="89941"/>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cxnSp>
        <p:nvCxnSpPr>
          <p:cNvPr id="12" name="Straight Connector 11">
            <a:extLst>
              <a:ext uri="{FF2B5EF4-FFF2-40B4-BE49-F238E27FC236}">
                <a16:creationId xmlns:a16="http://schemas.microsoft.com/office/drawing/2014/main" id="{C24A05F7-5B34-541E-2738-B83DA06E5C30}"/>
              </a:ext>
              <a:ext uri="{C183D7F6-B498-43B3-948B-1728B52AA6E4}">
                <adec:decorative xmlns:adec="http://schemas.microsoft.com/office/drawing/2017/decorative" val="1"/>
              </a:ext>
            </a:extLst>
          </p:cNvPr>
          <p:cNvCxnSpPr>
            <a:cxnSpLocks/>
          </p:cNvCxnSpPr>
          <p:nvPr userDrawn="1"/>
        </p:nvCxnSpPr>
        <p:spPr>
          <a:xfrm>
            <a:off x="11658599" y="890016"/>
            <a:ext cx="0" cy="517050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25" name="Group 24">
            <a:extLst>
              <a:ext uri="{FF2B5EF4-FFF2-40B4-BE49-F238E27FC236}">
                <a16:creationId xmlns:a16="http://schemas.microsoft.com/office/drawing/2014/main" id="{49BB1C6E-F2CD-1DED-4142-D5222335150C}"/>
              </a:ext>
              <a:ext uri="{C183D7F6-B498-43B3-948B-1728B52AA6E4}">
                <adec:decorative xmlns:adec="http://schemas.microsoft.com/office/drawing/2017/decorative" val="1"/>
              </a:ext>
            </a:extLst>
          </p:cNvPr>
          <p:cNvGrpSpPr/>
          <p:nvPr userDrawn="1"/>
        </p:nvGrpSpPr>
        <p:grpSpPr>
          <a:xfrm>
            <a:off x="530436" y="6223933"/>
            <a:ext cx="89941" cy="314793"/>
            <a:chOff x="5538866" y="1851285"/>
            <a:chExt cx="89941" cy="314793"/>
          </a:xfrm>
          <a:noFill/>
        </p:grpSpPr>
        <p:sp>
          <p:nvSpPr>
            <p:cNvPr id="26" name="Oval 25">
              <a:extLst>
                <a:ext uri="{FF2B5EF4-FFF2-40B4-BE49-F238E27FC236}">
                  <a16:creationId xmlns:a16="http://schemas.microsoft.com/office/drawing/2014/main" id="{DC2674DE-70B7-1DB1-C9EA-ECDEDE00980F}"/>
                </a:ext>
              </a:extLst>
            </p:cNvPr>
            <p:cNvSpPr/>
            <p:nvPr userDrawn="1"/>
          </p:nvSpPr>
          <p:spPr>
            <a:xfrm>
              <a:off x="5538866" y="1851285"/>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Oval 26">
              <a:extLst>
                <a:ext uri="{FF2B5EF4-FFF2-40B4-BE49-F238E27FC236}">
                  <a16:creationId xmlns:a16="http://schemas.microsoft.com/office/drawing/2014/main" id="{37F3A17F-5078-CA09-1C2A-A278DF540EB2}"/>
                </a:ext>
              </a:extLst>
            </p:cNvPr>
            <p:cNvSpPr/>
            <p:nvPr userDrawn="1"/>
          </p:nvSpPr>
          <p:spPr>
            <a:xfrm>
              <a:off x="5538866" y="2076137"/>
              <a:ext cx="89941" cy="89941"/>
            </a:xfrm>
            <a:prstGeom prst="ellipse">
              <a:avLst/>
            </a:prstGeom>
            <a:grp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grpSp>
      <p:sp>
        <p:nvSpPr>
          <p:cNvPr id="14" name="Footer Placeholder 3">
            <a:extLst>
              <a:ext uri="{FF2B5EF4-FFF2-40B4-BE49-F238E27FC236}">
                <a16:creationId xmlns:a16="http://schemas.microsoft.com/office/drawing/2014/main" id="{3A4E705D-525A-81AA-338A-E8C4405FA80B}"/>
              </a:ext>
            </a:extLst>
          </p:cNvPr>
          <p:cNvSpPr>
            <a:spLocks noGrp="1"/>
          </p:cNvSpPr>
          <p:nvPr>
            <p:ph type="ftr" sz="quarter" idx="11"/>
          </p:nvPr>
        </p:nvSpPr>
        <p:spPr>
          <a:xfrm rot="16200000">
            <a:off x="-2009849" y="3308393"/>
            <a:ext cx="5170509" cy="333752"/>
          </a:xfrm>
        </p:spPr>
        <p:txBody>
          <a:bodyPr/>
          <a:lstStyle>
            <a:lvl1pPr algn="ctr">
              <a:defRPr cap="all" baseline="0">
                <a:solidFill>
                  <a:schemeClr val="bg1"/>
                </a:solidFill>
                <a:latin typeface="+mn-lt"/>
                <a:ea typeface="Dotum" panose="020B0600000101010101" pitchFamily="34" charset="-127"/>
                <a:cs typeface="Mangal" panose="02040503050203030202" pitchFamily="18" charset="0"/>
              </a:defRPr>
            </a:lvl1pPr>
          </a:lstStyle>
          <a:p>
            <a:r>
              <a:rPr lang="en-US" dirty="0"/>
              <a:t>Click to add Footer</a:t>
            </a:r>
          </a:p>
        </p:txBody>
      </p:sp>
      <p:sp>
        <p:nvSpPr>
          <p:cNvPr id="2" name="Picture Placeholder 11" descr="picture placeholder">
            <a:extLst>
              <a:ext uri="{FF2B5EF4-FFF2-40B4-BE49-F238E27FC236}">
                <a16:creationId xmlns:a16="http://schemas.microsoft.com/office/drawing/2014/main" id="{C74EC289-9E3B-2A85-FFCE-107B0E3B585D}"/>
              </a:ext>
            </a:extLst>
          </p:cNvPr>
          <p:cNvSpPr>
            <a:spLocks noGrp="1"/>
          </p:cNvSpPr>
          <p:nvPr>
            <p:ph type="pic" sz="quarter" idx="16"/>
          </p:nvPr>
        </p:nvSpPr>
        <p:spPr>
          <a:xfrm>
            <a:off x="1064441" y="2187388"/>
            <a:ext cx="5863703" cy="4670613"/>
          </a:xfrm>
        </p:spPr>
        <p:txBody>
          <a:bodyPr anchor="ctr"/>
          <a:lstStyle>
            <a:lvl1pPr marL="0" indent="0" algn="ctr">
              <a:buNone/>
              <a:defRPr sz="1400">
                <a:solidFill>
                  <a:schemeClr val="bg1"/>
                </a:solidFill>
                <a:latin typeface="+mn-lt"/>
                <a:ea typeface="Dotum" panose="020B0600000101010101" pitchFamily="34" charset="-127"/>
              </a:defRPr>
            </a:lvl1pPr>
          </a:lstStyle>
          <a:p>
            <a:r>
              <a:rPr lang="en-US"/>
              <a:t>Click icon to add picture</a:t>
            </a:r>
            <a:endParaRPr lang="en-US" dirty="0"/>
          </a:p>
        </p:txBody>
      </p:sp>
      <p:sp>
        <p:nvSpPr>
          <p:cNvPr id="6" name="Text Placeholder 20">
            <a:extLst>
              <a:ext uri="{FF2B5EF4-FFF2-40B4-BE49-F238E27FC236}">
                <a16:creationId xmlns:a16="http://schemas.microsoft.com/office/drawing/2014/main" id="{EBEAF734-7706-B3C3-A222-4374E6E420F4}"/>
              </a:ext>
            </a:extLst>
          </p:cNvPr>
          <p:cNvSpPr>
            <a:spLocks noGrp="1"/>
          </p:cNvSpPr>
          <p:nvPr>
            <p:ph type="body" sz="quarter" idx="17" hasCustomPrompt="1"/>
          </p:nvPr>
        </p:nvSpPr>
        <p:spPr>
          <a:xfrm>
            <a:off x="7393448" y="3156285"/>
            <a:ext cx="3733521" cy="3292500"/>
          </a:xfrm>
        </p:spPr>
        <p:txBody>
          <a:bodyPr lIns="0" tIns="0" rIns="0" bIns="0"/>
          <a:lstStyle>
            <a:lvl1pPr marL="0" indent="0" algn="l">
              <a:buClr>
                <a:schemeClr val="bg1"/>
              </a:buClr>
              <a:buFont typeface="Courier New" panose="02070309020205020404" pitchFamily="49" charset="0"/>
              <a:buNone/>
              <a:defRPr sz="4800" b="0" i="0" u="sng">
                <a:solidFill>
                  <a:schemeClr val="accent1"/>
                </a:solidFill>
                <a:latin typeface="+mj-lt"/>
                <a:cs typeface="Mangal" panose="02040503050203030202" pitchFamily="18" charset="0"/>
              </a:defRPr>
            </a:lvl1pPr>
            <a:lvl2pPr marL="457200" indent="0" algn="l">
              <a:buClr>
                <a:schemeClr val="bg1"/>
              </a:buClr>
              <a:buFont typeface="Courier New" panose="02070309020205020404" pitchFamily="49" charset="0"/>
              <a:buNone/>
              <a:defRPr sz="3200" b="0" i="0">
                <a:solidFill>
                  <a:schemeClr val="bg1"/>
                </a:solidFill>
                <a:latin typeface="+mn-lt"/>
                <a:cs typeface="Mangal" panose="02040503050203030202" pitchFamily="18" charset="0"/>
              </a:defRPr>
            </a:lvl2pPr>
            <a:lvl3pPr marL="914400" indent="0" algn="l">
              <a:buClr>
                <a:schemeClr val="bg1"/>
              </a:buClr>
              <a:buFont typeface="Courier New" panose="02070309020205020404" pitchFamily="49" charset="0"/>
              <a:buNone/>
              <a:defRPr sz="3200" b="0" i="0">
                <a:solidFill>
                  <a:schemeClr val="bg1"/>
                </a:solidFill>
                <a:latin typeface="+mn-lt"/>
                <a:cs typeface="Mangal" panose="02040503050203030202" pitchFamily="18" charset="0"/>
              </a:defRPr>
            </a:lvl3pPr>
            <a:lvl4pPr marL="1371600" indent="0" algn="l">
              <a:buClr>
                <a:schemeClr val="bg1"/>
              </a:buClr>
              <a:buFont typeface="Courier New" panose="02070309020205020404" pitchFamily="49" charset="0"/>
              <a:buNone/>
              <a:defRPr sz="3200" b="0" i="0">
                <a:solidFill>
                  <a:schemeClr val="bg1"/>
                </a:solidFill>
                <a:latin typeface="+mn-lt"/>
                <a:cs typeface="Mangal" panose="02040503050203030202" pitchFamily="18" charset="0"/>
              </a:defRPr>
            </a:lvl4pPr>
            <a:lvl5pPr marL="1828800" indent="0" algn="l">
              <a:buClr>
                <a:schemeClr val="bg1"/>
              </a:buClr>
              <a:buFont typeface="Courier New" panose="02070309020205020404" pitchFamily="49" charset="0"/>
              <a:buNone/>
              <a:defRPr sz="3200" b="0" i="0">
                <a:solidFill>
                  <a:schemeClr val="bg1"/>
                </a:solidFill>
                <a:latin typeface="+mn-lt"/>
                <a:cs typeface="Mangal" panose="02040503050203030202" pitchFamily="18" charset="0"/>
              </a:defRPr>
            </a:lvl5pPr>
          </a:lstStyle>
          <a:p>
            <a:pPr lvl="0"/>
            <a:r>
              <a:rPr lang="en-US" dirty="0"/>
              <a:t>Click to add text</a:t>
            </a:r>
          </a:p>
        </p:txBody>
      </p:sp>
      <p:sp>
        <p:nvSpPr>
          <p:cNvPr id="8" name="Slide Number Placeholder 4">
            <a:extLst>
              <a:ext uri="{FF2B5EF4-FFF2-40B4-BE49-F238E27FC236}">
                <a16:creationId xmlns:a16="http://schemas.microsoft.com/office/drawing/2014/main" id="{A1792EFA-4352-DAB4-158E-53F26C8A0C65}"/>
              </a:ext>
            </a:extLst>
          </p:cNvPr>
          <p:cNvSpPr>
            <a:spLocks noGrp="1"/>
          </p:cNvSpPr>
          <p:nvPr>
            <p:ph type="sldNum" sz="quarter" idx="12"/>
          </p:nvPr>
        </p:nvSpPr>
        <p:spPr>
          <a:xfrm>
            <a:off x="11298350" y="6243403"/>
            <a:ext cx="720499" cy="279400"/>
          </a:xfrm>
        </p:spPr>
        <p:txBody>
          <a:bodyPr/>
          <a:lstStyle>
            <a:lvl1pPr algn="ctr">
              <a:defRPr sz="2800" b="1" i="1">
                <a:solidFill>
                  <a:schemeClr val="bg1"/>
                </a:solidFill>
                <a:latin typeface="+mj-lt"/>
                <a:ea typeface="MS PMincho" panose="02020600040205080304" pitchFamily="18" charset="-128"/>
                <a:cs typeface="Mangal" panose="02040503050203030202" pitchFamily="18" charset="0"/>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14487464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97865" y="2565736"/>
            <a:ext cx="9601196" cy="3318936"/>
          </a:xfrm>
          <a:prstGeom prst="rect">
            <a:avLst/>
          </a:prstGeom>
        </p:spPr>
        <p:txBody>
          <a:bodyPr vert="horz" lIns="91440" tIns="45720" rIns="91440" bIns="45720" rtlCol="0" anchor="t">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bg1"/>
                </a:solidFill>
                <a:effectLst/>
                <a:latin typeface="+mn-lt"/>
              </a:defRPr>
            </a:lvl1pPr>
          </a:lstStyle>
          <a:p>
            <a:endParaRPr lang="en-US" dirty="0"/>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bg1"/>
                </a:solidFill>
                <a:effectLst/>
                <a:latin typeface="+mn-lt"/>
              </a:defRPr>
            </a:lvl1pPr>
          </a:lstStyle>
          <a:p>
            <a:r>
              <a:rPr lang="en-US" dirty="0"/>
              <a:t>DIGITAL TIME CAPSULE</a:t>
            </a:r>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bg1"/>
                </a:solidFill>
                <a:effectLst/>
                <a:latin typeface="+mn-lt"/>
              </a:defRPr>
            </a:lvl1pPr>
          </a:lstStyle>
          <a:p>
            <a:fld id="{330EA680-D336-4FF7-8B7A-9848BB0A1C32}" type="slidenum">
              <a:rPr lang="en-US" smtClean="0"/>
              <a:pPr/>
              <a:t>‹#›</a:t>
            </a:fld>
            <a:endParaRPr lang="en-US" dirty="0"/>
          </a:p>
        </p:txBody>
      </p:sp>
    </p:spTree>
    <p:extLst>
      <p:ext uri="{BB962C8B-B14F-4D97-AF65-F5344CB8AC3E}">
        <p14:creationId xmlns:p14="http://schemas.microsoft.com/office/powerpoint/2010/main" val="543425805"/>
      </p:ext>
    </p:extLst>
  </p:cSld>
  <p:clrMap bg1="lt1" tx1="dk1" bg2="lt2" tx2="dk2" accent1="accent1" accent2="accent2" accent3="accent3" accent4="accent4" accent5="accent5" accent6="accent6" hlink="hlink" folHlink="folHlink"/>
  <p:sldLayoutIdLst>
    <p:sldLayoutId id="2147484208" r:id="rId1"/>
    <p:sldLayoutId id="2147484209" r:id="rId2"/>
    <p:sldLayoutId id="2147484210" r:id="rId3"/>
    <p:sldLayoutId id="2147484211" r:id="rId4"/>
    <p:sldLayoutId id="2147484212" r:id="rId5"/>
    <p:sldLayoutId id="2147484200" r:id="rId6"/>
    <p:sldLayoutId id="2147484213" r:id="rId7"/>
    <p:sldLayoutId id="2147484214" r:id="rId8"/>
    <p:sldLayoutId id="2147484215" r:id="rId9"/>
    <p:sldLayoutId id="2147484216" r:id="rId10"/>
    <p:sldLayoutId id="2147484217" r:id="rId11"/>
  </p:sldLayoutIdLst>
  <p:hf hdr="0" dt="0"/>
  <p:txStyles>
    <p:titleStyle>
      <a:lvl1pPr algn="ctr" defTabSz="457200" rtl="0" eaLnBrk="1" latinLnBrk="0" hangingPunct="1">
        <a:spcBef>
          <a:spcPct val="0"/>
        </a:spcBef>
        <a:buNone/>
        <a:defRPr sz="4400" kern="1200" cap="all" baseline="0">
          <a:ln w="3175" cmpd="sng">
            <a:noFill/>
          </a:ln>
          <a:solidFill>
            <a:schemeClr val="bg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bg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1600" kern="1200" cap="none">
          <a:solidFill>
            <a:schemeClr val="bg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400" kern="1200" cap="none">
          <a:solidFill>
            <a:schemeClr val="bg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200" kern="1200" cap="none">
          <a:solidFill>
            <a:schemeClr val="bg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100" kern="1200" cap="none">
          <a:solidFill>
            <a:schemeClr val="bg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7/06/relationships/model3d" Target="../media/model3d1.glb"/><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757831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15209-551F-6EC1-A54B-79D9B4608445}"/>
              </a:ext>
            </a:extLst>
          </p:cNvPr>
          <p:cNvSpPr>
            <a:spLocks noGrp="1"/>
          </p:cNvSpPr>
          <p:nvPr>
            <p:ph type="title"/>
          </p:nvPr>
        </p:nvSpPr>
        <p:spPr>
          <a:xfrm>
            <a:off x="1800772" y="1793289"/>
            <a:ext cx="4978719" cy="3373515"/>
          </a:xfrm>
        </p:spPr>
        <p:txBody>
          <a:bodyPr/>
          <a:lstStyle/>
          <a:p>
            <a:r>
              <a:rPr lang="en-US" dirty="0"/>
              <a:t>GAS</a:t>
            </a:r>
            <a:br>
              <a:rPr lang="en-US" dirty="0"/>
            </a:br>
            <a:r>
              <a:rPr lang="en-US" dirty="0"/>
              <a:t>TURBINES</a:t>
            </a:r>
          </a:p>
        </p:txBody>
      </p:sp>
      <p:sp>
        <p:nvSpPr>
          <p:cNvPr id="4" name="Text Placeholder 3">
            <a:extLst>
              <a:ext uri="{FF2B5EF4-FFF2-40B4-BE49-F238E27FC236}">
                <a16:creationId xmlns:a16="http://schemas.microsoft.com/office/drawing/2014/main" id="{81DC670D-F077-3C94-D042-1AB9347AE82D}"/>
              </a:ext>
            </a:extLst>
          </p:cNvPr>
          <p:cNvSpPr>
            <a:spLocks noGrp="1"/>
          </p:cNvSpPr>
          <p:nvPr>
            <p:ph type="body" sz="quarter" idx="15"/>
          </p:nvPr>
        </p:nvSpPr>
        <p:spPr>
          <a:xfrm>
            <a:off x="8087794" y="1793289"/>
            <a:ext cx="2977370" cy="3536092"/>
          </a:xfrm>
        </p:spPr>
        <p:txBody>
          <a:bodyPr/>
          <a:lstStyle/>
          <a:p>
            <a:r>
              <a:rPr lang="en-US" sz="1600" dirty="0"/>
              <a:t>A gas turbine is a combustion engine at the heart of a power plant that can convert natural gas or other liquid fuels to mechanical energy. This energy then drives a generator that produces the electrical energy that moves along power lines to homes and businesses.</a:t>
            </a:r>
          </a:p>
        </p:txBody>
      </p:sp>
      <p:sp>
        <p:nvSpPr>
          <p:cNvPr id="3" name="Text Placeholder 2">
            <a:extLst>
              <a:ext uri="{FF2B5EF4-FFF2-40B4-BE49-F238E27FC236}">
                <a16:creationId xmlns:a16="http://schemas.microsoft.com/office/drawing/2014/main" id="{54D30A01-D93D-8F12-EBCB-EFA04DB56DF5}"/>
              </a:ext>
            </a:extLst>
          </p:cNvPr>
          <p:cNvSpPr>
            <a:spLocks noGrp="1"/>
          </p:cNvSpPr>
          <p:nvPr>
            <p:ph type="body" sz="quarter" idx="14"/>
          </p:nvPr>
        </p:nvSpPr>
        <p:spPr>
          <a:xfrm>
            <a:off x="5073482" y="5152008"/>
            <a:ext cx="2201512" cy="960582"/>
          </a:xfrm>
        </p:spPr>
        <p:txBody>
          <a:bodyPr/>
          <a:lstStyle/>
          <a:p>
            <a:pPr>
              <a:buFont typeface="Wingdings" panose="05000000000000000000" pitchFamily="2" charset="2"/>
              <a:buChar char="Ø"/>
            </a:pPr>
            <a:r>
              <a:rPr lang="en-US" i="1" dirty="0"/>
              <a:t>By- Ayush Mishra    ME III 2210013105011</a:t>
            </a:r>
          </a:p>
        </p:txBody>
      </p:sp>
      <p:cxnSp>
        <p:nvCxnSpPr>
          <p:cNvPr id="6" name="Straight Connector 5">
            <a:extLst>
              <a:ext uri="{FF2B5EF4-FFF2-40B4-BE49-F238E27FC236}">
                <a16:creationId xmlns:a16="http://schemas.microsoft.com/office/drawing/2014/main" id="{A26A81E4-E225-83EB-89B8-B09B20888A93}"/>
              </a:ext>
            </a:extLst>
          </p:cNvPr>
          <p:cNvCxnSpPr/>
          <p:nvPr/>
        </p:nvCxnSpPr>
        <p:spPr>
          <a:xfrm>
            <a:off x="7592290" y="690418"/>
            <a:ext cx="0" cy="5477164"/>
          </a:xfrm>
          <a:prstGeom prst="line">
            <a:avLst/>
          </a:prstGeom>
          <a:ln w="12700" cap="flat" cmpd="sng" algn="ctr">
            <a:solidFill>
              <a:schemeClr val="accent6"/>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995607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0C6BFB-D4F6-2C07-2790-29194110E7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BCBAA88-1789-2BD4-08C0-861E7FCF311E}"/>
              </a:ext>
            </a:extLst>
          </p:cNvPr>
          <p:cNvSpPr>
            <a:spLocks noGrp="1"/>
          </p:cNvSpPr>
          <p:nvPr>
            <p:ph type="title"/>
          </p:nvPr>
        </p:nvSpPr>
        <p:spPr>
          <a:xfrm>
            <a:off x="730561" y="4795753"/>
            <a:ext cx="7475289" cy="1946607"/>
          </a:xfrm>
          <a:effectLst>
            <a:reflection blurRad="6350" stA="50000" endA="300" endPos="55000" dir="5400000" sy="-100000" algn="bl" rotWithShape="0"/>
          </a:effectLst>
        </p:spPr>
        <p:txBody>
          <a:bodyPr/>
          <a:lstStyle/>
          <a:p>
            <a:r>
              <a:rPr lang="en-US" dirty="0"/>
              <a:t>INTRODUCTION</a:t>
            </a:r>
          </a:p>
        </p:txBody>
      </p:sp>
      <p:sp>
        <p:nvSpPr>
          <p:cNvPr id="4" name="Text Placeholder 3">
            <a:extLst>
              <a:ext uri="{FF2B5EF4-FFF2-40B4-BE49-F238E27FC236}">
                <a16:creationId xmlns:a16="http://schemas.microsoft.com/office/drawing/2014/main" id="{E43F91D2-90B4-5683-22A4-D3ED6E1908A7}"/>
              </a:ext>
            </a:extLst>
          </p:cNvPr>
          <p:cNvSpPr>
            <a:spLocks noGrp="1"/>
          </p:cNvSpPr>
          <p:nvPr>
            <p:ph type="body" sz="quarter" idx="16"/>
          </p:nvPr>
        </p:nvSpPr>
        <p:spPr>
          <a:xfrm>
            <a:off x="730562" y="942559"/>
            <a:ext cx="4582520" cy="1356123"/>
          </a:xfrm>
        </p:spPr>
        <p:txBody>
          <a:bodyPr/>
          <a:lstStyle/>
          <a:p>
            <a:pPr algn="l"/>
            <a:r>
              <a:rPr lang="en-US" sz="1600" cap="none" dirty="0"/>
              <a:t>THE WORKING OF A GAS TURBINE IS BASED ON:</a:t>
            </a:r>
          </a:p>
          <a:p>
            <a:pPr algn="l"/>
            <a:r>
              <a:rPr lang="en-US" sz="1600" cap="none" dirty="0"/>
              <a:t>BRANTYON CYCLE</a:t>
            </a:r>
          </a:p>
          <a:p>
            <a:pPr marL="857250" lvl="1" indent="-400050">
              <a:buFont typeface="+mj-lt"/>
              <a:buAutoNum type="romanLcPeriod"/>
            </a:pPr>
            <a:r>
              <a:rPr lang="en-US" sz="1600" cap="none" dirty="0"/>
              <a:t>1-2 Isentropic Compression</a:t>
            </a:r>
          </a:p>
          <a:p>
            <a:pPr marL="857250" lvl="1" indent="-400050">
              <a:buFont typeface="+mj-lt"/>
              <a:buAutoNum type="romanLcPeriod"/>
            </a:pPr>
            <a:r>
              <a:rPr lang="en-US" sz="1600" cap="none" dirty="0"/>
              <a:t>2-3 Isobaric Heat addition</a:t>
            </a:r>
          </a:p>
          <a:p>
            <a:pPr marL="857250" lvl="1" indent="-400050">
              <a:buFont typeface="+mj-lt"/>
              <a:buAutoNum type="romanLcPeriod"/>
            </a:pPr>
            <a:r>
              <a:rPr lang="en-US" sz="1600" cap="none" dirty="0"/>
              <a:t>3-4 Isentropic expansion</a:t>
            </a:r>
          </a:p>
          <a:p>
            <a:pPr marL="857250" lvl="1" indent="-400050">
              <a:buFont typeface="+mj-lt"/>
              <a:buAutoNum type="romanLcPeriod"/>
            </a:pPr>
            <a:r>
              <a:rPr lang="en-US" sz="1600" cap="none" dirty="0"/>
              <a:t>4-1 Isobaric Heat rejection</a:t>
            </a:r>
          </a:p>
        </p:txBody>
      </p:sp>
      <p:cxnSp>
        <p:nvCxnSpPr>
          <p:cNvPr id="10" name="Straight Connector 9">
            <a:extLst>
              <a:ext uri="{FF2B5EF4-FFF2-40B4-BE49-F238E27FC236}">
                <a16:creationId xmlns:a16="http://schemas.microsoft.com/office/drawing/2014/main" id="{F13797B3-88C2-6CE2-A57B-828B2D6B1ED2}"/>
              </a:ext>
            </a:extLst>
          </p:cNvPr>
          <p:cNvCxnSpPr>
            <a:cxnSpLocks/>
          </p:cNvCxnSpPr>
          <p:nvPr/>
        </p:nvCxnSpPr>
        <p:spPr>
          <a:xfrm flipH="1">
            <a:off x="463626" y="4889628"/>
            <a:ext cx="552967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
        <p:nvSpPr>
          <p:cNvPr id="29" name="Flowchart: Document 28">
            <a:extLst>
              <a:ext uri="{FF2B5EF4-FFF2-40B4-BE49-F238E27FC236}">
                <a16:creationId xmlns:a16="http://schemas.microsoft.com/office/drawing/2014/main" id="{13A4788C-E5F3-25F1-0936-F55ACABAF55B}"/>
              </a:ext>
            </a:extLst>
          </p:cNvPr>
          <p:cNvSpPr/>
          <p:nvPr/>
        </p:nvSpPr>
        <p:spPr>
          <a:xfrm>
            <a:off x="6261100" y="0"/>
            <a:ext cx="5200339" cy="4229100"/>
          </a:xfrm>
          <a:prstGeom prst="flowChartDocumen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0FE1C418-491B-3768-D864-23A226B9CD43}"/>
              </a:ext>
            </a:extLst>
          </p:cNvPr>
          <p:cNvGrpSpPr/>
          <p:nvPr/>
        </p:nvGrpSpPr>
        <p:grpSpPr>
          <a:xfrm>
            <a:off x="6949919" y="609375"/>
            <a:ext cx="4000500" cy="2349725"/>
            <a:chOff x="7406831" y="629392"/>
            <a:chExt cx="3758991" cy="1867798"/>
          </a:xfrm>
        </p:grpSpPr>
        <p:sp>
          <p:nvSpPr>
            <p:cNvPr id="8" name="Rectangle 7">
              <a:extLst>
                <a:ext uri="{FF2B5EF4-FFF2-40B4-BE49-F238E27FC236}">
                  <a16:creationId xmlns:a16="http://schemas.microsoft.com/office/drawing/2014/main" id="{7303E15F-247B-16C3-91C7-31386F9623A9}"/>
                </a:ext>
              </a:extLst>
            </p:cNvPr>
            <p:cNvSpPr/>
            <p:nvPr/>
          </p:nvSpPr>
          <p:spPr>
            <a:xfrm>
              <a:off x="7612083" y="1721922"/>
              <a:ext cx="3194462" cy="13062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rapezoid 6">
              <a:extLst>
                <a:ext uri="{FF2B5EF4-FFF2-40B4-BE49-F238E27FC236}">
                  <a16:creationId xmlns:a16="http://schemas.microsoft.com/office/drawing/2014/main" id="{0DADB7AE-B321-7BD7-A5A2-68BB2B5CB510}"/>
                </a:ext>
              </a:extLst>
            </p:cNvPr>
            <p:cNvSpPr/>
            <p:nvPr/>
          </p:nvSpPr>
          <p:spPr>
            <a:xfrm rot="16200000" flipH="1">
              <a:off x="10010543" y="1341912"/>
              <a:ext cx="1353787" cy="956770"/>
            </a:xfrm>
            <a:prstGeom prst="trapezoi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r>
                <a:rPr lang="en-US" sz="1200" dirty="0"/>
                <a:t>TURBINE</a:t>
              </a:r>
            </a:p>
          </p:txBody>
        </p:sp>
        <p:cxnSp>
          <p:nvCxnSpPr>
            <p:cNvPr id="12" name="Connector: Elbow 11">
              <a:extLst>
                <a:ext uri="{FF2B5EF4-FFF2-40B4-BE49-F238E27FC236}">
                  <a16:creationId xmlns:a16="http://schemas.microsoft.com/office/drawing/2014/main" id="{6F090DD7-7614-A542-885A-DAC7D8F14F66}"/>
                </a:ext>
              </a:extLst>
            </p:cNvPr>
            <p:cNvCxnSpPr>
              <a:cxnSpLocks/>
            </p:cNvCxnSpPr>
            <p:nvPr/>
          </p:nvCxnSpPr>
          <p:spPr>
            <a:xfrm flipV="1">
              <a:off x="7675164" y="993069"/>
              <a:ext cx="992391" cy="73849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rapezoid 5">
              <a:extLst>
                <a:ext uri="{FF2B5EF4-FFF2-40B4-BE49-F238E27FC236}">
                  <a16:creationId xmlns:a16="http://schemas.microsoft.com/office/drawing/2014/main" id="{CAAAA151-2ECA-C869-067A-CEF3C6494AEC}"/>
                </a:ext>
              </a:extLst>
            </p:cNvPr>
            <p:cNvSpPr/>
            <p:nvPr/>
          </p:nvSpPr>
          <p:spPr>
            <a:xfrm rot="5400000">
              <a:off x="7208322" y="1341912"/>
              <a:ext cx="1353787" cy="956770"/>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vert="vert270" rtlCol="0" anchor="ctr"/>
            <a:lstStyle/>
            <a:p>
              <a:pPr algn="ctr"/>
              <a:r>
                <a:rPr lang="en-US" sz="1400" dirty="0"/>
                <a:t>COMPRESSOR</a:t>
              </a:r>
            </a:p>
          </p:txBody>
        </p:sp>
        <p:cxnSp>
          <p:nvCxnSpPr>
            <p:cNvPr id="17" name="Connector: Elbow 16">
              <a:extLst>
                <a:ext uri="{FF2B5EF4-FFF2-40B4-BE49-F238E27FC236}">
                  <a16:creationId xmlns:a16="http://schemas.microsoft.com/office/drawing/2014/main" id="{171A7DC2-68A5-F4ED-C153-FE6E9EC9F084}"/>
                </a:ext>
              </a:extLst>
            </p:cNvPr>
            <p:cNvCxnSpPr>
              <a:cxnSpLocks/>
            </p:cNvCxnSpPr>
            <p:nvPr/>
          </p:nvCxnSpPr>
          <p:spPr>
            <a:xfrm rot="16200000" flipH="1">
              <a:off x="9574027" y="644399"/>
              <a:ext cx="708060" cy="67804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22" name="Arrow: Curved Down 21">
              <a:extLst>
                <a:ext uri="{FF2B5EF4-FFF2-40B4-BE49-F238E27FC236}">
                  <a16:creationId xmlns:a16="http://schemas.microsoft.com/office/drawing/2014/main" id="{89F1D6BB-2002-A50E-81E6-DEF6603790E3}"/>
                </a:ext>
              </a:extLst>
            </p:cNvPr>
            <p:cNvSpPr/>
            <p:nvPr/>
          </p:nvSpPr>
          <p:spPr>
            <a:xfrm>
              <a:off x="9186410" y="1530230"/>
              <a:ext cx="551395" cy="514011"/>
            </a:xfrm>
            <a:prstGeom prst="curvedDown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6" name="Rectangle 25">
              <a:extLst>
                <a:ext uri="{FF2B5EF4-FFF2-40B4-BE49-F238E27FC236}">
                  <a16:creationId xmlns:a16="http://schemas.microsoft.com/office/drawing/2014/main" id="{BB088DE3-F965-4F70-0733-59852548C21F}"/>
                </a:ext>
              </a:extLst>
            </p:cNvPr>
            <p:cNvSpPr/>
            <p:nvPr/>
          </p:nvSpPr>
          <p:spPr>
            <a:xfrm>
              <a:off x="9169366" y="1721922"/>
              <a:ext cx="253043" cy="13062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W</a:t>
              </a:r>
            </a:p>
          </p:txBody>
        </p:sp>
        <p:sp>
          <p:nvSpPr>
            <p:cNvPr id="9" name="Rectangle: Diagonal Corners Snipped 8">
              <a:extLst>
                <a:ext uri="{FF2B5EF4-FFF2-40B4-BE49-F238E27FC236}">
                  <a16:creationId xmlns:a16="http://schemas.microsoft.com/office/drawing/2014/main" id="{C9B60884-8B4B-D5EF-B2FA-27756234AC88}"/>
                </a:ext>
              </a:extLst>
            </p:cNvPr>
            <p:cNvSpPr/>
            <p:nvPr/>
          </p:nvSpPr>
          <p:spPr>
            <a:xfrm>
              <a:off x="8697415" y="629392"/>
              <a:ext cx="1196946" cy="514011"/>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COMBUSTOR</a:t>
              </a:r>
            </a:p>
          </p:txBody>
        </p:sp>
      </p:grpSp>
    </p:spTree>
    <p:extLst>
      <p:ext uri="{BB962C8B-B14F-4D97-AF65-F5344CB8AC3E}">
        <p14:creationId xmlns:p14="http://schemas.microsoft.com/office/powerpoint/2010/main" val="18269474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E4E72-B136-B7E4-354D-3A91AA5FAA78}"/>
            </a:ext>
          </a:extLst>
        </p:cNvPr>
        <p:cNvGrpSpPr/>
        <p:nvPr/>
      </p:nvGrpSpPr>
      <p:grpSpPr>
        <a:xfrm>
          <a:off x="0" y="0"/>
          <a:ext cx="0" cy="0"/>
          <a:chOff x="0" y="0"/>
          <a:chExt cx="0" cy="0"/>
        </a:xfrm>
      </p:grpSpPr>
      <p:sp>
        <p:nvSpPr>
          <p:cNvPr id="14" name="Rectangle 13">
            <a:extLst>
              <a:ext uri="{FF2B5EF4-FFF2-40B4-BE49-F238E27FC236}">
                <a16:creationId xmlns:a16="http://schemas.microsoft.com/office/drawing/2014/main" id="{DE831F26-0D39-E6B6-63A0-89535A6BB58C}"/>
              </a:ext>
            </a:extLst>
          </p:cNvPr>
          <p:cNvSpPr/>
          <p:nvPr/>
        </p:nvSpPr>
        <p:spPr>
          <a:xfrm>
            <a:off x="5003800" y="971550"/>
            <a:ext cx="7188200" cy="491490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FAAF4EB-2676-E8BE-3546-B8C35F4E5817}"/>
              </a:ext>
            </a:extLst>
          </p:cNvPr>
          <p:cNvSpPr>
            <a:spLocks noGrp="1"/>
          </p:cNvSpPr>
          <p:nvPr>
            <p:ph type="title"/>
          </p:nvPr>
        </p:nvSpPr>
        <p:spPr>
          <a:xfrm>
            <a:off x="311461" y="2238397"/>
            <a:ext cx="4929698" cy="1946607"/>
          </a:xfrm>
          <a:effectLst>
            <a:reflection blurRad="6350" stA="50000" endA="300" endPos="55000" dir="5400000" sy="-100000" algn="bl" rotWithShape="0"/>
          </a:effectLst>
        </p:spPr>
        <p:txBody>
          <a:bodyPr/>
          <a:lstStyle/>
          <a:p>
            <a:r>
              <a:rPr lang="en-US" sz="7500" dirty="0"/>
              <a:t>BRAYTON CYCLE</a:t>
            </a:r>
          </a:p>
        </p:txBody>
      </p:sp>
      <p:cxnSp>
        <p:nvCxnSpPr>
          <p:cNvPr id="10" name="Straight Connector 9">
            <a:extLst>
              <a:ext uri="{FF2B5EF4-FFF2-40B4-BE49-F238E27FC236}">
                <a16:creationId xmlns:a16="http://schemas.microsoft.com/office/drawing/2014/main" id="{90A71F92-622D-735E-DE3C-EF8B29A35192}"/>
              </a:ext>
            </a:extLst>
          </p:cNvPr>
          <p:cNvCxnSpPr>
            <a:cxnSpLocks/>
          </p:cNvCxnSpPr>
          <p:nvPr/>
        </p:nvCxnSpPr>
        <p:spPr>
          <a:xfrm>
            <a:off x="4754794" y="1057993"/>
            <a:ext cx="0" cy="4999907"/>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pic>
        <p:nvPicPr>
          <p:cNvPr id="13" name="Picture 12">
            <a:extLst>
              <a:ext uri="{FF2B5EF4-FFF2-40B4-BE49-F238E27FC236}">
                <a16:creationId xmlns:a16="http://schemas.microsoft.com/office/drawing/2014/main" id="{16688C41-25DC-2FCE-0DD6-9A60E9FE1402}"/>
              </a:ext>
            </a:extLst>
          </p:cNvPr>
          <p:cNvPicPr>
            <a:picLocks noChangeAspect="1"/>
          </p:cNvPicPr>
          <p:nvPr/>
        </p:nvPicPr>
        <p:blipFill>
          <a:blip r:embed="rId2"/>
          <a:stretch>
            <a:fillRect/>
          </a:stretch>
        </p:blipFill>
        <p:spPr>
          <a:xfrm>
            <a:off x="5241159" y="1057993"/>
            <a:ext cx="6487215" cy="4602107"/>
          </a:xfrm>
          <a:prstGeom prst="rect">
            <a:avLst/>
          </a:prstGeom>
        </p:spPr>
      </p:pic>
    </p:spTree>
    <p:extLst>
      <p:ext uri="{BB962C8B-B14F-4D97-AF65-F5344CB8AC3E}">
        <p14:creationId xmlns:p14="http://schemas.microsoft.com/office/powerpoint/2010/main" val="15047333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22FC7B-7008-CF79-CA61-501AE40EF6C4}"/>
              </a:ext>
            </a:extLst>
          </p:cNvPr>
          <p:cNvSpPr>
            <a:spLocks noGrp="1"/>
          </p:cNvSpPr>
          <p:nvPr>
            <p:ph type="title"/>
          </p:nvPr>
        </p:nvSpPr>
        <p:spPr>
          <a:xfrm>
            <a:off x="960582" y="1194599"/>
            <a:ext cx="5161563" cy="1946607"/>
          </a:xfrm>
          <a:effectLst>
            <a:reflection blurRad="6350" stA="50000" endA="300" endPos="55000" dir="5400000" sy="-100000" algn="bl" rotWithShape="0"/>
          </a:effectLst>
        </p:spPr>
        <p:txBody>
          <a:bodyPr/>
          <a:lstStyle/>
          <a:p>
            <a:r>
              <a:rPr lang="en-US" dirty="0"/>
              <a:t>Gas turbine </a:t>
            </a:r>
          </a:p>
        </p:txBody>
      </p:sp>
      <p:sp>
        <p:nvSpPr>
          <p:cNvPr id="4" name="Text Placeholder 3">
            <a:extLst>
              <a:ext uri="{FF2B5EF4-FFF2-40B4-BE49-F238E27FC236}">
                <a16:creationId xmlns:a16="http://schemas.microsoft.com/office/drawing/2014/main" id="{124C9233-DE4C-C574-F235-B08205E3D8A8}"/>
              </a:ext>
            </a:extLst>
          </p:cNvPr>
          <p:cNvSpPr>
            <a:spLocks noGrp="1"/>
          </p:cNvSpPr>
          <p:nvPr>
            <p:ph type="body" sz="quarter" idx="16"/>
          </p:nvPr>
        </p:nvSpPr>
        <p:spPr>
          <a:xfrm>
            <a:off x="861190" y="5084731"/>
            <a:ext cx="9501187" cy="1356123"/>
          </a:xfrm>
        </p:spPr>
        <p:txBody>
          <a:bodyPr/>
          <a:lstStyle/>
          <a:p>
            <a:pPr algn="l"/>
            <a:r>
              <a:rPr lang="en-US" sz="1600" cap="none" dirty="0"/>
              <a:t>“A Gas Turbine typically comprises of three”, namely :</a:t>
            </a:r>
          </a:p>
          <a:p>
            <a:pPr marL="742950" lvl="1" indent="-285750">
              <a:buClr>
                <a:schemeClr val="accent6">
                  <a:lumMod val="50000"/>
                </a:schemeClr>
              </a:buClr>
              <a:buFont typeface="Courier New" panose="02070309020205020404" pitchFamily="49" charset="0"/>
              <a:buChar char="o"/>
            </a:pPr>
            <a:r>
              <a:rPr lang="en-US" sz="1600" dirty="0">
                <a:effectLst>
                  <a:outerShdw blurRad="38100" dist="38100" dir="2700000" algn="tl">
                    <a:srgbClr val="000000">
                      <a:alpha val="43137"/>
                    </a:srgbClr>
                  </a:outerShdw>
                </a:effectLst>
              </a:rPr>
              <a:t>COMPRESSOR</a:t>
            </a:r>
          </a:p>
          <a:p>
            <a:pPr marL="742950" lvl="1" indent="-285750">
              <a:buClr>
                <a:schemeClr val="accent6">
                  <a:lumMod val="50000"/>
                </a:schemeClr>
              </a:buClr>
              <a:buFont typeface="Courier New" panose="02070309020205020404" pitchFamily="49" charset="0"/>
              <a:buChar char="o"/>
            </a:pPr>
            <a:r>
              <a:rPr lang="en-US" sz="1600" dirty="0">
                <a:effectLst>
                  <a:outerShdw blurRad="38100" dist="38100" dir="2700000" algn="tl">
                    <a:srgbClr val="000000">
                      <a:alpha val="43137"/>
                    </a:srgbClr>
                  </a:outerShdw>
                </a:effectLst>
              </a:rPr>
              <a:t>COMBUSTOR</a:t>
            </a:r>
          </a:p>
          <a:p>
            <a:pPr marL="742950" lvl="1" indent="-285750">
              <a:buClr>
                <a:schemeClr val="accent6">
                  <a:lumMod val="50000"/>
                </a:schemeClr>
              </a:buClr>
              <a:buFont typeface="Courier New" panose="02070309020205020404" pitchFamily="49" charset="0"/>
              <a:buChar char="o"/>
            </a:pPr>
            <a:r>
              <a:rPr lang="en-US" sz="1600" dirty="0">
                <a:effectLst>
                  <a:outerShdw blurRad="38100" dist="38100" dir="2700000" algn="tl">
                    <a:srgbClr val="000000">
                      <a:alpha val="43137"/>
                    </a:srgbClr>
                  </a:outerShdw>
                </a:effectLst>
              </a:rPr>
              <a:t>TURBINE</a:t>
            </a:r>
          </a:p>
        </p:txBody>
      </p:sp>
      <mc:AlternateContent xmlns:mc="http://schemas.openxmlformats.org/markup-compatibility/2006">
        <mc:Choice xmlns:am3d="http://schemas.microsoft.com/office/drawing/2017/model3d" Requires="am3d">
          <p:graphicFrame>
            <p:nvGraphicFramePr>
              <p:cNvPr id="5" name="Content Placeholder 7">
                <a:extLst>
                  <a:ext uri="{FF2B5EF4-FFF2-40B4-BE49-F238E27FC236}">
                    <a16:creationId xmlns:a16="http://schemas.microsoft.com/office/drawing/2014/main" id="{ADF55E8D-3E37-0D87-9995-EB76E05F2A50}"/>
                  </a:ext>
                </a:extLst>
              </p:cNvPr>
              <p:cNvGraphicFramePr>
                <a:graphicFrameLocks noChangeAspect="1"/>
              </p:cNvGraphicFramePr>
              <p:nvPr>
                <p:extLst>
                  <p:ext uri="{D42A27DB-BD31-4B8C-83A1-F6EECF244321}">
                    <p14:modId xmlns:p14="http://schemas.microsoft.com/office/powerpoint/2010/main" val="3332685052"/>
                  </p:ext>
                </p:extLst>
              </p:nvPr>
            </p:nvGraphicFramePr>
            <p:xfrm>
              <a:off x="6021410" y="816267"/>
              <a:ext cx="6278532" cy="3595886"/>
            </p:xfrm>
            <a:graphic>
              <a:graphicData uri="http://schemas.microsoft.com/office/drawing/2017/model3d">
                <am3d:model3d r:embed="rId2">
                  <am3d:spPr>
                    <a:xfrm>
                      <a:off x="0" y="0"/>
                      <a:ext cx="6278532" cy="3595886"/>
                    </a:xfrm>
                    <a:prstGeom prst="rect">
                      <a:avLst/>
                    </a:prstGeom>
                    <a:noFill/>
                  </am3d:spPr>
                  <am3d:camera>
                    <am3d:pos x="0" y="0" z="57461774"/>
                    <am3d:up dx="0" dy="36000000" dz="0"/>
                    <am3d:lookAt x="0" y="0" z="0"/>
                    <am3d:perspective fov="2700000"/>
                  </am3d:camera>
                  <am3d:trans>
                    <am3d:meterPerModelUnit n="71607" d="1000000"/>
                    <am3d:preTrans dx="2071493" dy="-10282694" dz="1510637"/>
                    <am3d:scale>
                      <am3d:sx n="1000000" d="1000000"/>
                      <am3d:sy n="1000000" d="1000000"/>
                      <am3d:sz n="1000000" d="1000000"/>
                    </am3d:scale>
                    <am3d:rot ax="164493" ay="2160668" az="96785"/>
                    <am3d:postTrans dx="0" dy="0" dz="0"/>
                  </am3d:trans>
                  <am3d:raster rName="Office3DRenderer" rVer="16.0.8326">
                    <am3d:blip r:embed="rId3"/>
                  </am3d:raster>
                  <am3d:objViewport viewportSz="7439108"/>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7">
                <a:extLst>
                  <a:ext uri="{FF2B5EF4-FFF2-40B4-BE49-F238E27FC236}">
                    <a16:creationId xmlns:a16="http://schemas.microsoft.com/office/drawing/2014/main" id="{ADF55E8D-3E37-0D87-9995-EB76E05F2A50}"/>
                  </a:ext>
                </a:extLst>
              </p:cNvPr>
              <p:cNvPicPr>
                <a:picLocks noGrp="1" noRot="1" noChangeAspect="1" noMove="1" noResize="1" noEditPoints="1" noAdjustHandles="1" noChangeArrowheads="1" noChangeShapeType="1" noCrop="1"/>
              </p:cNvPicPr>
              <p:nvPr/>
            </p:nvPicPr>
            <p:blipFill>
              <a:blip r:embed="rId3"/>
              <a:stretch>
                <a:fillRect/>
              </a:stretch>
            </p:blipFill>
            <p:spPr>
              <a:xfrm>
                <a:off x="6021410" y="816267"/>
                <a:ext cx="6278532" cy="3595886"/>
              </a:xfrm>
              <a:prstGeom prst="rect">
                <a:avLst/>
              </a:prstGeom>
              <a:noFill/>
            </p:spPr>
          </p:pic>
        </mc:Fallback>
      </mc:AlternateContent>
      <p:cxnSp>
        <p:nvCxnSpPr>
          <p:cNvPr id="10" name="Straight Connector 9">
            <a:extLst>
              <a:ext uri="{FF2B5EF4-FFF2-40B4-BE49-F238E27FC236}">
                <a16:creationId xmlns:a16="http://schemas.microsoft.com/office/drawing/2014/main" id="{3EF60214-541D-6787-B66E-E83AAAA49D99}"/>
              </a:ext>
            </a:extLst>
          </p:cNvPr>
          <p:cNvCxnSpPr>
            <a:cxnSpLocks/>
          </p:cNvCxnSpPr>
          <p:nvPr/>
        </p:nvCxnSpPr>
        <p:spPr>
          <a:xfrm flipH="1">
            <a:off x="463626" y="4889628"/>
            <a:ext cx="552967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26633995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EF959-D6E4-C3AD-9379-3043A7DB2C1E}"/>
            </a:ext>
          </a:extLst>
        </p:cNvPr>
        <p:cNvGrpSpPr/>
        <p:nvPr/>
      </p:nvGrpSpPr>
      <p:grpSpPr>
        <a:xfrm>
          <a:off x="0" y="0"/>
          <a:ext cx="0" cy="0"/>
          <a:chOff x="0" y="0"/>
          <a:chExt cx="0" cy="0"/>
        </a:xfrm>
      </p:grpSpPr>
      <p:sp>
        <p:nvSpPr>
          <p:cNvPr id="14" name="Rectangle: Diagonal Corners Snipped 13">
            <a:extLst>
              <a:ext uri="{FF2B5EF4-FFF2-40B4-BE49-F238E27FC236}">
                <a16:creationId xmlns:a16="http://schemas.microsoft.com/office/drawing/2014/main" id="{863812ED-F6EC-9E77-BEC2-C124F92BD89F}"/>
              </a:ext>
            </a:extLst>
          </p:cNvPr>
          <p:cNvSpPr/>
          <p:nvPr/>
        </p:nvSpPr>
        <p:spPr>
          <a:xfrm>
            <a:off x="6383045" y="1216404"/>
            <a:ext cx="5428654" cy="2600587"/>
          </a:xfrm>
          <a:prstGeom prst="snip2DiagRect">
            <a:avLst/>
          </a:prstGeom>
          <a:solidFill>
            <a:srgbClr val="7BB0FD">
              <a:alpha val="42000"/>
            </a:srgbClr>
          </a:solidFill>
          <a:ln w="9525">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14895C1-4848-6279-78E2-848954102E77}"/>
              </a:ext>
            </a:extLst>
          </p:cNvPr>
          <p:cNvSpPr>
            <a:spLocks noGrp="1"/>
          </p:cNvSpPr>
          <p:nvPr>
            <p:ph type="title"/>
          </p:nvPr>
        </p:nvSpPr>
        <p:spPr>
          <a:xfrm>
            <a:off x="463626" y="3922741"/>
            <a:ext cx="7729272" cy="3575650"/>
          </a:xfrm>
          <a:effectLst>
            <a:reflection blurRad="6350" stA="50000" endA="300" endPos="55000" dir="5400000" sy="-100000" algn="bl" rotWithShape="0"/>
          </a:effectLst>
        </p:spPr>
        <p:txBody>
          <a:bodyPr/>
          <a:lstStyle/>
          <a:p>
            <a:r>
              <a:rPr lang="en-US" dirty="0"/>
              <a:t>Compressor </a:t>
            </a:r>
          </a:p>
        </p:txBody>
      </p:sp>
      <p:sp>
        <p:nvSpPr>
          <p:cNvPr id="4" name="Text Placeholder 3">
            <a:extLst>
              <a:ext uri="{FF2B5EF4-FFF2-40B4-BE49-F238E27FC236}">
                <a16:creationId xmlns:a16="http://schemas.microsoft.com/office/drawing/2014/main" id="{ECB60690-D7C3-C80D-2520-793F7D92BD62}"/>
              </a:ext>
            </a:extLst>
          </p:cNvPr>
          <p:cNvSpPr>
            <a:spLocks noGrp="1"/>
          </p:cNvSpPr>
          <p:nvPr>
            <p:ph type="body" sz="quarter" idx="16"/>
          </p:nvPr>
        </p:nvSpPr>
        <p:spPr>
          <a:xfrm>
            <a:off x="6536560" y="1726657"/>
            <a:ext cx="5194229" cy="1702343"/>
          </a:xfrm>
        </p:spPr>
        <p:txBody>
          <a:bodyPr/>
          <a:lstStyle/>
          <a:p>
            <a:pPr algn="l"/>
            <a:r>
              <a:rPr lang="en-US" sz="1800" dirty="0">
                <a:effectLst>
                  <a:outerShdw blurRad="38100" dist="38100" dir="2700000" algn="tl">
                    <a:srgbClr val="000000">
                      <a:alpha val="43137"/>
                    </a:srgbClr>
                  </a:outerShdw>
                </a:effectLst>
              </a:rPr>
              <a:t>“The COMPRESSOR is what takes in air from outside of the turbine and increases its pressure at hundreds of MPH, then feeds it to the combustion chamber.”</a:t>
            </a:r>
          </a:p>
        </p:txBody>
      </p:sp>
      <mc:AlternateContent xmlns:mc="http://schemas.openxmlformats.org/markup-compatibility/2006">
        <mc:Choice xmlns:am3d="http://schemas.microsoft.com/office/drawing/2017/model3d" Requires="am3d">
          <p:graphicFrame>
            <p:nvGraphicFramePr>
              <p:cNvPr id="5" name="Content Placeholder 7">
                <a:extLst>
                  <a:ext uri="{FF2B5EF4-FFF2-40B4-BE49-F238E27FC236}">
                    <a16:creationId xmlns:a16="http://schemas.microsoft.com/office/drawing/2014/main" id="{B10A99E0-BA58-C910-B04D-D9D22F4F5C91}"/>
                  </a:ext>
                </a:extLst>
              </p:cNvPr>
              <p:cNvGraphicFramePr>
                <a:graphicFrameLocks/>
              </p:cNvGraphicFramePr>
              <p:nvPr>
                <p:extLst>
                  <p:ext uri="{D42A27DB-BD31-4B8C-83A1-F6EECF244321}">
                    <p14:modId xmlns:p14="http://schemas.microsoft.com/office/powerpoint/2010/main" val="1651281150"/>
                  </p:ext>
                </p:extLst>
              </p:nvPr>
            </p:nvGraphicFramePr>
            <p:xfrm>
              <a:off x="840509" y="886693"/>
              <a:ext cx="5043533" cy="3666834"/>
            </p:xfrm>
            <a:graphic>
              <a:graphicData uri="http://schemas.microsoft.com/office/drawing/2017/model3d">
                <am3d:model3d r:embed="rId2">
                  <am3d:spPr>
                    <a:xfrm>
                      <a:off x="0" y="0"/>
                      <a:ext cx="5043533" cy="3666834"/>
                    </a:xfrm>
                    <a:prstGeom prst="rect">
                      <a:avLst/>
                    </a:prstGeom>
                    <a:noFill/>
                  </am3d:spPr>
                  <am3d:camera>
                    <am3d:pos x="-10221274" y="257056" z="57461774"/>
                    <am3d:up dx="0" dy="36000000" dz="0"/>
                    <am3d:lookAt x="-10221274" y="257056" z="0"/>
                    <am3d:perspective fov="850928"/>
                  </am3d:camera>
                  <am3d:trans>
                    <am3d:meterPerModelUnit n="71607" d="1000000"/>
                    <am3d:preTrans dx="12496068" dy="-10539788" dz="2172123"/>
                    <am3d:scale>
                      <am3d:sx n="1000000" d="1000000"/>
                      <am3d:sy n="1000000" d="1000000"/>
                      <am3d:sz n="1000000" d="1000000"/>
                    </am3d:scale>
                    <am3d:rot ax="-93690" ay="1640868" az="-43031"/>
                    <am3d:postTrans dx="-10221274" dy="257056" dz="0"/>
                  </am3d:trans>
                  <am3d:raster rName="Office3DRenderer" rVer="16.0.8326">
                    <am3d:blip r:embed="rId3"/>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7">
                <a:extLst>
                  <a:ext uri="{FF2B5EF4-FFF2-40B4-BE49-F238E27FC236}">
                    <a16:creationId xmlns:a16="http://schemas.microsoft.com/office/drawing/2014/main" id="{B10A99E0-BA58-C910-B04D-D9D22F4F5C91}"/>
                  </a:ext>
                </a:extLst>
              </p:cNvPr>
              <p:cNvPicPr>
                <a:picLocks noGrp="1" noRot="1" noChangeAspect="1" noMove="1" noResize="1" noEditPoints="1" noAdjustHandles="1" noChangeArrowheads="1" noChangeShapeType="1" noCrop="1"/>
              </p:cNvPicPr>
              <p:nvPr/>
            </p:nvPicPr>
            <p:blipFill>
              <a:blip r:embed="rId3"/>
              <a:stretch>
                <a:fillRect/>
              </a:stretch>
            </p:blipFill>
            <p:spPr>
              <a:xfrm>
                <a:off x="840509" y="886693"/>
                <a:ext cx="5043533" cy="3666834"/>
              </a:xfrm>
              <a:prstGeom prst="rect">
                <a:avLst/>
              </a:prstGeom>
              <a:noFill/>
            </p:spPr>
          </p:pic>
        </mc:Fallback>
      </mc:AlternateContent>
      <p:cxnSp>
        <p:nvCxnSpPr>
          <p:cNvPr id="10" name="Straight Connector 9">
            <a:extLst>
              <a:ext uri="{FF2B5EF4-FFF2-40B4-BE49-F238E27FC236}">
                <a16:creationId xmlns:a16="http://schemas.microsoft.com/office/drawing/2014/main" id="{758499E7-C23F-4937-F3F1-7BCAFA0D4FE8}"/>
              </a:ext>
            </a:extLst>
          </p:cNvPr>
          <p:cNvCxnSpPr>
            <a:cxnSpLocks/>
          </p:cNvCxnSpPr>
          <p:nvPr/>
        </p:nvCxnSpPr>
        <p:spPr>
          <a:xfrm flipH="1">
            <a:off x="354372" y="4954284"/>
            <a:ext cx="552967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BCC0CE09-9368-6D66-BDA7-51ECF7FBFD8A}"/>
              </a:ext>
            </a:extLst>
          </p:cNvPr>
          <p:cNvCxnSpPr>
            <a:cxnSpLocks/>
          </p:cNvCxnSpPr>
          <p:nvPr/>
        </p:nvCxnSpPr>
        <p:spPr>
          <a:xfrm>
            <a:off x="3971637" y="1477818"/>
            <a:ext cx="2768641" cy="0"/>
          </a:xfrm>
          <a:prstGeom prst="line">
            <a:avLst/>
          </a:prstGeom>
          <a:ln>
            <a:solidFill>
              <a:schemeClr val="accent5">
                <a:lumMod val="60000"/>
                <a:lumOff val="40000"/>
              </a:schemeClr>
            </a:solidFill>
          </a:ln>
        </p:spPr>
        <p:style>
          <a:lnRef idx="2">
            <a:schemeClr val="accent5"/>
          </a:lnRef>
          <a:fillRef idx="0">
            <a:schemeClr val="accent5"/>
          </a:fillRef>
          <a:effectRef idx="1">
            <a:schemeClr val="accent5"/>
          </a:effectRef>
          <a:fontRef idx="minor">
            <a:schemeClr val="tx1"/>
          </a:fontRef>
        </p:style>
      </p:cxnSp>
      <p:sp>
        <p:nvSpPr>
          <p:cNvPr id="11" name="Oval 10">
            <a:extLst>
              <a:ext uri="{FF2B5EF4-FFF2-40B4-BE49-F238E27FC236}">
                <a16:creationId xmlns:a16="http://schemas.microsoft.com/office/drawing/2014/main" id="{3E7FB3ED-8EFA-B183-19BC-4CAF37ECF17A}"/>
              </a:ext>
            </a:extLst>
          </p:cNvPr>
          <p:cNvSpPr/>
          <p:nvPr/>
        </p:nvSpPr>
        <p:spPr>
          <a:xfrm>
            <a:off x="6659093" y="1388087"/>
            <a:ext cx="162370" cy="179461"/>
          </a:xfrm>
          <a:prstGeom prst="ellipse">
            <a:avLst/>
          </a:prstGeom>
          <a:solidFill>
            <a:srgbClr val="7BB0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607994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D4947A-6369-73BA-0F19-FC3D0FAEB6A4}"/>
            </a:ext>
          </a:extLst>
        </p:cNvPr>
        <p:cNvGrpSpPr/>
        <p:nvPr/>
      </p:nvGrpSpPr>
      <p:grpSpPr>
        <a:xfrm>
          <a:off x="0" y="0"/>
          <a:ext cx="0" cy="0"/>
          <a:chOff x="0" y="0"/>
          <a:chExt cx="0" cy="0"/>
        </a:xfrm>
      </p:grpSpPr>
      <p:sp>
        <p:nvSpPr>
          <p:cNvPr id="14" name="Rectangle: Diagonal Corners Snipped 13">
            <a:extLst>
              <a:ext uri="{FF2B5EF4-FFF2-40B4-BE49-F238E27FC236}">
                <a16:creationId xmlns:a16="http://schemas.microsoft.com/office/drawing/2014/main" id="{BE954CE9-3B2E-1C25-631A-3EB3D2B5A815}"/>
              </a:ext>
            </a:extLst>
          </p:cNvPr>
          <p:cNvSpPr/>
          <p:nvPr/>
        </p:nvSpPr>
        <p:spPr>
          <a:xfrm>
            <a:off x="6415992" y="1781182"/>
            <a:ext cx="5428654" cy="2600587"/>
          </a:xfrm>
          <a:prstGeom prst="snip2DiagRect">
            <a:avLst/>
          </a:prstGeom>
          <a:solidFill>
            <a:srgbClr val="7BB0FD">
              <a:alpha val="42000"/>
            </a:srgbClr>
          </a:solidFill>
          <a:ln w="9525">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747DBDE-5249-F4FE-2902-38F1CB212136}"/>
              </a:ext>
            </a:extLst>
          </p:cNvPr>
          <p:cNvSpPr>
            <a:spLocks noGrp="1"/>
          </p:cNvSpPr>
          <p:nvPr>
            <p:ph type="title"/>
          </p:nvPr>
        </p:nvSpPr>
        <p:spPr>
          <a:xfrm>
            <a:off x="463626" y="3922741"/>
            <a:ext cx="7729272" cy="3575650"/>
          </a:xfrm>
          <a:effectLst>
            <a:reflection blurRad="6350" stA="50000" endA="300" endPos="55000" dir="5400000" sy="-100000" algn="bl" rotWithShape="0"/>
          </a:effectLst>
        </p:spPr>
        <p:txBody>
          <a:bodyPr/>
          <a:lstStyle/>
          <a:p>
            <a:r>
              <a:rPr lang="en-US" dirty="0"/>
              <a:t>Combustor</a:t>
            </a:r>
          </a:p>
        </p:txBody>
      </p:sp>
      <p:sp>
        <p:nvSpPr>
          <p:cNvPr id="4" name="Text Placeholder 3">
            <a:extLst>
              <a:ext uri="{FF2B5EF4-FFF2-40B4-BE49-F238E27FC236}">
                <a16:creationId xmlns:a16="http://schemas.microsoft.com/office/drawing/2014/main" id="{D8365524-45B5-5F43-D54B-B3883BBB9205}"/>
              </a:ext>
            </a:extLst>
          </p:cNvPr>
          <p:cNvSpPr>
            <a:spLocks noGrp="1"/>
          </p:cNvSpPr>
          <p:nvPr>
            <p:ph type="body" sz="quarter" idx="16"/>
          </p:nvPr>
        </p:nvSpPr>
        <p:spPr>
          <a:xfrm>
            <a:off x="6641338" y="2259081"/>
            <a:ext cx="5194229" cy="1702343"/>
          </a:xfrm>
        </p:spPr>
        <p:txBody>
          <a:bodyPr/>
          <a:lstStyle/>
          <a:p>
            <a:pPr algn="l"/>
            <a:r>
              <a:rPr lang="en-US" sz="1800" dirty="0">
                <a:effectLst>
                  <a:outerShdw blurRad="38100" dist="38100" dir="2700000" algn="tl">
                    <a:srgbClr val="000000">
                      <a:alpha val="43137"/>
                    </a:srgbClr>
                  </a:outerShdw>
                </a:effectLst>
              </a:rPr>
              <a:t>“The COMBUSTOR is what actually burns the fuel and produces high-pressure gas. The mixture is burned at temperatures of more than 2,000 °F to expand within the turbine section at high velocity.”</a:t>
            </a:r>
          </a:p>
        </p:txBody>
      </p:sp>
      <mc:AlternateContent xmlns:mc="http://schemas.openxmlformats.org/markup-compatibility/2006">
        <mc:Choice xmlns:am3d="http://schemas.microsoft.com/office/drawing/2017/model3d" Requires="am3d">
          <p:graphicFrame>
            <p:nvGraphicFramePr>
              <p:cNvPr id="5" name="Content Placeholder 7">
                <a:extLst>
                  <a:ext uri="{FF2B5EF4-FFF2-40B4-BE49-F238E27FC236}">
                    <a16:creationId xmlns:a16="http://schemas.microsoft.com/office/drawing/2014/main" id="{F954895F-1D9C-2265-0C58-B9203F0AAD8E}"/>
                  </a:ext>
                </a:extLst>
              </p:cNvPr>
              <p:cNvGraphicFramePr>
                <a:graphicFrameLocks/>
              </p:cNvGraphicFramePr>
              <p:nvPr>
                <p:extLst>
                  <p:ext uri="{D42A27DB-BD31-4B8C-83A1-F6EECF244321}">
                    <p14:modId xmlns:p14="http://schemas.microsoft.com/office/powerpoint/2010/main" val="2764458333"/>
                  </p:ext>
                </p:extLst>
              </p:nvPr>
            </p:nvGraphicFramePr>
            <p:xfrm>
              <a:off x="840509" y="886693"/>
              <a:ext cx="5043533" cy="3666834"/>
            </p:xfrm>
            <a:graphic>
              <a:graphicData uri="http://schemas.microsoft.com/office/drawing/2017/model3d">
                <am3d:model3d r:embed="rId2">
                  <am3d:spPr>
                    <a:xfrm>
                      <a:off x="0" y="0"/>
                      <a:ext cx="5043533" cy="3666834"/>
                    </a:xfrm>
                    <a:prstGeom prst="rect">
                      <a:avLst/>
                    </a:prstGeom>
                    <a:noFill/>
                  </am3d:spPr>
                  <am3d:camera>
                    <am3d:pos x="-2347247" y="622979" z="57461774"/>
                    <am3d:up dx="0" dy="36000000" dz="0"/>
                    <am3d:lookAt x="-2347247" y="622979" z="0"/>
                    <am3d:perspective fov="573203"/>
                  </am3d:camera>
                  <am3d:trans>
                    <am3d:meterPerModelUnit n="71607" d="1000000"/>
                    <am3d:preTrans dx="12496068" dy="-10539788" dz="2172123"/>
                    <am3d:scale>
                      <am3d:sx n="1000000" d="1000000"/>
                      <am3d:sy n="1000000" d="1000000"/>
                      <am3d:sz n="1000000" d="1000000"/>
                    </am3d:scale>
                    <am3d:rot ax="-344628" ay="-484567" az="48593"/>
                    <am3d:postTrans dx="-10221274" dy="257056" dz="0"/>
                  </am3d:trans>
                  <am3d:raster rName="Office3DRenderer" rVer="16.0.8326">
                    <am3d:blip r:embed="rId3"/>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7">
                <a:extLst>
                  <a:ext uri="{FF2B5EF4-FFF2-40B4-BE49-F238E27FC236}">
                    <a16:creationId xmlns:a16="http://schemas.microsoft.com/office/drawing/2014/main" id="{F954895F-1D9C-2265-0C58-B9203F0AAD8E}"/>
                  </a:ext>
                </a:extLst>
              </p:cNvPr>
              <p:cNvPicPr>
                <a:picLocks noGrp="1" noRot="1" noChangeAspect="1" noMove="1" noResize="1" noEditPoints="1" noAdjustHandles="1" noChangeArrowheads="1" noChangeShapeType="1" noCrop="1"/>
              </p:cNvPicPr>
              <p:nvPr/>
            </p:nvPicPr>
            <p:blipFill>
              <a:blip r:embed="rId3"/>
              <a:stretch>
                <a:fillRect/>
              </a:stretch>
            </p:blipFill>
            <p:spPr>
              <a:xfrm>
                <a:off x="840509" y="886693"/>
                <a:ext cx="5043533" cy="3666834"/>
              </a:xfrm>
              <a:prstGeom prst="rect">
                <a:avLst/>
              </a:prstGeom>
              <a:noFill/>
            </p:spPr>
          </p:pic>
        </mc:Fallback>
      </mc:AlternateContent>
      <p:cxnSp>
        <p:nvCxnSpPr>
          <p:cNvPr id="10" name="Straight Connector 9">
            <a:extLst>
              <a:ext uri="{FF2B5EF4-FFF2-40B4-BE49-F238E27FC236}">
                <a16:creationId xmlns:a16="http://schemas.microsoft.com/office/drawing/2014/main" id="{2FB03CB5-6F07-63A4-EE71-30450CFB8BEB}"/>
              </a:ext>
            </a:extLst>
          </p:cNvPr>
          <p:cNvCxnSpPr>
            <a:cxnSpLocks/>
          </p:cNvCxnSpPr>
          <p:nvPr/>
        </p:nvCxnSpPr>
        <p:spPr>
          <a:xfrm flipH="1">
            <a:off x="354372" y="4954284"/>
            <a:ext cx="552967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8C6D6B15-F61F-89C7-08CE-F2E5CAF3A724}"/>
              </a:ext>
            </a:extLst>
          </p:cNvPr>
          <p:cNvCxnSpPr>
            <a:cxnSpLocks/>
          </p:cNvCxnSpPr>
          <p:nvPr/>
        </p:nvCxnSpPr>
        <p:spPr>
          <a:xfrm>
            <a:off x="3953882" y="2150480"/>
            <a:ext cx="2768641" cy="0"/>
          </a:xfrm>
          <a:prstGeom prst="line">
            <a:avLst/>
          </a:prstGeom>
          <a:ln>
            <a:solidFill>
              <a:schemeClr val="accent5">
                <a:lumMod val="60000"/>
                <a:lumOff val="40000"/>
              </a:schemeClr>
            </a:solidFill>
          </a:ln>
        </p:spPr>
        <p:style>
          <a:lnRef idx="2">
            <a:schemeClr val="accent5"/>
          </a:lnRef>
          <a:fillRef idx="0">
            <a:schemeClr val="accent5"/>
          </a:fillRef>
          <a:effectRef idx="1">
            <a:schemeClr val="accent5"/>
          </a:effectRef>
          <a:fontRef idx="minor">
            <a:schemeClr val="tx1"/>
          </a:fontRef>
        </p:style>
      </p:cxnSp>
      <p:sp>
        <p:nvSpPr>
          <p:cNvPr id="11" name="Oval 10">
            <a:extLst>
              <a:ext uri="{FF2B5EF4-FFF2-40B4-BE49-F238E27FC236}">
                <a16:creationId xmlns:a16="http://schemas.microsoft.com/office/drawing/2014/main" id="{2F6FEF52-E3A9-9377-C032-AFDDFADE474A}"/>
              </a:ext>
            </a:extLst>
          </p:cNvPr>
          <p:cNvSpPr/>
          <p:nvPr/>
        </p:nvSpPr>
        <p:spPr>
          <a:xfrm>
            <a:off x="6641338" y="2060749"/>
            <a:ext cx="162370" cy="179461"/>
          </a:xfrm>
          <a:prstGeom prst="ellipse">
            <a:avLst/>
          </a:prstGeom>
          <a:solidFill>
            <a:srgbClr val="7BB0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728551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D1AAF4-B2A7-97EB-1731-FD775E660929}"/>
            </a:ext>
          </a:extLst>
        </p:cNvPr>
        <p:cNvGrpSpPr/>
        <p:nvPr/>
      </p:nvGrpSpPr>
      <p:grpSpPr>
        <a:xfrm>
          <a:off x="0" y="0"/>
          <a:ext cx="0" cy="0"/>
          <a:chOff x="0" y="0"/>
          <a:chExt cx="0" cy="0"/>
        </a:xfrm>
      </p:grpSpPr>
      <p:sp>
        <p:nvSpPr>
          <p:cNvPr id="14" name="Rectangle: Diagonal Corners Snipped 13">
            <a:extLst>
              <a:ext uri="{FF2B5EF4-FFF2-40B4-BE49-F238E27FC236}">
                <a16:creationId xmlns:a16="http://schemas.microsoft.com/office/drawing/2014/main" id="{776C8498-103A-766C-7C55-F27E82D0E571}"/>
              </a:ext>
            </a:extLst>
          </p:cNvPr>
          <p:cNvSpPr/>
          <p:nvPr/>
        </p:nvSpPr>
        <p:spPr>
          <a:xfrm>
            <a:off x="6415992" y="1781182"/>
            <a:ext cx="5428654" cy="2600587"/>
          </a:xfrm>
          <a:prstGeom prst="snip2DiagRect">
            <a:avLst/>
          </a:prstGeom>
          <a:solidFill>
            <a:srgbClr val="7BB0FD">
              <a:alpha val="42000"/>
            </a:srgbClr>
          </a:solidFill>
          <a:ln w="9525">
            <a:solidFill>
              <a:schemeClr val="bg1"/>
            </a:solidFill>
          </a:ln>
          <a:effectLst>
            <a:innerShdw blurRad="114300">
              <a:prstClr val="black"/>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EF4AE4F-0A19-AAEA-EA18-AAEEDF38D509}"/>
              </a:ext>
            </a:extLst>
          </p:cNvPr>
          <p:cNvSpPr>
            <a:spLocks noGrp="1"/>
          </p:cNvSpPr>
          <p:nvPr>
            <p:ph type="title"/>
          </p:nvPr>
        </p:nvSpPr>
        <p:spPr>
          <a:xfrm>
            <a:off x="463626" y="3922741"/>
            <a:ext cx="7729272" cy="3575650"/>
          </a:xfrm>
          <a:effectLst>
            <a:reflection blurRad="6350" stA="50000" endA="300" endPos="55000" dir="5400000" sy="-100000" algn="bl" rotWithShape="0"/>
          </a:effectLst>
        </p:spPr>
        <p:txBody>
          <a:bodyPr/>
          <a:lstStyle/>
          <a:p>
            <a:r>
              <a:rPr lang="en-US" dirty="0"/>
              <a:t>turbine</a:t>
            </a:r>
          </a:p>
        </p:txBody>
      </p:sp>
      <p:sp>
        <p:nvSpPr>
          <p:cNvPr id="4" name="Text Placeholder 3">
            <a:extLst>
              <a:ext uri="{FF2B5EF4-FFF2-40B4-BE49-F238E27FC236}">
                <a16:creationId xmlns:a16="http://schemas.microsoft.com/office/drawing/2014/main" id="{1C523F34-3544-753A-3B90-C773F9D085FC}"/>
              </a:ext>
            </a:extLst>
          </p:cNvPr>
          <p:cNvSpPr>
            <a:spLocks noGrp="1"/>
          </p:cNvSpPr>
          <p:nvPr>
            <p:ph type="body" sz="quarter" idx="16"/>
          </p:nvPr>
        </p:nvSpPr>
        <p:spPr>
          <a:xfrm>
            <a:off x="6641339" y="2098375"/>
            <a:ext cx="5275414" cy="1702343"/>
          </a:xfrm>
        </p:spPr>
        <p:txBody>
          <a:bodyPr/>
          <a:lstStyle/>
          <a:p>
            <a:pPr algn="l"/>
            <a:r>
              <a:rPr lang="en-US" sz="1800" dirty="0">
                <a:effectLst>
                  <a:outerShdw blurRad="38100" dist="38100" dir="2700000" algn="tl">
                    <a:srgbClr val="000000">
                      <a:alpha val="43137"/>
                    </a:srgbClr>
                  </a:outerShdw>
                </a:effectLst>
              </a:rPr>
              <a:t>“The TURBINE extracts the energy from the gas in the combustor. This is done with an array of stationary and rotating airfoil blades. Finally, the new kinetic energy from the blades runs a generator that produces power”</a:t>
            </a:r>
          </a:p>
        </p:txBody>
      </p:sp>
      <mc:AlternateContent xmlns:mc="http://schemas.openxmlformats.org/markup-compatibility/2006">
        <mc:Choice xmlns:am3d="http://schemas.microsoft.com/office/drawing/2017/model3d" Requires="am3d">
          <p:graphicFrame>
            <p:nvGraphicFramePr>
              <p:cNvPr id="5" name="Content Placeholder 7">
                <a:extLst>
                  <a:ext uri="{FF2B5EF4-FFF2-40B4-BE49-F238E27FC236}">
                    <a16:creationId xmlns:a16="http://schemas.microsoft.com/office/drawing/2014/main" id="{CEB2A663-6741-8B1F-8D1F-057458C56FD6}"/>
                  </a:ext>
                </a:extLst>
              </p:cNvPr>
              <p:cNvGraphicFramePr>
                <a:graphicFrameLocks/>
              </p:cNvGraphicFramePr>
              <p:nvPr>
                <p:extLst>
                  <p:ext uri="{D42A27DB-BD31-4B8C-83A1-F6EECF244321}">
                    <p14:modId xmlns:p14="http://schemas.microsoft.com/office/powerpoint/2010/main" val="1246351713"/>
                  </p:ext>
                </p:extLst>
              </p:nvPr>
            </p:nvGraphicFramePr>
            <p:xfrm>
              <a:off x="840509" y="886693"/>
              <a:ext cx="5043533" cy="3666834"/>
            </p:xfrm>
            <a:graphic>
              <a:graphicData uri="http://schemas.microsoft.com/office/drawing/2017/model3d">
                <am3d:model3d r:embed="rId2">
                  <am3d:spPr>
                    <a:xfrm>
                      <a:off x="0" y="0"/>
                      <a:ext cx="5043533" cy="3666834"/>
                    </a:xfrm>
                    <a:prstGeom prst="rect">
                      <a:avLst/>
                    </a:prstGeom>
                    <a:noFill/>
                  </am3d:spPr>
                  <am3d:camera>
                    <am3d:pos x="5896742" y="1260885" z="57461774"/>
                    <am3d:up dx="0" dy="36000000" dz="0"/>
                    <am3d:lookAt x="5896742" y="1260885" z="0"/>
                    <am3d:perspective fov="932141"/>
                  </am3d:camera>
                  <am3d:trans>
                    <am3d:meterPerModelUnit n="71607" d="1000000"/>
                    <am3d:preTrans dx="4695791" dy="-10903870" dz="3247912"/>
                    <am3d:scale>
                      <am3d:sx n="1000000" d="1000000"/>
                      <am3d:sy n="1000000" d="1000000"/>
                      <am3d:sz n="1000000" d="1000000"/>
                    </am3d:scale>
                    <am3d:rot ax="-477699" ay="-1907077" az="252808"/>
                    <am3d:postTrans dx="-2347246" dy="622978" dz="0"/>
                  </am3d:trans>
                  <am3d:raster rName="Office3DRenderer" rVer="16.0.8326">
                    <am3d:blip r:embed="rId3"/>
                  </am3d:raster>
                  <am3d:winViewport/>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Content Placeholder 7">
                <a:extLst>
                  <a:ext uri="{FF2B5EF4-FFF2-40B4-BE49-F238E27FC236}">
                    <a16:creationId xmlns:a16="http://schemas.microsoft.com/office/drawing/2014/main" id="{CEB2A663-6741-8B1F-8D1F-057458C56FD6}"/>
                  </a:ext>
                </a:extLst>
              </p:cNvPr>
              <p:cNvPicPr>
                <a:picLocks noGrp="1" noRot="1" noChangeAspect="1" noMove="1" noResize="1" noEditPoints="1" noAdjustHandles="1" noChangeArrowheads="1" noChangeShapeType="1" noCrop="1"/>
              </p:cNvPicPr>
              <p:nvPr/>
            </p:nvPicPr>
            <p:blipFill>
              <a:blip r:embed="rId3"/>
              <a:stretch>
                <a:fillRect/>
              </a:stretch>
            </p:blipFill>
            <p:spPr>
              <a:xfrm>
                <a:off x="840509" y="886693"/>
                <a:ext cx="5043533" cy="3666834"/>
              </a:xfrm>
              <a:prstGeom prst="rect">
                <a:avLst/>
              </a:prstGeom>
              <a:noFill/>
            </p:spPr>
          </p:pic>
        </mc:Fallback>
      </mc:AlternateContent>
      <p:cxnSp>
        <p:nvCxnSpPr>
          <p:cNvPr id="10" name="Straight Connector 9">
            <a:extLst>
              <a:ext uri="{FF2B5EF4-FFF2-40B4-BE49-F238E27FC236}">
                <a16:creationId xmlns:a16="http://schemas.microsoft.com/office/drawing/2014/main" id="{F734D16E-5D5C-8A08-0547-54D01A0CA60A}"/>
              </a:ext>
            </a:extLst>
          </p:cNvPr>
          <p:cNvCxnSpPr>
            <a:cxnSpLocks/>
          </p:cNvCxnSpPr>
          <p:nvPr/>
        </p:nvCxnSpPr>
        <p:spPr>
          <a:xfrm flipH="1">
            <a:off x="354372" y="4954284"/>
            <a:ext cx="5529670" cy="0"/>
          </a:xfrm>
          <a:prstGeom prst="line">
            <a:avLst/>
          </a:prstGeom>
          <a:ln w="9525" cap="flat" cmpd="sng" algn="ctr">
            <a:solidFill>
              <a:schemeClr val="accent2"/>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8" name="Straight Connector 7">
            <a:extLst>
              <a:ext uri="{FF2B5EF4-FFF2-40B4-BE49-F238E27FC236}">
                <a16:creationId xmlns:a16="http://schemas.microsoft.com/office/drawing/2014/main" id="{897E3195-0475-268A-C7F5-6FC7790B21B4}"/>
              </a:ext>
            </a:extLst>
          </p:cNvPr>
          <p:cNvCxnSpPr>
            <a:cxnSpLocks/>
          </p:cNvCxnSpPr>
          <p:nvPr/>
        </p:nvCxnSpPr>
        <p:spPr>
          <a:xfrm>
            <a:off x="3953882" y="2150480"/>
            <a:ext cx="2768641" cy="0"/>
          </a:xfrm>
          <a:prstGeom prst="line">
            <a:avLst/>
          </a:prstGeom>
          <a:ln>
            <a:solidFill>
              <a:schemeClr val="accent5">
                <a:lumMod val="60000"/>
                <a:lumOff val="40000"/>
              </a:schemeClr>
            </a:solidFill>
          </a:ln>
        </p:spPr>
        <p:style>
          <a:lnRef idx="2">
            <a:schemeClr val="accent5"/>
          </a:lnRef>
          <a:fillRef idx="0">
            <a:schemeClr val="accent5"/>
          </a:fillRef>
          <a:effectRef idx="1">
            <a:schemeClr val="accent5"/>
          </a:effectRef>
          <a:fontRef idx="minor">
            <a:schemeClr val="tx1"/>
          </a:fontRef>
        </p:style>
      </p:cxnSp>
      <p:sp>
        <p:nvSpPr>
          <p:cNvPr id="11" name="Oval 10">
            <a:extLst>
              <a:ext uri="{FF2B5EF4-FFF2-40B4-BE49-F238E27FC236}">
                <a16:creationId xmlns:a16="http://schemas.microsoft.com/office/drawing/2014/main" id="{55E4793E-A713-561A-AA40-33669D2FDCCC}"/>
              </a:ext>
            </a:extLst>
          </p:cNvPr>
          <p:cNvSpPr/>
          <p:nvPr/>
        </p:nvSpPr>
        <p:spPr>
          <a:xfrm>
            <a:off x="6560154" y="2060749"/>
            <a:ext cx="162370" cy="179461"/>
          </a:xfrm>
          <a:prstGeom prst="ellipse">
            <a:avLst/>
          </a:prstGeom>
          <a:solidFill>
            <a:srgbClr val="7BB0F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5484479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BA2403D0-CDCA-E819-55AC-4BE4E4EB7BC9}"/>
              </a:ext>
            </a:extLst>
          </p:cNvPr>
          <p:cNvPicPr>
            <a:picLocks noChangeAspect="1"/>
          </p:cNvPicPr>
          <p:nvPr/>
        </p:nvPicPr>
        <p:blipFill>
          <a:blip r:embed="rId2"/>
          <a:stretch>
            <a:fillRect/>
          </a:stretch>
        </p:blipFill>
        <p:spPr>
          <a:xfrm>
            <a:off x="4137237" y="0"/>
            <a:ext cx="7133171" cy="5170510"/>
          </a:xfrm>
          <a:prstGeom prst="rect">
            <a:avLst/>
          </a:prstGeom>
        </p:spPr>
      </p:pic>
      <p:sp>
        <p:nvSpPr>
          <p:cNvPr id="5" name="Title 4">
            <a:extLst>
              <a:ext uri="{FF2B5EF4-FFF2-40B4-BE49-F238E27FC236}">
                <a16:creationId xmlns:a16="http://schemas.microsoft.com/office/drawing/2014/main" id="{D4BAB316-31AE-96FE-7566-0845D070651A}"/>
              </a:ext>
            </a:extLst>
          </p:cNvPr>
          <p:cNvSpPr>
            <a:spLocks noGrp="1"/>
          </p:cNvSpPr>
          <p:nvPr>
            <p:ph type="title"/>
          </p:nvPr>
        </p:nvSpPr>
        <p:spPr>
          <a:xfrm>
            <a:off x="1244175" y="595335"/>
            <a:ext cx="4622471" cy="2384319"/>
          </a:xfrm>
        </p:spPr>
        <p:txBody>
          <a:bodyPr/>
          <a:lstStyle/>
          <a:p>
            <a:r>
              <a:rPr lang="en-US" dirty="0"/>
              <a:t>Gas turbine</a:t>
            </a:r>
            <a:br>
              <a:rPr lang="en-US" dirty="0"/>
            </a:br>
            <a:r>
              <a:rPr lang="en-US" dirty="0"/>
              <a:t>fuels</a:t>
            </a:r>
          </a:p>
        </p:txBody>
      </p:sp>
      <p:sp>
        <p:nvSpPr>
          <p:cNvPr id="3" name="Footer Placeholder 2">
            <a:extLst>
              <a:ext uri="{FF2B5EF4-FFF2-40B4-BE49-F238E27FC236}">
                <a16:creationId xmlns:a16="http://schemas.microsoft.com/office/drawing/2014/main" id="{FE2979DA-81FC-50F1-59FA-87B563E7B47E}"/>
              </a:ext>
            </a:extLst>
          </p:cNvPr>
          <p:cNvSpPr>
            <a:spLocks noGrp="1"/>
          </p:cNvSpPr>
          <p:nvPr>
            <p:ph type="ftr" sz="quarter" idx="11"/>
          </p:nvPr>
        </p:nvSpPr>
        <p:spPr>
          <a:xfrm rot="16200000">
            <a:off x="-2009849" y="3308393"/>
            <a:ext cx="5170509" cy="333752"/>
          </a:xfrm>
        </p:spPr>
        <p:txBody>
          <a:bodyPr/>
          <a:lstStyle/>
          <a:p>
            <a:r>
              <a:rPr lang="en-US" sz="1100" dirty="0"/>
              <a:t>GAS TURBINE</a:t>
            </a:r>
          </a:p>
        </p:txBody>
      </p:sp>
      <p:sp>
        <p:nvSpPr>
          <p:cNvPr id="6" name="Text Placeholder 5">
            <a:extLst>
              <a:ext uri="{FF2B5EF4-FFF2-40B4-BE49-F238E27FC236}">
                <a16:creationId xmlns:a16="http://schemas.microsoft.com/office/drawing/2014/main" id="{5E89EAAF-B063-6C60-08AA-ACF274EFF39E}"/>
              </a:ext>
            </a:extLst>
          </p:cNvPr>
          <p:cNvSpPr>
            <a:spLocks noGrp="1"/>
          </p:cNvSpPr>
          <p:nvPr>
            <p:ph type="body" sz="quarter" idx="14"/>
          </p:nvPr>
        </p:nvSpPr>
        <p:spPr>
          <a:xfrm>
            <a:off x="1164923" y="2752910"/>
            <a:ext cx="2721367" cy="3490493"/>
          </a:xfrm>
        </p:spPr>
        <p:txBody>
          <a:bodyPr/>
          <a:lstStyle/>
          <a:p>
            <a:r>
              <a:rPr lang="en-US" dirty="0"/>
              <a:t>Gas Turbine typical uses high octane fuels. Care should be taken that the oil fuel should not contain moisture and suspended impurities. The various paraffins used in gas turbine are methane, ethane, propane, octane (gasoline) and dodecane (kerosene oil). Out of these gasoline and kerosene or blend of the two are commonly used.</a:t>
            </a:r>
          </a:p>
          <a:p>
            <a:endParaRPr lang="en-US" dirty="0"/>
          </a:p>
          <a:p>
            <a:endParaRPr lang="en-US" dirty="0"/>
          </a:p>
          <a:p>
            <a:endParaRPr lang="en-US" dirty="0"/>
          </a:p>
        </p:txBody>
      </p:sp>
    </p:spTree>
    <p:extLst>
      <p:ext uri="{BB962C8B-B14F-4D97-AF65-F5344CB8AC3E}">
        <p14:creationId xmlns:p14="http://schemas.microsoft.com/office/powerpoint/2010/main" val="327676961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a:extLst>
              <a:ext uri="{FF2B5EF4-FFF2-40B4-BE49-F238E27FC236}">
                <a16:creationId xmlns:a16="http://schemas.microsoft.com/office/drawing/2014/main" id="{61DE249B-48F1-6560-52D1-67A8C0BFAB56}"/>
              </a:ext>
            </a:extLst>
          </p:cNvPr>
          <p:cNvPicPr>
            <a:picLocks noGrp="1" noChangeAspect="1"/>
          </p:cNvPicPr>
          <p:nvPr>
            <p:ph type="pic" sz="quarter" idx="16"/>
          </p:nvPr>
        </p:nvPicPr>
        <p:blipFill>
          <a:blip r:embed="rId2">
            <a:extLst>
              <a:ext uri="{BEBA8EAE-BF5A-486C-A8C5-ECC9F3942E4B}">
                <a14:imgProps xmlns:a14="http://schemas.microsoft.com/office/drawing/2010/main">
                  <a14:imgLayer r:embed="rId3">
                    <a14:imgEffect>
                      <a14:brightnessContrast bright="24000"/>
                    </a14:imgEffect>
                  </a14:imgLayer>
                </a14:imgProps>
              </a:ext>
            </a:extLst>
          </a:blip>
          <a:srcRect t="14615" b="14615"/>
          <a:stretch/>
        </p:blipFill>
        <p:spPr>
          <a:xfrm>
            <a:off x="1082406" y="890014"/>
            <a:ext cx="10701065" cy="5170510"/>
          </a:xfrm>
        </p:spPr>
      </p:pic>
      <p:sp>
        <p:nvSpPr>
          <p:cNvPr id="5" name="Title 4">
            <a:extLst>
              <a:ext uri="{FF2B5EF4-FFF2-40B4-BE49-F238E27FC236}">
                <a16:creationId xmlns:a16="http://schemas.microsoft.com/office/drawing/2014/main" id="{F28A19C7-2D84-854E-E6D1-A6E7DC27E8AB}"/>
              </a:ext>
            </a:extLst>
          </p:cNvPr>
          <p:cNvSpPr>
            <a:spLocks noGrp="1"/>
          </p:cNvSpPr>
          <p:nvPr>
            <p:ph type="title"/>
          </p:nvPr>
        </p:nvSpPr>
        <p:spPr>
          <a:xfrm>
            <a:off x="1083196" y="649990"/>
            <a:ext cx="10126933" cy="425138"/>
          </a:xfrm>
        </p:spPr>
        <p:txBody>
          <a:bodyPr/>
          <a:lstStyle/>
          <a:p>
            <a:r>
              <a:rPr lang="en-US" dirty="0"/>
              <a:t>EFFICIENCY OF</a:t>
            </a:r>
          </a:p>
        </p:txBody>
      </p:sp>
      <p:sp>
        <p:nvSpPr>
          <p:cNvPr id="3" name="Footer Placeholder 2">
            <a:extLst>
              <a:ext uri="{FF2B5EF4-FFF2-40B4-BE49-F238E27FC236}">
                <a16:creationId xmlns:a16="http://schemas.microsoft.com/office/drawing/2014/main" id="{0867371D-F97C-8E07-B902-341C0EA0180F}"/>
              </a:ext>
            </a:extLst>
          </p:cNvPr>
          <p:cNvSpPr>
            <a:spLocks noGrp="1"/>
          </p:cNvSpPr>
          <p:nvPr>
            <p:ph type="ftr" sz="quarter" idx="11"/>
          </p:nvPr>
        </p:nvSpPr>
        <p:spPr>
          <a:xfrm rot="16200000">
            <a:off x="-2009849" y="3308393"/>
            <a:ext cx="5170509" cy="333752"/>
          </a:xfrm>
        </p:spPr>
        <p:txBody>
          <a:bodyPr/>
          <a:lstStyle/>
          <a:p>
            <a:r>
              <a:rPr lang="en-US" sz="1100" dirty="0"/>
              <a:t>GAS TURBINE</a:t>
            </a:r>
          </a:p>
        </p:txBody>
      </p:sp>
      <p:sp>
        <p:nvSpPr>
          <p:cNvPr id="6" name="Text Placeholder 5">
            <a:extLst>
              <a:ext uri="{FF2B5EF4-FFF2-40B4-BE49-F238E27FC236}">
                <a16:creationId xmlns:a16="http://schemas.microsoft.com/office/drawing/2014/main" id="{9FA9B96F-9CDB-46D6-1B1D-786E6CB840E1}"/>
              </a:ext>
            </a:extLst>
          </p:cNvPr>
          <p:cNvSpPr>
            <a:spLocks noGrp="1"/>
          </p:cNvSpPr>
          <p:nvPr>
            <p:ph type="body" sz="quarter" idx="18"/>
          </p:nvPr>
        </p:nvSpPr>
        <p:spPr>
          <a:xfrm>
            <a:off x="1082406" y="5856042"/>
            <a:ext cx="10126918" cy="425138"/>
          </a:xfrm>
        </p:spPr>
        <p:txBody>
          <a:bodyPr/>
          <a:lstStyle/>
          <a:p>
            <a:r>
              <a:rPr lang="en-US" dirty="0"/>
              <a:t>A GAS TURBINE</a:t>
            </a:r>
          </a:p>
        </p:txBody>
      </p:sp>
    </p:spTree>
    <p:extLst>
      <p:ext uri="{BB962C8B-B14F-4D97-AF65-F5344CB8AC3E}">
        <p14:creationId xmlns:p14="http://schemas.microsoft.com/office/powerpoint/2010/main" val="33253328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460DF69-AAFF-E26D-8834-549E11EAEC48}"/>
              </a:ext>
            </a:extLst>
          </p:cNvPr>
          <p:cNvSpPr/>
          <p:nvPr/>
        </p:nvSpPr>
        <p:spPr>
          <a:xfrm rot="238043">
            <a:off x="6598174" y="479511"/>
            <a:ext cx="4785234" cy="64262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103DD164-EB06-8890-DA14-DC67BF1B5E21}"/>
              </a:ext>
            </a:extLst>
          </p:cNvPr>
          <p:cNvSpPr>
            <a:spLocks noGrp="1"/>
          </p:cNvSpPr>
          <p:nvPr>
            <p:ph type="title"/>
          </p:nvPr>
        </p:nvSpPr>
        <p:spPr>
          <a:xfrm>
            <a:off x="6951451" y="1111198"/>
            <a:ext cx="3625840" cy="1938529"/>
          </a:xfrm>
        </p:spPr>
        <p:txBody>
          <a:bodyPr/>
          <a:lstStyle/>
          <a:p>
            <a:r>
              <a:rPr lang="en-US" dirty="0"/>
              <a:t>BLADE EFFICIENCY</a:t>
            </a:r>
          </a:p>
        </p:txBody>
      </p:sp>
      <p:sp>
        <p:nvSpPr>
          <p:cNvPr id="3" name="Footer Placeholder 2">
            <a:extLst>
              <a:ext uri="{FF2B5EF4-FFF2-40B4-BE49-F238E27FC236}">
                <a16:creationId xmlns:a16="http://schemas.microsoft.com/office/drawing/2014/main" id="{531A7655-F5CF-8E37-FAB8-42724BCB695E}"/>
              </a:ext>
            </a:extLst>
          </p:cNvPr>
          <p:cNvSpPr>
            <a:spLocks noGrp="1"/>
          </p:cNvSpPr>
          <p:nvPr>
            <p:ph type="ftr" sz="quarter" idx="11"/>
          </p:nvPr>
        </p:nvSpPr>
        <p:spPr>
          <a:xfrm rot="16200000">
            <a:off x="-2009849" y="3308393"/>
            <a:ext cx="5170509" cy="333752"/>
          </a:xfrm>
        </p:spPr>
        <p:txBody>
          <a:bodyPr/>
          <a:lstStyle/>
          <a:p>
            <a:r>
              <a:rPr lang="en-US" sz="1100" dirty="0"/>
              <a:t>GAS TURBINE</a:t>
            </a:r>
          </a:p>
        </p:txBody>
      </p:sp>
      <p:sp>
        <p:nvSpPr>
          <p:cNvPr id="6" name="Text Placeholder 5">
            <a:extLst>
              <a:ext uri="{FF2B5EF4-FFF2-40B4-BE49-F238E27FC236}">
                <a16:creationId xmlns:a16="http://schemas.microsoft.com/office/drawing/2014/main" id="{F8053CB4-86EF-FF02-4968-4CDF3FB79F36}"/>
              </a:ext>
            </a:extLst>
          </p:cNvPr>
          <p:cNvSpPr>
            <a:spLocks noGrp="1"/>
          </p:cNvSpPr>
          <p:nvPr>
            <p:ph type="body" sz="quarter" idx="14"/>
          </p:nvPr>
        </p:nvSpPr>
        <p:spPr>
          <a:xfrm>
            <a:off x="7643739" y="3397157"/>
            <a:ext cx="3439598" cy="2040209"/>
          </a:xfrm>
        </p:spPr>
        <p:txBody>
          <a:bodyPr/>
          <a:lstStyle/>
          <a:p>
            <a:pPr marL="457200" lvl="1" indent="0">
              <a:buNone/>
            </a:pPr>
            <a:r>
              <a:rPr lang="en-US" sz="1600" dirty="0">
                <a:latin typeface="DDG_ProximaNova"/>
              </a:rPr>
              <a:t>The energy supplied per stage of an impulse turbine is equal to kinetic energy given by η</a:t>
            </a:r>
            <a:r>
              <a:rPr lang="en-US" sz="1600" baseline="-25000" dirty="0">
                <a:latin typeface="DDG_ProximaNova"/>
              </a:rPr>
              <a:t>b</a:t>
            </a:r>
            <a:r>
              <a:rPr lang="en-US" sz="1600" dirty="0">
                <a:latin typeface="DDG_ProximaNova"/>
              </a:rPr>
              <a:t>=ṁC</a:t>
            </a:r>
            <a:r>
              <a:rPr lang="en-US" sz="1600" baseline="-25000" dirty="0">
                <a:latin typeface="DDG_ProximaNova"/>
              </a:rPr>
              <a:t>2</a:t>
            </a:r>
            <a:r>
              <a:rPr lang="en-US" sz="1600" dirty="0">
                <a:latin typeface="DDG_ProximaNova"/>
              </a:rPr>
              <a:t>i</a:t>
            </a:r>
            <a:r>
              <a:rPr lang="en-US" sz="1600" baseline="-25000" dirty="0">
                <a:latin typeface="DDG_ProximaNova"/>
              </a:rPr>
              <a:t>2 </a:t>
            </a:r>
            <a:r>
              <a:rPr lang="en-US" sz="1600" dirty="0">
                <a:latin typeface="DDG_ProximaNova"/>
              </a:rPr>
              <a:t> and assuming that the kinetic energy leaving the stage is wasted.</a:t>
            </a:r>
          </a:p>
        </p:txBody>
      </p:sp>
      <p:sp>
        <p:nvSpPr>
          <p:cNvPr id="10" name="Rectangle 9">
            <a:extLst>
              <a:ext uri="{FF2B5EF4-FFF2-40B4-BE49-F238E27FC236}">
                <a16:creationId xmlns:a16="http://schemas.microsoft.com/office/drawing/2014/main" id="{16676A04-D209-5312-C7E1-8B4722228922}"/>
              </a:ext>
            </a:extLst>
          </p:cNvPr>
          <p:cNvSpPr/>
          <p:nvPr/>
        </p:nvSpPr>
        <p:spPr>
          <a:xfrm rot="296264">
            <a:off x="1220826" y="-365760"/>
            <a:ext cx="4785234" cy="642628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4">
            <a:extLst>
              <a:ext uri="{FF2B5EF4-FFF2-40B4-BE49-F238E27FC236}">
                <a16:creationId xmlns:a16="http://schemas.microsoft.com/office/drawing/2014/main" id="{4DE8505F-3DCA-7DB4-0A88-FB88059D3F42}"/>
              </a:ext>
            </a:extLst>
          </p:cNvPr>
          <p:cNvSpPr txBox="1">
            <a:spLocks/>
          </p:cNvSpPr>
          <p:nvPr/>
        </p:nvSpPr>
        <p:spPr>
          <a:xfrm>
            <a:off x="2540274" y="-186665"/>
            <a:ext cx="3625840" cy="1938529"/>
          </a:xfrm>
          <a:prstGeom prst="rect">
            <a:avLst/>
          </a:prstGeom>
          <a:effectLst/>
        </p:spPr>
        <p:txBody>
          <a:bodyPr vert="horz" lIns="0" tIns="0" rIns="0" bIns="0" rtlCol="0" anchor="b">
            <a:noAutofit/>
          </a:bodyPr>
          <a:lstStyle>
            <a:lvl1pPr algn="l" defTabSz="457200" rtl="0" eaLnBrk="1" latinLnBrk="0" hangingPunct="1">
              <a:lnSpc>
                <a:spcPct val="75000"/>
              </a:lnSpc>
              <a:spcBef>
                <a:spcPct val="0"/>
              </a:spcBef>
              <a:buNone/>
              <a:defRPr sz="4800" b="0" i="0" kern="1200" cap="all" spc="0" baseline="0">
                <a:ln w="3175" cmpd="sng">
                  <a:noFill/>
                </a:ln>
                <a:solidFill>
                  <a:schemeClr val="bg1"/>
                </a:solidFill>
                <a:effectLst/>
                <a:latin typeface="+mj-lt"/>
                <a:ea typeface="MS PMincho" panose="02020600040205080304" pitchFamily="18" charset="-128"/>
                <a:cs typeface="Mangal" panose="02040503050203030202" pitchFamily="18" charset="0"/>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Isentropic Efficiency</a:t>
            </a:r>
          </a:p>
        </p:txBody>
      </p:sp>
      <p:sp>
        <p:nvSpPr>
          <p:cNvPr id="14" name="Text Placeholder 5">
            <a:extLst>
              <a:ext uri="{FF2B5EF4-FFF2-40B4-BE49-F238E27FC236}">
                <a16:creationId xmlns:a16="http://schemas.microsoft.com/office/drawing/2014/main" id="{6F73A2B8-7EF3-5667-AD00-5B2E27F3D2D6}"/>
              </a:ext>
            </a:extLst>
          </p:cNvPr>
          <p:cNvSpPr txBox="1">
            <a:spLocks/>
          </p:cNvSpPr>
          <p:nvPr/>
        </p:nvSpPr>
        <p:spPr>
          <a:xfrm>
            <a:off x="1918672" y="2272439"/>
            <a:ext cx="3439598" cy="2040209"/>
          </a:xfrm>
          <a:prstGeom prst="rect">
            <a:avLst/>
          </a:prstGeom>
        </p:spPr>
        <p:txBody>
          <a:bodyPr vert="horz" lIns="0" tIns="0" rIns="0" bIns="0" rtlCol="0" anchor="t">
            <a:noAutofit/>
          </a:bodyPr>
          <a:lstStyle>
            <a:lvl1pPr marL="285750" indent="-285750" algn="l" defTabSz="457200" rtl="0" eaLnBrk="1" latinLnBrk="0" hangingPunct="1">
              <a:spcBef>
                <a:spcPct val="20000"/>
              </a:spcBef>
              <a:spcAft>
                <a:spcPts val="600"/>
              </a:spcAft>
              <a:buClr>
                <a:schemeClr val="bg1"/>
              </a:buClr>
              <a:buSzPct val="115000"/>
              <a:buFont typeface="Courier New" panose="02070309020205020404" pitchFamily="49" charset="0"/>
              <a:buChar char="o"/>
              <a:defRPr sz="1400" b="0" i="0" kern="1200" cap="none">
                <a:solidFill>
                  <a:schemeClr val="bg1"/>
                </a:solidFill>
                <a:effectLst/>
                <a:latin typeface="+mn-lt"/>
                <a:ea typeface="+mn-ea"/>
                <a:cs typeface="Mangal" panose="02040503050203030202" pitchFamily="18" charset="0"/>
              </a:defRPr>
            </a:lvl1pPr>
            <a:lvl2pPr marL="742950" indent="-285750" algn="l" defTabSz="457200" rtl="0" eaLnBrk="1" latinLnBrk="0" hangingPunct="1">
              <a:spcBef>
                <a:spcPct val="20000"/>
              </a:spcBef>
              <a:spcAft>
                <a:spcPts val="600"/>
              </a:spcAft>
              <a:buClr>
                <a:schemeClr val="bg1"/>
              </a:buClr>
              <a:buSzPct val="115000"/>
              <a:buFont typeface="Courier New" panose="02070309020205020404" pitchFamily="49" charset="0"/>
              <a:buChar char="o"/>
              <a:defRPr sz="1400" b="0" i="0" kern="1200" cap="none">
                <a:solidFill>
                  <a:schemeClr val="bg1"/>
                </a:solidFill>
                <a:effectLst/>
                <a:latin typeface="+mn-lt"/>
                <a:ea typeface="+mn-ea"/>
                <a:cs typeface="Mangal" panose="02040503050203030202" pitchFamily="18" charset="0"/>
              </a:defRPr>
            </a:lvl2pPr>
            <a:lvl3pPr marL="1200150" indent="-285750" algn="l" defTabSz="457200" rtl="0" eaLnBrk="1" latinLnBrk="0" hangingPunct="1">
              <a:spcBef>
                <a:spcPct val="20000"/>
              </a:spcBef>
              <a:spcAft>
                <a:spcPts val="600"/>
              </a:spcAft>
              <a:buClr>
                <a:schemeClr val="bg1"/>
              </a:buClr>
              <a:buSzPct val="115000"/>
              <a:buFont typeface="Courier New" panose="02070309020205020404" pitchFamily="49" charset="0"/>
              <a:buChar char="o"/>
              <a:defRPr sz="1400" b="0" i="0" kern="1200" cap="none">
                <a:solidFill>
                  <a:schemeClr val="bg1"/>
                </a:solidFill>
                <a:effectLst/>
                <a:latin typeface="+mn-lt"/>
                <a:ea typeface="+mn-ea"/>
                <a:cs typeface="Mangal" panose="02040503050203030202" pitchFamily="18" charset="0"/>
              </a:defRPr>
            </a:lvl3pPr>
            <a:lvl4pPr marL="1543050" indent="-171450" algn="l" defTabSz="457200" rtl="0" eaLnBrk="1" latinLnBrk="0" hangingPunct="1">
              <a:spcBef>
                <a:spcPct val="20000"/>
              </a:spcBef>
              <a:spcAft>
                <a:spcPts val="600"/>
              </a:spcAft>
              <a:buClr>
                <a:schemeClr val="bg1"/>
              </a:buClr>
              <a:buSzPct val="115000"/>
              <a:buFont typeface="Courier New" panose="02070309020205020404" pitchFamily="49" charset="0"/>
              <a:buChar char="o"/>
              <a:defRPr sz="1400" b="0" i="0" kern="1200" cap="none">
                <a:solidFill>
                  <a:schemeClr val="bg1"/>
                </a:solidFill>
                <a:effectLst/>
                <a:latin typeface="+mn-lt"/>
                <a:ea typeface="+mn-ea"/>
                <a:cs typeface="Mangal" panose="02040503050203030202" pitchFamily="18" charset="0"/>
              </a:defRPr>
            </a:lvl4pPr>
            <a:lvl5pPr marL="2000250" indent="-171450" algn="l" defTabSz="457200" rtl="0" eaLnBrk="1" latinLnBrk="0" hangingPunct="1">
              <a:spcBef>
                <a:spcPct val="20000"/>
              </a:spcBef>
              <a:spcAft>
                <a:spcPts val="600"/>
              </a:spcAft>
              <a:buClr>
                <a:schemeClr val="bg1"/>
              </a:buClr>
              <a:buSzPct val="115000"/>
              <a:buFont typeface="Courier New" panose="02070309020205020404" pitchFamily="49" charset="0"/>
              <a:buChar char="o"/>
              <a:defRPr sz="1400" b="0" i="0" kern="1200" cap="none">
                <a:solidFill>
                  <a:schemeClr val="bg1"/>
                </a:solidFill>
                <a:effectLst/>
                <a:latin typeface="+mn-lt"/>
                <a:ea typeface="+mn-ea"/>
                <a:cs typeface="Mangal" panose="02040503050203030202" pitchFamily="18" charset="0"/>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a:lstStyle>
          <a:p>
            <a:pPr marL="0" indent="0">
              <a:buNone/>
            </a:pPr>
            <a:r>
              <a:rPr lang="en-US" sz="1600" dirty="0">
                <a:solidFill>
                  <a:srgbClr val="FFFFFF"/>
                </a:solidFill>
                <a:latin typeface="DDG_ProximaNova"/>
              </a:rPr>
              <a:t>Isentropic efficiency of a turbine is the ratio of the actual work output of the turbine to the work output that would be achieved if the turbine operated under ideal isentropic conditions. It measures how closely the turbine's performance approaches the ideal scenario where no energy is lost.</a:t>
            </a:r>
            <a:endParaRPr lang="en-US" sz="1600" dirty="0"/>
          </a:p>
        </p:txBody>
      </p:sp>
      <p:grpSp>
        <p:nvGrpSpPr>
          <p:cNvPr id="19" name="Group 18">
            <a:extLst>
              <a:ext uri="{FF2B5EF4-FFF2-40B4-BE49-F238E27FC236}">
                <a16:creationId xmlns:a16="http://schemas.microsoft.com/office/drawing/2014/main" id="{09FF1DB2-12BB-A262-9B95-0317C71859EA}"/>
              </a:ext>
            </a:extLst>
          </p:cNvPr>
          <p:cNvGrpSpPr/>
          <p:nvPr/>
        </p:nvGrpSpPr>
        <p:grpSpPr>
          <a:xfrm rot="21434978">
            <a:off x="5717377" y="2824871"/>
            <a:ext cx="1306768" cy="1643231"/>
            <a:chOff x="5788867" y="2824871"/>
            <a:chExt cx="1306768" cy="1643231"/>
          </a:xfrm>
        </p:grpSpPr>
        <p:cxnSp>
          <p:nvCxnSpPr>
            <p:cNvPr id="16" name="Straight Connector 15">
              <a:extLst>
                <a:ext uri="{FF2B5EF4-FFF2-40B4-BE49-F238E27FC236}">
                  <a16:creationId xmlns:a16="http://schemas.microsoft.com/office/drawing/2014/main" id="{5947B823-5E40-83D8-66D1-B72ABB044C5A}"/>
                </a:ext>
              </a:extLst>
            </p:cNvPr>
            <p:cNvCxnSpPr>
              <a:cxnSpLocks/>
            </p:cNvCxnSpPr>
            <p:nvPr/>
          </p:nvCxnSpPr>
          <p:spPr>
            <a:xfrm flipH="1">
              <a:off x="6284963" y="2824871"/>
              <a:ext cx="168122" cy="1643231"/>
            </a:xfrm>
            <a:prstGeom prst="line">
              <a:avLst/>
            </a:prstGeom>
            <a:ln w="19050">
              <a:prstDash val="sysDot"/>
            </a:ln>
          </p:spPr>
          <p:style>
            <a:lnRef idx="1">
              <a:schemeClr val="accent2"/>
            </a:lnRef>
            <a:fillRef idx="0">
              <a:schemeClr val="accent2"/>
            </a:fillRef>
            <a:effectRef idx="0">
              <a:schemeClr val="accent2"/>
            </a:effectRef>
            <a:fontRef idx="minor">
              <a:schemeClr val="tx1"/>
            </a:fontRef>
          </p:style>
        </p:cxnSp>
        <p:sp>
          <p:nvSpPr>
            <p:cNvPr id="17" name="TextBox 16">
              <a:extLst>
                <a:ext uri="{FF2B5EF4-FFF2-40B4-BE49-F238E27FC236}">
                  <a16:creationId xmlns:a16="http://schemas.microsoft.com/office/drawing/2014/main" id="{091B6CC7-E4E1-A527-3A43-E33DEA28352D}"/>
                </a:ext>
              </a:extLst>
            </p:cNvPr>
            <p:cNvSpPr txBox="1"/>
            <p:nvPr/>
          </p:nvSpPr>
          <p:spPr>
            <a:xfrm>
              <a:off x="5788867" y="3292544"/>
              <a:ext cx="1306768" cy="800219"/>
            </a:xfrm>
            <a:prstGeom prst="rect">
              <a:avLst/>
            </a:prstGeom>
            <a:noFill/>
          </p:spPr>
          <p:txBody>
            <a:bodyPr wrap="none" rtlCol="0">
              <a:spAutoFit/>
            </a:bodyPr>
            <a:lstStyle/>
            <a:p>
              <a:r>
                <a:rPr lang="en-US" sz="4600" spc="1200" dirty="0">
                  <a:solidFill>
                    <a:schemeClr val="bg1"/>
                  </a:solidFill>
                </a:rPr>
                <a:t>VS</a:t>
              </a:r>
            </a:p>
          </p:txBody>
        </p:sp>
      </p:grpSp>
    </p:spTree>
    <p:extLst>
      <p:ext uri="{BB962C8B-B14F-4D97-AF65-F5344CB8AC3E}">
        <p14:creationId xmlns:p14="http://schemas.microsoft.com/office/powerpoint/2010/main" val="22364766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EC5BF20-79BF-6A5D-03AA-7916D10EA659}"/>
              </a:ext>
            </a:extLst>
          </p:cNvPr>
          <p:cNvSpPr/>
          <p:nvPr/>
        </p:nvSpPr>
        <p:spPr>
          <a:xfrm>
            <a:off x="869580" y="2160494"/>
            <a:ext cx="6058563" cy="469750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02B7FF3B-DDB8-4D48-834F-A6A50796E855}"/>
              </a:ext>
            </a:extLst>
          </p:cNvPr>
          <p:cNvSpPr/>
          <p:nvPr/>
        </p:nvSpPr>
        <p:spPr>
          <a:xfrm>
            <a:off x="1667557" y="4016856"/>
            <a:ext cx="1430520" cy="188676"/>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ACB1996B-08DB-F511-A9DF-1C8F164ABC08}"/>
              </a:ext>
            </a:extLst>
          </p:cNvPr>
          <p:cNvSpPr>
            <a:spLocks noGrp="1"/>
          </p:cNvSpPr>
          <p:nvPr>
            <p:ph type="title"/>
          </p:nvPr>
        </p:nvSpPr>
        <p:spPr>
          <a:xfrm>
            <a:off x="1226150" y="520000"/>
            <a:ext cx="4758948" cy="1938529"/>
          </a:xfrm>
        </p:spPr>
        <p:txBody>
          <a:bodyPr/>
          <a:lstStyle/>
          <a:p>
            <a:r>
              <a:rPr lang="en-US" dirty="0"/>
              <a:t>PROCESS OF</a:t>
            </a:r>
            <a:br>
              <a:rPr lang="en-US" dirty="0"/>
            </a:br>
            <a:r>
              <a:rPr lang="en-US" dirty="0"/>
              <a:t>INTERCOOLING</a:t>
            </a:r>
          </a:p>
        </p:txBody>
      </p:sp>
      <p:sp>
        <p:nvSpPr>
          <p:cNvPr id="3" name="Footer Placeholder 2">
            <a:extLst>
              <a:ext uri="{FF2B5EF4-FFF2-40B4-BE49-F238E27FC236}">
                <a16:creationId xmlns:a16="http://schemas.microsoft.com/office/drawing/2014/main" id="{C09F76FD-99B6-B800-89C1-F93735D126B5}"/>
              </a:ext>
            </a:extLst>
          </p:cNvPr>
          <p:cNvSpPr>
            <a:spLocks noGrp="1"/>
          </p:cNvSpPr>
          <p:nvPr>
            <p:ph type="ftr" sz="quarter" idx="11"/>
          </p:nvPr>
        </p:nvSpPr>
        <p:spPr>
          <a:xfrm rot="16200000">
            <a:off x="-2009849" y="3308393"/>
            <a:ext cx="5170509" cy="333752"/>
          </a:xfrm>
        </p:spPr>
        <p:txBody>
          <a:bodyPr/>
          <a:lstStyle/>
          <a:p>
            <a:r>
              <a:rPr lang="en-US" dirty="0"/>
              <a:t>GAS TURBINE</a:t>
            </a:r>
          </a:p>
        </p:txBody>
      </p:sp>
      <p:sp>
        <p:nvSpPr>
          <p:cNvPr id="33" name="Text Placeholder 32">
            <a:extLst>
              <a:ext uri="{FF2B5EF4-FFF2-40B4-BE49-F238E27FC236}">
                <a16:creationId xmlns:a16="http://schemas.microsoft.com/office/drawing/2014/main" id="{22D31AFA-1E7C-94F2-7A81-4B357EB87183}"/>
              </a:ext>
            </a:extLst>
          </p:cNvPr>
          <p:cNvSpPr>
            <a:spLocks noGrp="1"/>
          </p:cNvSpPr>
          <p:nvPr>
            <p:ph type="body" sz="quarter" idx="17"/>
          </p:nvPr>
        </p:nvSpPr>
        <p:spPr>
          <a:xfrm>
            <a:off x="7731481" y="1489264"/>
            <a:ext cx="3439597" cy="2392155"/>
          </a:xfrm>
        </p:spPr>
        <p:txBody>
          <a:bodyPr/>
          <a:lstStyle/>
          <a:p>
            <a:r>
              <a:rPr lang="en-US" dirty="0"/>
              <a:t>Thermodynamic processes involved in multistage inter cooled compression are shown in figure. First stage compression occurs in low pressure compressor (LPC) and compressed air leaving LPC at ‘2’issent to intercooler where temperature of compressed air is lowered down to state 3 at constant pressure. In case of perfect intercooling the temperature after intercooling is brought down to ambient temperature i.e., temperature at 3 and 1 are same. Intercooler is a kind of heat exchanger where heat is picked up from high temperature compressed air. </a:t>
            </a:r>
          </a:p>
        </p:txBody>
      </p:sp>
      <p:grpSp>
        <p:nvGrpSpPr>
          <p:cNvPr id="10" name="Group 9">
            <a:extLst>
              <a:ext uri="{FF2B5EF4-FFF2-40B4-BE49-F238E27FC236}">
                <a16:creationId xmlns:a16="http://schemas.microsoft.com/office/drawing/2014/main" id="{89C013CE-9583-A838-E569-0C2625100A2E}"/>
              </a:ext>
            </a:extLst>
          </p:cNvPr>
          <p:cNvGrpSpPr/>
          <p:nvPr/>
        </p:nvGrpSpPr>
        <p:grpSpPr>
          <a:xfrm>
            <a:off x="2631919" y="2666775"/>
            <a:ext cx="4000500" cy="2349725"/>
            <a:chOff x="7406831" y="629392"/>
            <a:chExt cx="3758991" cy="1867798"/>
          </a:xfrm>
        </p:grpSpPr>
        <p:sp>
          <p:nvSpPr>
            <p:cNvPr id="11" name="Rectangle 10">
              <a:extLst>
                <a:ext uri="{FF2B5EF4-FFF2-40B4-BE49-F238E27FC236}">
                  <a16:creationId xmlns:a16="http://schemas.microsoft.com/office/drawing/2014/main" id="{0E854751-7D8A-2A95-DB74-9A7A979C6157}"/>
                </a:ext>
              </a:extLst>
            </p:cNvPr>
            <p:cNvSpPr/>
            <p:nvPr/>
          </p:nvSpPr>
          <p:spPr>
            <a:xfrm>
              <a:off x="7612083" y="1721922"/>
              <a:ext cx="3194462" cy="13062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apezoid 11">
              <a:extLst>
                <a:ext uri="{FF2B5EF4-FFF2-40B4-BE49-F238E27FC236}">
                  <a16:creationId xmlns:a16="http://schemas.microsoft.com/office/drawing/2014/main" id="{E2D933A2-3248-3947-7750-D07525B89675}"/>
                </a:ext>
              </a:extLst>
            </p:cNvPr>
            <p:cNvSpPr/>
            <p:nvPr/>
          </p:nvSpPr>
          <p:spPr>
            <a:xfrm rot="16200000" flipH="1">
              <a:off x="10010543" y="1341912"/>
              <a:ext cx="1353787" cy="956770"/>
            </a:xfrm>
            <a:prstGeom prst="trapezoi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r>
                <a:rPr lang="en-US" sz="1200" dirty="0"/>
                <a:t>TURBINE</a:t>
              </a:r>
            </a:p>
          </p:txBody>
        </p:sp>
        <p:cxnSp>
          <p:nvCxnSpPr>
            <p:cNvPr id="13" name="Connector: Elbow 12">
              <a:extLst>
                <a:ext uri="{FF2B5EF4-FFF2-40B4-BE49-F238E27FC236}">
                  <a16:creationId xmlns:a16="http://schemas.microsoft.com/office/drawing/2014/main" id="{1C8D86DE-DECF-98C8-49E5-D2AC206E9820}"/>
                </a:ext>
              </a:extLst>
            </p:cNvPr>
            <p:cNvCxnSpPr>
              <a:cxnSpLocks/>
            </p:cNvCxnSpPr>
            <p:nvPr/>
          </p:nvCxnSpPr>
          <p:spPr>
            <a:xfrm flipV="1">
              <a:off x="7675164" y="993069"/>
              <a:ext cx="992391" cy="73849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rapezoid 13">
              <a:extLst>
                <a:ext uri="{FF2B5EF4-FFF2-40B4-BE49-F238E27FC236}">
                  <a16:creationId xmlns:a16="http://schemas.microsoft.com/office/drawing/2014/main" id="{7AB87304-9B19-1F33-020C-E11920602019}"/>
                </a:ext>
              </a:extLst>
            </p:cNvPr>
            <p:cNvSpPr/>
            <p:nvPr/>
          </p:nvSpPr>
          <p:spPr>
            <a:xfrm rot="5400000">
              <a:off x="7208322" y="1341912"/>
              <a:ext cx="1353787" cy="956770"/>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vert="vert270" rtlCol="0" anchor="ctr"/>
            <a:lstStyle/>
            <a:p>
              <a:pPr algn="ctr"/>
              <a:r>
                <a:rPr lang="en-US" sz="1200" dirty="0"/>
                <a:t>H.P COMPRESSOR</a:t>
              </a:r>
            </a:p>
          </p:txBody>
        </p:sp>
        <p:cxnSp>
          <p:nvCxnSpPr>
            <p:cNvPr id="15" name="Connector: Elbow 14">
              <a:extLst>
                <a:ext uri="{FF2B5EF4-FFF2-40B4-BE49-F238E27FC236}">
                  <a16:creationId xmlns:a16="http://schemas.microsoft.com/office/drawing/2014/main" id="{3DF6FF52-84D5-96F4-5358-4235AB0C3B21}"/>
                </a:ext>
              </a:extLst>
            </p:cNvPr>
            <p:cNvCxnSpPr>
              <a:cxnSpLocks/>
            </p:cNvCxnSpPr>
            <p:nvPr/>
          </p:nvCxnSpPr>
          <p:spPr>
            <a:xfrm rot="16200000" flipH="1">
              <a:off x="9574027" y="644399"/>
              <a:ext cx="708060" cy="67804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Arrow: Curved Down 15">
              <a:extLst>
                <a:ext uri="{FF2B5EF4-FFF2-40B4-BE49-F238E27FC236}">
                  <a16:creationId xmlns:a16="http://schemas.microsoft.com/office/drawing/2014/main" id="{D43267AB-51D3-84B2-244A-49E111CDF381}"/>
                </a:ext>
              </a:extLst>
            </p:cNvPr>
            <p:cNvSpPr/>
            <p:nvPr/>
          </p:nvSpPr>
          <p:spPr>
            <a:xfrm>
              <a:off x="9186410" y="1530230"/>
              <a:ext cx="551395" cy="514011"/>
            </a:xfrm>
            <a:prstGeom prst="curvedDown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ectangle 16">
              <a:extLst>
                <a:ext uri="{FF2B5EF4-FFF2-40B4-BE49-F238E27FC236}">
                  <a16:creationId xmlns:a16="http://schemas.microsoft.com/office/drawing/2014/main" id="{CFAB098E-3730-C7E4-217D-CFE03184832E}"/>
                </a:ext>
              </a:extLst>
            </p:cNvPr>
            <p:cNvSpPr/>
            <p:nvPr/>
          </p:nvSpPr>
          <p:spPr>
            <a:xfrm>
              <a:off x="9169366" y="1721922"/>
              <a:ext cx="253043" cy="13062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W</a:t>
              </a:r>
            </a:p>
          </p:txBody>
        </p:sp>
        <p:sp>
          <p:nvSpPr>
            <p:cNvPr id="18" name="Rectangle: Diagonal Corners Snipped 17">
              <a:extLst>
                <a:ext uri="{FF2B5EF4-FFF2-40B4-BE49-F238E27FC236}">
                  <a16:creationId xmlns:a16="http://schemas.microsoft.com/office/drawing/2014/main" id="{EB304DF5-0995-2498-47D1-4C805FA22DAB}"/>
                </a:ext>
              </a:extLst>
            </p:cNvPr>
            <p:cNvSpPr/>
            <p:nvPr/>
          </p:nvSpPr>
          <p:spPr>
            <a:xfrm>
              <a:off x="8697415" y="629392"/>
              <a:ext cx="1196946" cy="514011"/>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COMBUSTOR</a:t>
              </a:r>
            </a:p>
          </p:txBody>
        </p:sp>
      </p:grpSp>
      <p:cxnSp>
        <p:nvCxnSpPr>
          <p:cNvPr id="22" name="Connector: Elbow 21">
            <a:extLst>
              <a:ext uri="{FF2B5EF4-FFF2-40B4-BE49-F238E27FC236}">
                <a16:creationId xmlns:a16="http://schemas.microsoft.com/office/drawing/2014/main" id="{ED07F53F-CFBF-5AA4-1F08-FF2FE0D2126F}"/>
              </a:ext>
            </a:extLst>
          </p:cNvPr>
          <p:cNvCxnSpPr>
            <a:cxnSpLocks/>
          </p:cNvCxnSpPr>
          <p:nvPr/>
        </p:nvCxnSpPr>
        <p:spPr>
          <a:xfrm rot="5400000" flipH="1" flipV="1">
            <a:off x="942670" y="3214540"/>
            <a:ext cx="895676" cy="521458"/>
          </a:xfrm>
          <a:prstGeom prst="bentConnector3">
            <a:avLst>
              <a:gd name="adj1" fmla="val 99283"/>
            </a:avLst>
          </a:prstGeom>
          <a:ln>
            <a:tailEnd type="triangle"/>
          </a:ln>
        </p:spPr>
        <p:style>
          <a:lnRef idx="1">
            <a:schemeClr val="accent1"/>
          </a:lnRef>
          <a:fillRef idx="0">
            <a:schemeClr val="accent1"/>
          </a:fillRef>
          <a:effectRef idx="0">
            <a:schemeClr val="accent1"/>
          </a:effectRef>
          <a:fontRef idx="minor">
            <a:schemeClr val="tx1"/>
          </a:fontRef>
        </p:style>
      </p:cxnSp>
      <p:sp>
        <p:nvSpPr>
          <p:cNvPr id="19" name="Trapezoid 18">
            <a:extLst>
              <a:ext uri="{FF2B5EF4-FFF2-40B4-BE49-F238E27FC236}">
                <a16:creationId xmlns:a16="http://schemas.microsoft.com/office/drawing/2014/main" id="{7BA199F4-0608-58FB-B23C-0357F2BDC12C}"/>
              </a:ext>
            </a:extLst>
          </p:cNvPr>
          <p:cNvSpPr/>
          <p:nvPr/>
        </p:nvSpPr>
        <p:spPr>
          <a:xfrm rot="5400000">
            <a:off x="678498" y="3639855"/>
            <a:ext cx="1703089" cy="1018241"/>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vert="vert270" rtlCol="0" anchor="ctr"/>
          <a:lstStyle/>
          <a:p>
            <a:pPr algn="ctr"/>
            <a:r>
              <a:rPr lang="en-US" sz="1200" dirty="0"/>
              <a:t>L.P</a:t>
            </a:r>
          </a:p>
          <a:p>
            <a:pPr algn="ctr"/>
            <a:r>
              <a:rPr lang="en-US" sz="1200" dirty="0"/>
              <a:t>COMPRESSOR</a:t>
            </a:r>
          </a:p>
        </p:txBody>
      </p:sp>
      <p:cxnSp>
        <p:nvCxnSpPr>
          <p:cNvPr id="32" name="Connector: Elbow 31">
            <a:extLst>
              <a:ext uri="{FF2B5EF4-FFF2-40B4-BE49-F238E27FC236}">
                <a16:creationId xmlns:a16="http://schemas.microsoft.com/office/drawing/2014/main" id="{3F0F9B67-B102-2DA2-E6EC-BDFDB5D41B3A}"/>
              </a:ext>
            </a:extLst>
          </p:cNvPr>
          <p:cNvCxnSpPr>
            <a:cxnSpLocks/>
          </p:cNvCxnSpPr>
          <p:nvPr/>
        </p:nvCxnSpPr>
        <p:spPr>
          <a:xfrm>
            <a:off x="2241594" y="3027431"/>
            <a:ext cx="745311" cy="331950"/>
          </a:xfrm>
          <a:prstGeom prst="bentConnector3">
            <a:avLst>
              <a:gd name="adj1" fmla="val 101449"/>
            </a:avLst>
          </a:prstGeom>
          <a:ln>
            <a:tailEnd type="triangle"/>
          </a:ln>
        </p:spPr>
        <p:style>
          <a:lnRef idx="1">
            <a:schemeClr val="accent1"/>
          </a:lnRef>
          <a:fillRef idx="0">
            <a:schemeClr val="accent1"/>
          </a:fillRef>
          <a:effectRef idx="0">
            <a:schemeClr val="accent1"/>
          </a:effectRef>
          <a:fontRef idx="minor">
            <a:schemeClr val="tx1"/>
          </a:fontRef>
        </p:style>
      </p:cxnSp>
      <p:sp>
        <p:nvSpPr>
          <p:cNvPr id="51" name="Rectangle: Diagonal Corners Snipped 50">
            <a:extLst>
              <a:ext uri="{FF2B5EF4-FFF2-40B4-BE49-F238E27FC236}">
                <a16:creationId xmlns:a16="http://schemas.microsoft.com/office/drawing/2014/main" id="{C316707A-9054-6D7F-C1F2-8AB87E181FA3}"/>
              </a:ext>
            </a:extLst>
          </p:cNvPr>
          <p:cNvSpPr/>
          <p:nvPr/>
        </p:nvSpPr>
        <p:spPr>
          <a:xfrm>
            <a:off x="1665285" y="2841144"/>
            <a:ext cx="1074525" cy="380724"/>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900" dirty="0"/>
              <a:t>INTERCOOLER</a:t>
            </a:r>
          </a:p>
        </p:txBody>
      </p:sp>
      <p:sp>
        <p:nvSpPr>
          <p:cNvPr id="52" name="TextBox 51">
            <a:extLst>
              <a:ext uri="{FF2B5EF4-FFF2-40B4-BE49-F238E27FC236}">
                <a16:creationId xmlns:a16="http://schemas.microsoft.com/office/drawing/2014/main" id="{3295B58B-3C60-EEF3-B776-66C0C1DA2758}"/>
              </a:ext>
            </a:extLst>
          </p:cNvPr>
          <p:cNvSpPr txBox="1"/>
          <p:nvPr/>
        </p:nvSpPr>
        <p:spPr>
          <a:xfrm>
            <a:off x="2032172" y="2556554"/>
            <a:ext cx="370614" cy="369332"/>
          </a:xfrm>
          <a:prstGeom prst="rect">
            <a:avLst/>
          </a:prstGeom>
          <a:noFill/>
        </p:spPr>
        <p:txBody>
          <a:bodyPr wrap="none" rtlCol="0">
            <a:spAutoFit/>
          </a:bodyPr>
          <a:lstStyle/>
          <a:p>
            <a:r>
              <a:rPr lang="en-US" dirty="0">
                <a:solidFill>
                  <a:schemeClr val="bg1"/>
                </a:solidFill>
              </a:rPr>
              <a:t>Q</a:t>
            </a:r>
          </a:p>
        </p:txBody>
      </p:sp>
      <p:cxnSp>
        <p:nvCxnSpPr>
          <p:cNvPr id="53" name="Straight Arrow Connector 52">
            <a:extLst>
              <a:ext uri="{FF2B5EF4-FFF2-40B4-BE49-F238E27FC236}">
                <a16:creationId xmlns:a16="http://schemas.microsoft.com/office/drawing/2014/main" id="{7A3F96AA-7715-27C4-4F45-2A6346A56236}"/>
              </a:ext>
            </a:extLst>
          </p:cNvPr>
          <p:cNvCxnSpPr/>
          <p:nvPr/>
        </p:nvCxnSpPr>
        <p:spPr>
          <a:xfrm flipV="1">
            <a:off x="2039163" y="2558491"/>
            <a:ext cx="0" cy="27249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2064224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CEEC66-7EEB-AA9D-6520-AA49141F6F12}"/>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E9836B4-CB7E-1A79-0698-684CDFDF82E1}"/>
              </a:ext>
            </a:extLst>
          </p:cNvPr>
          <p:cNvSpPr/>
          <p:nvPr/>
        </p:nvSpPr>
        <p:spPr>
          <a:xfrm>
            <a:off x="869580" y="2160494"/>
            <a:ext cx="6058563" cy="469750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C1F3ED91-7265-E8DF-4634-5A111450D58A}"/>
              </a:ext>
            </a:extLst>
          </p:cNvPr>
          <p:cNvSpPr/>
          <p:nvPr/>
        </p:nvSpPr>
        <p:spPr>
          <a:xfrm>
            <a:off x="4564588" y="4860137"/>
            <a:ext cx="1762198" cy="15388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E97CACE0-D930-277C-E29D-A048F4C9E8F8}"/>
              </a:ext>
            </a:extLst>
          </p:cNvPr>
          <p:cNvSpPr>
            <a:spLocks noGrp="1"/>
          </p:cNvSpPr>
          <p:nvPr>
            <p:ph type="title"/>
          </p:nvPr>
        </p:nvSpPr>
        <p:spPr>
          <a:xfrm>
            <a:off x="1226150" y="520000"/>
            <a:ext cx="4758948" cy="1938529"/>
          </a:xfrm>
        </p:spPr>
        <p:txBody>
          <a:bodyPr/>
          <a:lstStyle/>
          <a:p>
            <a:r>
              <a:rPr lang="en-US" dirty="0"/>
              <a:t>PROCESS OF</a:t>
            </a:r>
            <a:br>
              <a:rPr lang="en-US" dirty="0"/>
            </a:br>
            <a:r>
              <a:rPr lang="en-US" dirty="0"/>
              <a:t>REHEATING</a:t>
            </a:r>
          </a:p>
        </p:txBody>
      </p:sp>
      <p:sp>
        <p:nvSpPr>
          <p:cNvPr id="3" name="Footer Placeholder 2">
            <a:extLst>
              <a:ext uri="{FF2B5EF4-FFF2-40B4-BE49-F238E27FC236}">
                <a16:creationId xmlns:a16="http://schemas.microsoft.com/office/drawing/2014/main" id="{864D3F4D-18EC-3974-6DC7-0410D65802C2}"/>
              </a:ext>
            </a:extLst>
          </p:cNvPr>
          <p:cNvSpPr>
            <a:spLocks noGrp="1"/>
          </p:cNvSpPr>
          <p:nvPr>
            <p:ph type="ftr" sz="quarter" idx="11"/>
          </p:nvPr>
        </p:nvSpPr>
        <p:spPr>
          <a:xfrm rot="16200000">
            <a:off x="-2009849" y="3308393"/>
            <a:ext cx="5170509" cy="333752"/>
          </a:xfrm>
        </p:spPr>
        <p:txBody>
          <a:bodyPr/>
          <a:lstStyle/>
          <a:p>
            <a:r>
              <a:rPr lang="en-US" dirty="0"/>
              <a:t>GAS TURBINE</a:t>
            </a:r>
          </a:p>
        </p:txBody>
      </p:sp>
      <p:sp>
        <p:nvSpPr>
          <p:cNvPr id="33" name="Text Placeholder 32">
            <a:extLst>
              <a:ext uri="{FF2B5EF4-FFF2-40B4-BE49-F238E27FC236}">
                <a16:creationId xmlns:a16="http://schemas.microsoft.com/office/drawing/2014/main" id="{C8162974-B279-3F74-F51A-9A6F35C20BDC}"/>
              </a:ext>
            </a:extLst>
          </p:cNvPr>
          <p:cNvSpPr>
            <a:spLocks noGrp="1"/>
          </p:cNvSpPr>
          <p:nvPr>
            <p:ph type="body" sz="quarter" idx="17"/>
          </p:nvPr>
        </p:nvSpPr>
        <p:spPr>
          <a:xfrm>
            <a:off x="7685404" y="1489264"/>
            <a:ext cx="3439597" cy="2392155"/>
          </a:xfrm>
        </p:spPr>
        <p:txBody>
          <a:bodyPr/>
          <a:lstStyle/>
          <a:p>
            <a:r>
              <a:rPr lang="en-US" dirty="0"/>
              <a:t>Reheating in gas turbines is crucial in enhancing the overall efficiency and performance of these powerful machines. Gas turbines are widely used in various industries, including power generation, aviation, and industrial processes, due to their ability to convert fuel into mechanical energy with remarkable efficiency. However, engineers have developed the concept of reheating to extract even more energy from the combustion process and improve the system's overall efficiency. Reheating in a gas turbine increases thermal efficiency by preventing the temperature drop of exhaust gases, which allows for additional work to be extracted from the expanded gases in subsequent turbine stages.</a:t>
            </a:r>
          </a:p>
        </p:txBody>
      </p:sp>
      <p:grpSp>
        <p:nvGrpSpPr>
          <p:cNvPr id="10" name="Group 9">
            <a:extLst>
              <a:ext uri="{FF2B5EF4-FFF2-40B4-BE49-F238E27FC236}">
                <a16:creationId xmlns:a16="http://schemas.microsoft.com/office/drawing/2014/main" id="{BC143DD3-B4EC-23D7-E794-9C7F38AF9F9D}"/>
              </a:ext>
            </a:extLst>
          </p:cNvPr>
          <p:cNvGrpSpPr/>
          <p:nvPr/>
        </p:nvGrpSpPr>
        <p:grpSpPr>
          <a:xfrm>
            <a:off x="1148362" y="3475269"/>
            <a:ext cx="4000500" cy="2349725"/>
            <a:chOff x="7406831" y="629392"/>
            <a:chExt cx="3758991" cy="1867798"/>
          </a:xfrm>
        </p:grpSpPr>
        <p:sp>
          <p:nvSpPr>
            <p:cNvPr id="11" name="Rectangle 10">
              <a:extLst>
                <a:ext uri="{FF2B5EF4-FFF2-40B4-BE49-F238E27FC236}">
                  <a16:creationId xmlns:a16="http://schemas.microsoft.com/office/drawing/2014/main" id="{CD7147C8-E619-027C-BD79-252BDE7A7DEB}"/>
                </a:ext>
              </a:extLst>
            </p:cNvPr>
            <p:cNvSpPr/>
            <p:nvPr/>
          </p:nvSpPr>
          <p:spPr>
            <a:xfrm>
              <a:off x="7612083" y="1721922"/>
              <a:ext cx="3194462" cy="13062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apezoid 11">
              <a:extLst>
                <a:ext uri="{FF2B5EF4-FFF2-40B4-BE49-F238E27FC236}">
                  <a16:creationId xmlns:a16="http://schemas.microsoft.com/office/drawing/2014/main" id="{E7431F31-3101-7F6A-A083-9C0367C228AB}"/>
                </a:ext>
              </a:extLst>
            </p:cNvPr>
            <p:cNvSpPr/>
            <p:nvPr/>
          </p:nvSpPr>
          <p:spPr>
            <a:xfrm rot="16200000" flipH="1">
              <a:off x="10010543" y="1341912"/>
              <a:ext cx="1353787" cy="956770"/>
            </a:xfrm>
            <a:prstGeom prst="trapezoi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r>
                <a:rPr lang="en-US" sz="1200" dirty="0"/>
                <a:t>TURBINE 1</a:t>
              </a:r>
            </a:p>
          </p:txBody>
        </p:sp>
        <p:cxnSp>
          <p:nvCxnSpPr>
            <p:cNvPr id="13" name="Connector: Elbow 12">
              <a:extLst>
                <a:ext uri="{FF2B5EF4-FFF2-40B4-BE49-F238E27FC236}">
                  <a16:creationId xmlns:a16="http://schemas.microsoft.com/office/drawing/2014/main" id="{FC47169E-48D2-3A2F-3074-B9EA5057A98D}"/>
                </a:ext>
              </a:extLst>
            </p:cNvPr>
            <p:cNvCxnSpPr>
              <a:cxnSpLocks/>
            </p:cNvCxnSpPr>
            <p:nvPr/>
          </p:nvCxnSpPr>
          <p:spPr>
            <a:xfrm flipV="1">
              <a:off x="7675164" y="993069"/>
              <a:ext cx="992391" cy="73849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rapezoid 13">
              <a:extLst>
                <a:ext uri="{FF2B5EF4-FFF2-40B4-BE49-F238E27FC236}">
                  <a16:creationId xmlns:a16="http://schemas.microsoft.com/office/drawing/2014/main" id="{4C7BE355-1431-DC3D-91B9-FAB4EAB1343A}"/>
                </a:ext>
              </a:extLst>
            </p:cNvPr>
            <p:cNvSpPr/>
            <p:nvPr/>
          </p:nvSpPr>
          <p:spPr>
            <a:xfrm rot="5400000">
              <a:off x="7208322" y="1341912"/>
              <a:ext cx="1353787" cy="956770"/>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vert="vert270" rtlCol="0" anchor="ctr"/>
            <a:lstStyle/>
            <a:p>
              <a:pPr algn="ctr"/>
              <a:r>
                <a:rPr lang="en-US" sz="1200" dirty="0"/>
                <a:t>H.P COMPRESSOR</a:t>
              </a:r>
            </a:p>
          </p:txBody>
        </p:sp>
        <p:cxnSp>
          <p:nvCxnSpPr>
            <p:cNvPr id="15" name="Connector: Elbow 14">
              <a:extLst>
                <a:ext uri="{FF2B5EF4-FFF2-40B4-BE49-F238E27FC236}">
                  <a16:creationId xmlns:a16="http://schemas.microsoft.com/office/drawing/2014/main" id="{17A0A6A9-B77A-5958-D358-56DAAD14125C}"/>
                </a:ext>
              </a:extLst>
            </p:cNvPr>
            <p:cNvCxnSpPr>
              <a:cxnSpLocks/>
            </p:cNvCxnSpPr>
            <p:nvPr/>
          </p:nvCxnSpPr>
          <p:spPr>
            <a:xfrm rot="16200000" flipH="1">
              <a:off x="9574027" y="644399"/>
              <a:ext cx="708060" cy="67804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Arrow: Curved Down 15">
              <a:extLst>
                <a:ext uri="{FF2B5EF4-FFF2-40B4-BE49-F238E27FC236}">
                  <a16:creationId xmlns:a16="http://schemas.microsoft.com/office/drawing/2014/main" id="{EB347547-89BC-07F3-0EA4-F21671416819}"/>
                </a:ext>
              </a:extLst>
            </p:cNvPr>
            <p:cNvSpPr/>
            <p:nvPr/>
          </p:nvSpPr>
          <p:spPr>
            <a:xfrm>
              <a:off x="9186410" y="1530230"/>
              <a:ext cx="551395" cy="514011"/>
            </a:xfrm>
            <a:prstGeom prst="curvedDown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ectangle 16">
              <a:extLst>
                <a:ext uri="{FF2B5EF4-FFF2-40B4-BE49-F238E27FC236}">
                  <a16:creationId xmlns:a16="http://schemas.microsoft.com/office/drawing/2014/main" id="{8A61B512-2AA6-AD14-C5DE-F736C1962CFC}"/>
                </a:ext>
              </a:extLst>
            </p:cNvPr>
            <p:cNvSpPr/>
            <p:nvPr/>
          </p:nvSpPr>
          <p:spPr>
            <a:xfrm>
              <a:off x="9169366" y="1721922"/>
              <a:ext cx="253043" cy="13062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W</a:t>
              </a:r>
            </a:p>
          </p:txBody>
        </p:sp>
        <p:sp>
          <p:nvSpPr>
            <p:cNvPr id="18" name="Rectangle: Diagonal Corners Snipped 17">
              <a:extLst>
                <a:ext uri="{FF2B5EF4-FFF2-40B4-BE49-F238E27FC236}">
                  <a16:creationId xmlns:a16="http://schemas.microsoft.com/office/drawing/2014/main" id="{7C77A776-341E-C2C5-3033-F9947337083A}"/>
                </a:ext>
              </a:extLst>
            </p:cNvPr>
            <p:cNvSpPr/>
            <p:nvPr/>
          </p:nvSpPr>
          <p:spPr>
            <a:xfrm>
              <a:off x="8697415" y="629392"/>
              <a:ext cx="1196946" cy="514011"/>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COMBUSTOR 1</a:t>
              </a:r>
            </a:p>
          </p:txBody>
        </p:sp>
      </p:grpSp>
      <p:sp>
        <p:nvSpPr>
          <p:cNvPr id="9" name="Trapezoid 8">
            <a:extLst>
              <a:ext uri="{FF2B5EF4-FFF2-40B4-BE49-F238E27FC236}">
                <a16:creationId xmlns:a16="http://schemas.microsoft.com/office/drawing/2014/main" id="{73417F84-C5B4-6208-D87B-93B79DBBB712}"/>
              </a:ext>
            </a:extLst>
          </p:cNvPr>
          <p:cNvSpPr/>
          <p:nvPr/>
        </p:nvSpPr>
        <p:spPr>
          <a:xfrm rot="16200000" flipH="1">
            <a:off x="5292001" y="4464329"/>
            <a:ext cx="1703089" cy="1018241"/>
          </a:xfrm>
          <a:prstGeom prst="trapezoi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r>
              <a:rPr lang="en-US" sz="1200" dirty="0"/>
              <a:t>TURBINE 2</a:t>
            </a:r>
          </a:p>
        </p:txBody>
      </p:sp>
      <p:sp>
        <p:nvSpPr>
          <p:cNvPr id="23" name="Rectangle: Diagonal Corners Snipped 22">
            <a:extLst>
              <a:ext uri="{FF2B5EF4-FFF2-40B4-BE49-F238E27FC236}">
                <a16:creationId xmlns:a16="http://schemas.microsoft.com/office/drawing/2014/main" id="{90608057-B37C-3B87-49E7-139B3684142E}"/>
              </a:ext>
            </a:extLst>
          </p:cNvPr>
          <p:cNvSpPr/>
          <p:nvPr/>
        </p:nvSpPr>
        <p:spPr>
          <a:xfrm>
            <a:off x="5103634" y="3293309"/>
            <a:ext cx="1273848" cy="646636"/>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COMBUSTOR 2</a:t>
            </a:r>
          </a:p>
        </p:txBody>
      </p:sp>
      <p:cxnSp>
        <p:nvCxnSpPr>
          <p:cNvPr id="25" name="Straight Arrow Connector 24">
            <a:extLst>
              <a:ext uri="{FF2B5EF4-FFF2-40B4-BE49-F238E27FC236}">
                <a16:creationId xmlns:a16="http://schemas.microsoft.com/office/drawing/2014/main" id="{3D424E0F-4DCA-8219-1266-14194D37B7EB}"/>
              </a:ext>
            </a:extLst>
          </p:cNvPr>
          <p:cNvCxnSpPr/>
          <p:nvPr/>
        </p:nvCxnSpPr>
        <p:spPr>
          <a:xfrm flipV="1">
            <a:off x="5141281" y="3920647"/>
            <a:ext cx="0" cy="49929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781AB465-F55F-D353-B962-22E05EB41E1D}"/>
              </a:ext>
            </a:extLst>
          </p:cNvPr>
          <p:cNvCxnSpPr>
            <a:cxnSpLocks/>
          </p:cNvCxnSpPr>
          <p:nvPr/>
        </p:nvCxnSpPr>
        <p:spPr>
          <a:xfrm>
            <a:off x="6326786" y="3939945"/>
            <a:ext cx="0" cy="2303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a16="http://schemas.microsoft.com/office/drawing/2014/main" id="{5DBAD44E-12AF-9D4F-6181-7446123F8191}"/>
              </a:ext>
            </a:extLst>
          </p:cNvPr>
          <p:cNvCxnSpPr>
            <a:cxnSpLocks/>
          </p:cNvCxnSpPr>
          <p:nvPr/>
        </p:nvCxnSpPr>
        <p:spPr>
          <a:xfrm>
            <a:off x="3022229" y="3156633"/>
            <a:ext cx="0" cy="27249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0" name="TextBox 29">
            <a:extLst>
              <a:ext uri="{FF2B5EF4-FFF2-40B4-BE49-F238E27FC236}">
                <a16:creationId xmlns:a16="http://schemas.microsoft.com/office/drawing/2014/main" id="{4FA72D2C-C8FB-E997-7869-9A1D73454908}"/>
              </a:ext>
            </a:extLst>
          </p:cNvPr>
          <p:cNvSpPr txBox="1"/>
          <p:nvPr/>
        </p:nvSpPr>
        <p:spPr>
          <a:xfrm>
            <a:off x="3049607" y="3186316"/>
            <a:ext cx="495649" cy="369332"/>
          </a:xfrm>
          <a:prstGeom prst="rect">
            <a:avLst/>
          </a:prstGeom>
          <a:noFill/>
        </p:spPr>
        <p:txBody>
          <a:bodyPr wrap="none" rtlCol="0">
            <a:spAutoFit/>
          </a:bodyPr>
          <a:lstStyle/>
          <a:p>
            <a:r>
              <a:rPr lang="en-US" dirty="0">
                <a:solidFill>
                  <a:schemeClr val="bg1"/>
                </a:solidFill>
              </a:rPr>
              <a:t>Q</a:t>
            </a:r>
            <a:r>
              <a:rPr lang="en-US" baseline="-25000" dirty="0">
                <a:solidFill>
                  <a:schemeClr val="bg1"/>
                </a:solidFill>
              </a:rPr>
              <a:t>in</a:t>
            </a:r>
          </a:p>
        </p:txBody>
      </p:sp>
      <p:cxnSp>
        <p:nvCxnSpPr>
          <p:cNvPr id="31" name="Straight Arrow Connector 30">
            <a:extLst>
              <a:ext uri="{FF2B5EF4-FFF2-40B4-BE49-F238E27FC236}">
                <a16:creationId xmlns:a16="http://schemas.microsoft.com/office/drawing/2014/main" id="{460F4B5A-8688-CC04-B7EC-50B02205F098}"/>
              </a:ext>
            </a:extLst>
          </p:cNvPr>
          <p:cNvCxnSpPr>
            <a:cxnSpLocks/>
          </p:cNvCxnSpPr>
          <p:nvPr/>
        </p:nvCxnSpPr>
        <p:spPr>
          <a:xfrm>
            <a:off x="5633147" y="2987680"/>
            <a:ext cx="0" cy="272491"/>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sp>
        <p:nvSpPr>
          <p:cNvPr id="34" name="TextBox 33">
            <a:extLst>
              <a:ext uri="{FF2B5EF4-FFF2-40B4-BE49-F238E27FC236}">
                <a16:creationId xmlns:a16="http://schemas.microsoft.com/office/drawing/2014/main" id="{FD6C24CE-16D8-BA4C-E4BE-E23F89DF5FA8}"/>
              </a:ext>
            </a:extLst>
          </p:cNvPr>
          <p:cNvSpPr txBox="1"/>
          <p:nvPr/>
        </p:nvSpPr>
        <p:spPr>
          <a:xfrm>
            <a:off x="5633147" y="2947171"/>
            <a:ext cx="495649" cy="369332"/>
          </a:xfrm>
          <a:prstGeom prst="rect">
            <a:avLst/>
          </a:prstGeom>
          <a:noFill/>
        </p:spPr>
        <p:txBody>
          <a:bodyPr wrap="none" rtlCol="0">
            <a:spAutoFit/>
          </a:bodyPr>
          <a:lstStyle/>
          <a:p>
            <a:r>
              <a:rPr lang="en-US" dirty="0">
                <a:solidFill>
                  <a:schemeClr val="bg1"/>
                </a:solidFill>
              </a:rPr>
              <a:t>Q</a:t>
            </a:r>
            <a:r>
              <a:rPr lang="en-US" baseline="-25000" dirty="0">
                <a:solidFill>
                  <a:schemeClr val="bg1"/>
                </a:solidFill>
              </a:rPr>
              <a:t>in</a:t>
            </a:r>
          </a:p>
        </p:txBody>
      </p:sp>
    </p:spTree>
    <p:extLst>
      <p:ext uri="{BB962C8B-B14F-4D97-AF65-F5344CB8AC3E}">
        <p14:creationId xmlns:p14="http://schemas.microsoft.com/office/powerpoint/2010/main" val="32113025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7B5D1-B4B9-3DA6-02C0-6ADBBFE32D0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E836E8E-CC13-26CC-2F83-88C1FA5A9684}"/>
              </a:ext>
            </a:extLst>
          </p:cNvPr>
          <p:cNvSpPr/>
          <p:nvPr/>
        </p:nvSpPr>
        <p:spPr>
          <a:xfrm>
            <a:off x="840913" y="2160494"/>
            <a:ext cx="6173729" cy="469750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itle 4">
            <a:extLst>
              <a:ext uri="{FF2B5EF4-FFF2-40B4-BE49-F238E27FC236}">
                <a16:creationId xmlns:a16="http://schemas.microsoft.com/office/drawing/2014/main" id="{309B7861-B7AA-7669-BB12-78597B653815}"/>
              </a:ext>
            </a:extLst>
          </p:cNvPr>
          <p:cNvSpPr>
            <a:spLocks noGrp="1"/>
          </p:cNvSpPr>
          <p:nvPr>
            <p:ph type="title"/>
          </p:nvPr>
        </p:nvSpPr>
        <p:spPr>
          <a:xfrm>
            <a:off x="1226150" y="520000"/>
            <a:ext cx="4758948" cy="1938529"/>
          </a:xfrm>
        </p:spPr>
        <p:txBody>
          <a:bodyPr/>
          <a:lstStyle/>
          <a:p>
            <a:r>
              <a:rPr lang="en-US" dirty="0"/>
              <a:t>PROCESS OF</a:t>
            </a:r>
            <a:br>
              <a:rPr lang="en-US" dirty="0"/>
            </a:br>
            <a:r>
              <a:rPr lang="en-US" dirty="0"/>
              <a:t>Regenerator</a:t>
            </a:r>
          </a:p>
        </p:txBody>
      </p:sp>
      <p:sp>
        <p:nvSpPr>
          <p:cNvPr id="3" name="Footer Placeholder 2">
            <a:extLst>
              <a:ext uri="{FF2B5EF4-FFF2-40B4-BE49-F238E27FC236}">
                <a16:creationId xmlns:a16="http://schemas.microsoft.com/office/drawing/2014/main" id="{71454F44-4FC9-4A1E-0A74-0E9FDA3B7B61}"/>
              </a:ext>
            </a:extLst>
          </p:cNvPr>
          <p:cNvSpPr>
            <a:spLocks noGrp="1"/>
          </p:cNvSpPr>
          <p:nvPr>
            <p:ph type="ftr" sz="quarter" idx="11"/>
          </p:nvPr>
        </p:nvSpPr>
        <p:spPr>
          <a:xfrm rot="16200000">
            <a:off x="-2009849" y="3308393"/>
            <a:ext cx="5170509" cy="333752"/>
          </a:xfrm>
        </p:spPr>
        <p:txBody>
          <a:bodyPr/>
          <a:lstStyle/>
          <a:p>
            <a:r>
              <a:rPr lang="en-US" dirty="0"/>
              <a:t>GAS TURBINE</a:t>
            </a:r>
          </a:p>
        </p:txBody>
      </p:sp>
      <p:sp>
        <p:nvSpPr>
          <p:cNvPr id="33" name="Text Placeholder 32">
            <a:extLst>
              <a:ext uri="{FF2B5EF4-FFF2-40B4-BE49-F238E27FC236}">
                <a16:creationId xmlns:a16="http://schemas.microsoft.com/office/drawing/2014/main" id="{0DEB9135-8B9F-C787-6443-344670EE5138}"/>
              </a:ext>
            </a:extLst>
          </p:cNvPr>
          <p:cNvSpPr>
            <a:spLocks noGrp="1"/>
          </p:cNvSpPr>
          <p:nvPr>
            <p:ph type="body" sz="quarter" idx="17"/>
          </p:nvPr>
        </p:nvSpPr>
        <p:spPr>
          <a:xfrm>
            <a:off x="7848587" y="1406432"/>
            <a:ext cx="3439597" cy="2392155"/>
          </a:xfrm>
        </p:spPr>
        <p:txBody>
          <a:bodyPr/>
          <a:lstStyle/>
          <a:p>
            <a:r>
              <a:rPr lang="en-US" dirty="0"/>
              <a:t> The turbine exhaust gas might still contain a significant amount of heat at a higher temperature than the compressor outlet gas (after the last compression stage but before the combustor). For this purpose, a heat exchanger called a regenerator is used. This heat regenerator allows the air exiting the compressor to be preheated before entering the combustion chamber, reducing the amount of fuel that must be burned in the combustor. This form of heat recycling is only possible if the gas turbine is run with a low-pressure ratio.</a:t>
            </a:r>
          </a:p>
        </p:txBody>
      </p:sp>
      <p:sp>
        <p:nvSpPr>
          <p:cNvPr id="42" name="Rectangle: Rounded Corners 41">
            <a:extLst>
              <a:ext uri="{FF2B5EF4-FFF2-40B4-BE49-F238E27FC236}">
                <a16:creationId xmlns:a16="http://schemas.microsoft.com/office/drawing/2014/main" id="{91B72FA4-92FD-CF65-6323-EF36CF6686BE}"/>
              </a:ext>
            </a:extLst>
          </p:cNvPr>
          <p:cNvSpPr/>
          <p:nvPr/>
        </p:nvSpPr>
        <p:spPr>
          <a:xfrm>
            <a:off x="2067252" y="3322068"/>
            <a:ext cx="355262" cy="182389"/>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q</a:t>
            </a:r>
          </a:p>
        </p:txBody>
      </p:sp>
      <p:grpSp>
        <p:nvGrpSpPr>
          <p:cNvPr id="52" name="Group 51">
            <a:extLst>
              <a:ext uri="{FF2B5EF4-FFF2-40B4-BE49-F238E27FC236}">
                <a16:creationId xmlns:a16="http://schemas.microsoft.com/office/drawing/2014/main" id="{FEBC921F-5838-FD86-785D-76F7FB6FA6A4}"/>
              </a:ext>
            </a:extLst>
          </p:cNvPr>
          <p:cNvGrpSpPr/>
          <p:nvPr/>
        </p:nvGrpSpPr>
        <p:grpSpPr>
          <a:xfrm>
            <a:off x="1605374" y="2711519"/>
            <a:ext cx="4000500" cy="2973775"/>
            <a:chOff x="1148362" y="2851219"/>
            <a:chExt cx="4000500" cy="2973775"/>
          </a:xfrm>
        </p:grpSpPr>
        <p:grpSp>
          <p:nvGrpSpPr>
            <p:cNvPr id="10" name="Group 9">
              <a:extLst>
                <a:ext uri="{FF2B5EF4-FFF2-40B4-BE49-F238E27FC236}">
                  <a16:creationId xmlns:a16="http://schemas.microsoft.com/office/drawing/2014/main" id="{4C440300-A48D-A68A-2BCD-689B7324EE89}"/>
                </a:ext>
              </a:extLst>
            </p:cNvPr>
            <p:cNvGrpSpPr/>
            <p:nvPr/>
          </p:nvGrpSpPr>
          <p:grpSpPr>
            <a:xfrm>
              <a:off x="1148362" y="3475269"/>
              <a:ext cx="4000500" cy="2349725"/>
              <a:chOff x="7406831" y="629392"/>
              <a:chExt cx="3758991" cy="1867798"/>
            </a:xfrm>
          </p:grpSpPr>
          <p:sp>
            <p:nvSpPr>
              <p:cNvPr id="11" name="Rectangle 10">
                <a:extLst>
                  <a:ext uri="{FF2B5EF4-FFF2-40B4-BE49-F238E27FC236}">
                    <a16:creationId xmlns:a16="http://schemas.microsoft.com/office/drawing/2014/main" id="{11ACCA62-C8C3-26AA-F89C-CA973C05BE0B}"/>
                  </a:ext>
                </a:extLst>
              </p:cNvPr>
              <p:cNvSpPr/>
              <p:nvPr/>
            </p:nvSpPr>
            <p:spPr>
              <a:xfrm>
                <a:off x="7612083" y="1721922"/>
                <a:ext cx="3194462" cy="13062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Trapezoid 11">
                <a:extLst>
                  <a:ext uri="{FF2B5EF4-FFF2-40B4-BE49-F238E27FC236}">
                    <a16:creationId xmlns:a16="http://schemas.microsoft.com/office/drawing/2014/main" id="{2FFF8A60-4511-747D-E6E6-A2CE24F300D2}"/>
                  </a:ext>
                </a:extLst>
              </p:cNvPr>
              <p:cNvSpPr/>
              <p:nvPr/>
            </p:nvSpPr>
            <p:spPr>
              <a:xfrm rot="16200000" flipH="1">
                <a:off x="10010543" y="1341912"/>
                <a:ext cx="1353787" cy="956770"/>
              </a:xfrm>
              <a:prstGeom prst="trapezoid">
                <a:avLst/>
              </a:prstGeom>
              <a:solidFill>
                <a:srgbClr val="92D050"/>
              </a:solidFill>
            </p:spPr>
            <p:style>
              <a:lnRef idx="2">
                <a:schemeClr val="accent1">
                  <a:shade val="15000"/>
                </a:schemeClr>
              </a:lnRef>
              <a:fillRef idx="1">
                <a:schemeClr val="accent1"/>
              </a:fillRef>
              <a:effectRef idx="0">
                <a:schemeClr val="accent1"/>
              </a:effectRef>
              <a:fontRef idx="minor">
                <a:schemeClr val="lt1"/>
              </a:fontRef>
            </p:style>
            <p:txBody>
              <a:bodyPr vert="vert" rtlCol="0" anchor="ctr"/>
              <a:lstStyle/>
              <a:p>
                <a:r>
                  <a:rPr lang="en-US" sz="1200" dirty="0"/>
                  <a:t>TURBINE 1</a:t>
                </a:r>
              </a:p>
            </p:txBody>
          </p:sp>
          <p:cxnSp>
            <p:nvCxnSpPr>
              <p:cNvPr id="13" name="Connector: Elbow 12">
                <a:extLst>
                  <a:ext uri="{FF2B5EF4-FFF2-40B4-BE49-F238E27FC236}">
                    <a16:creationId xmlns:a16="http://schemas.microsoft.com/office/drawing/2014/main" id="{6FDADF5E-3FD8-C853-19C5-6C9797AF1AFC}"/>
                  </a:ext>
                </a:extLst>
              </p:cNvPr>
              <p:cNvCxnSpPr>
                <a:cxnSpLocks/>
              </p:cNvCxnSpPr>
              <p:nvPr/>
            </p:nvCxnSpPr>
            <p:spPr>
              <a:xfrm flipV="1">
                <a:off x="7705025" y="774153"/>
                <a:ext cx="992391" cy="738499"/>
              </a:xfrm>
              <a:prstGeom prst="bentConnector3">
                <a:avLst>
                  <a:gd name="adj1" fmla="val 13204"/>
                </a:avLst>
              </a:prstGeom>
              <a:ln>
                <a:tailEnd type="triangle"/>
              </a:ln>
            </p:spPr>
            <p:style>
              <a:lnRef idx="1">
                <a:schemeClr val="accent1"/>
              </a:lnRef>
              <a:fillRef idx="0">
                <a:schemeClr val="accent1"/>
              </a:fillRef>
              <a:effectRef idx="0">
                <a:schemeClr val="accent1"/>
              </a:effectRef>
              <a:fontRef idx="minor">
                <a:schemeClr val="tx1"/>
              </a:fontRef>
            </p:style>
          </p:cxnSp>
          <p:sp>
            <p:nvSpPr>
              <p:cNvPr id="14" name="Trapezoid 13">
                <a:extLst>
                  <a:ext uri="{FF2B5EF4-FFF2-40B4-BE49-F238E27FC236}">
                    <a16:creationId xmlns:a16="http://schemas.microsoft.com/office/drawing/2014/main" id="{A5B437CD-BD06-3560-06D8-CFD7D358BAF7}"/>
                  </a:ext>
                </a:extLst>
              </p:cNvPr>
              <p:cNvSpPr/>
              <p:nvPr/>
            </p:nvSpPr>
            <p:spPr>
              <a:xfrm rot="5400000">
                <a:off x="7208322" y="1341912"/>
                <a:ext cx="1353787" cy="956770"/>
              </a:xfrm>
              <a:prstGeom prst="trapezoid">
                <a:avLst/>
              </a:prstGeom>
            </p:spPr>
            <p:style>
              <a:lnRef idx="2">
                <a:schemeClr val="accent5">
                  <a:shade val="15000"/>
                </a:schemeClr>
              </a:lnRef>
              <a:fillRef idx="1">
                <a:schemeClr val="accent5"/>
              </a:fillRef>
              <a:effectRef idx="0">
                <a:schemeClr val="accent5"/>
              </a:effectRef>
              <a:fontRef idx="minor">
                <a:schemeClr val="lt1"/>
              </a:fontRef>
            </p:style>
            <p:txBody>
              <a:bodyPr vert="vert270" rtlCol="0" anchor="ctr"/>
              <a:lstStyle/>
              <a:p>
                <a:pPr algn="ctr"/>
                <a:r>
                  <a:rPr lang="en-US" sz="1200" dirty="0"/>
                  <a:t>H.P COMPRESSOR</a:t>
                </a:r>
              </a:p>
            </p:txBody>
          </p:sp>
          <p:cxnSp>
            <p:nvCxnSpPr>
              <p:cNvPr id="15" name="Connector: Elbow 14">
                <a:extLst>
                  <a:ext uri="{FF2B5EF4-FFF2-40B4-BE49-F238E27FC236}">
                    <a16:creationId xmlns:a16="http://schemas.microsoft.com/office/drawing/2014/main" id="{F1877B5F-61F3-194D-93C1-D6E1C1047707}"/>
                  </a:ext>
                </a:extLst>
              </p:cNvPr>
              <p:cNvCxnSpPr>
                <a:cxnSpLocks/>
              </p:cNvCxnSpPr>
              <p:nvPr/>
            </p:nvCxnSpPr>
            <p:spPr>
              <a:xfrm rot="16200000" flipH="1">
                <a:off x="9574027" y="644399"/>
                <a:ext cx="708060" cy="678049"/>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16" name="Arrow: Curved Down 15">
                <a:extLst>
                  <a:ext uri="{FF2B5EF4-FFF2-40B4-BE49-F238E27FC236}">
                    <a16:creationId xmlns:a16="http://schemas.microsoft.com/office/drawing/2014/main" id="{FE74B932-EA21-8514-C478-F40DFFBC3E1B}"/>
                  </a:ext>
                </a:extLst>
              </p:cNvPr>
              <p:cNvSpPr/>
              <p:nvPr/>
            </p:nvSpPr>
            <p:spPr>
              <a:xfrm>
                <a:off x="9186410" y="1530230"/>
                <a:ext cx="551395" cy="514011"/>
              </a:xfrm>
              <a:prstGeom prst="curvedDownArrow">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Rectangle 16">
                <a:extLst>
                  <a:ext uri="{FF2B5EF4-FFF2-40B4-BE49-F238E27FC236}">
                    <a16:creationId xmlns:a16="http://schemas.microsoft.com/office/drawing/2014/main" id="{7F6BDF66-FB1A-1C79-CD3C-810C4FC1F21C}"/>
                  </a:ext>
                </a:extLst>
              </p:cNvPr>
              <p:cNvSpPr/>
              <p:nvPr/>
            </p:nvSpPr>
            <p:spPr>
              <a:xfrm>
                <a:off x="9169366" y="1721922"/>
                <a:ext cx="253043" cy="130629"/>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00" dirty="0">
                    <a:solidFill>
                      <a:schemeClr val="tx1"/>
                    </a:solidFill>
                  </a:rPr>
                  <a:t>W</a:t>
                </a:r>
              </a:p>
            </p:txBody>
          </p:sp>
          <p:sp>
            <p:nvSpPr>
              <p:cNvPr id="18" name="Rectangle: Diagonal Corners Snipped 17">
                <a:extLst>
                  <a:ext uri="{FF2B5EF4-FFF2-40B4-BE49-F238E27FC236}">
                    <a16:creationId xmlns:a16="http://schemas.microsoft.com/office/drawing/2014/main" id="{A0B040FB-EA9F-EDDC-C948-D4898D4B906F}"/>
                  </a:ext>
                </a:extLst>
              </p:cNvPr>
              <p:cNvSpPr/>
              <p:nvPr/>
            </p:nvSpPr>
            <p:spPr>
              <a:xfrm>
                <a:off x="8697415" y="629392"/>
                <a:ext cx="1196946" cy="514011"/>
              </a:xfrm>
              <a:prstGeom prst="snip2Diag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050" dirty="0"/>
                  <a:t>COMBUSTOR 1</a:t>
                </a:r>
              </a:p>
            </p:txBody>
          </p:sp>
        </p:grpSp>
        <p:grpSp>
          <p:nvGrpSpPr>
            <p:cNvPr id="51" name="Group 50">
              <a:extLst>
                <a:ext uri="{FF2B5EF4-FFF2-40B4-BE49-F238E27FC236}">
                  <a16:creationId xmlns:a16="http://schemas.microsoft.com/office/drawing/2014/main" id="{2085D499-AFF1-0B10-CCCC-9C12F97EF2B3}"/>
                </a:ext>
              </a:extLst>
            </p:cNvPr>
            <p:cNvGrpSpPr/>
            <p:nvPr/>
          </p:nvGrpSpPr>
          <p:grpSpPr>
            <a:xfrm>
              <a:off x="1572352" y="2851219"/>
              <a:ext cx="3399701" cy="1270686"/>
              <a:chOff x="1572352" y="2851219"/>
              <a:chExt cx="3399701" cy="1270686"/>
            </a:xfrm>
          </p:grpSpPr>
          <p:grpSp>
            <p:nvGrpSpPr>
              <p:cNvPr id="50" name="Group 49">
                <a:extLst>
                  <a:ext uri="{FF2B5EF4-FFF2-40B4-BE49-F238E27FC236}">
                    <a16:creationId xmlns:a16="http://schemas.microsoft.com/office/drawing/2014/main" id="{95DE4EAC-A9F8-4E78-9277-5DD570E72641}"/>
                  </a:ext>
                </a:extLst>
              </p:cNvPr>
              <p:cNvGrpSpPr/>
              <p:nvPr/>
            </p:nvGrpSpPr>
            <p:grpSpPr>
              <a:xfrm>
                <a:off x="1572352" y="3088899"/>
                <a:ext cx="3399701" cy="1033006"/>
                <a:chOff x="1572352" y="3088899"/>
                <a:chExt cx="3399701" cy="1033006"/>
              </a:xfrm>
            </p:grpSpPr>
            <p:cxnSp>
              <p:nvCxnSpPr>
                <p:cNvPr id="8" name="Connector: Elbow 7">
                  <a:extLst>
                    <a:ext uri="{FF2B5EF4-FFF2-40B4-BE49-F238E27FC236}">
                      <a16:creationId xmlns:a16="http://schemas.microsoft.com/office/drawing/2014/main" id="{2D1C1323-3BF6-9C6F-5238-7F3836D74FDB}"/>
                    </a:ext>
                  </a:extLst>
                </p:cNvPr>
                <p:cNvCxnSpPr>
                  <a:cxnSpLocks/>
                </p:cNvCxnSpPr>
                <p:nvPr/>
              </p:nvCxnSpPr>
              <p:spPr>
                <a:xfrm rot="10800000">
                  <a:off x="1572352" y="3292880"/>
                  <a:ext cx="3399701" cy="829025"/>
                </a:xfrm>
                <a:prstGeom prst="bentConnector3">
                  <a:avLst>
                    <a:gd name="adj1" fmla="val -95"/>
                  </a:avLst>
                </a:prstGeom>
                <a:ln>
                  <a:tailEnd type="triangle"/>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7EA98506-1E82-E2CA-E6D4-5FCB498742B9}"/>
                    </a:ext>
                  </a:extLst>
                </p:cNvPr>
                <p:cNvSpPr/>
                <p:nvPr/>
              </p:nvSpPr>
              <p:spPr>
                <a:xfrm>
                  <a:off x="1860108" y="3088899"/>
                  <a:ext cx="463056" cy="744051"/>
                </a:xfrm>
                <a:prstGeom prst="rect">
                  <a:avLst/>
                </a:prstGeom>
                <a:noFill/>
                <a:ln w="28575">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39" name="Straight Arrow Connector 38">
                  <a:extLst>
                    <a:ext uri="{FF2B5EF4-FFF2-40B4-BE49-F238E27FC236}">
                      <a16:creationId xmlns:a16="http://schemas.microsoft.com/office/drawing/2014/main" id="{85A69AFD-E9A6-6481-D363-E9F1C9E18F4E}"/>
                    </a:ext>
                  </a:extLst>
                </p:cNvPr>
                <p:cNvCxnSpPr>
                  <a:cxnSpLocks/>
                </p:cNvCxnSpPr>
                <p:nvPr/>
              </p:nvCxnSpPr>
              <p:spPr>
                <a:xfrm>
                  <a:off x="2000250" y="3292879"/>
                  <a:ext cx="0" cy="357859"/>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cxnSp>
              <p:nvCxnSpPr>
                <p:cNvPr id="40" name="Straight Arrow Connector 39">
                  <a:extLst>
                    <a:ext uri="{FF2B5EF4-FFF2-40B4-BE49-F238E27FC236}">
                      <a16:creationId xmlns:a16="http://schemas.microsoft.com/office/drawing/2014/main" id="{303039DD-06FE-60B9-8E02-1AA8D6FE5A1C}"/>
                    </a:ext>
                  </a:extLst>
                </p:cNvPr>
                <p:cNvCxnSpPr/>
                <p:nvPr/>
              </p:nvCxnSpPr>
              <p:spPr>
                <a:xfrm>
                  <a:off x="2166602" y="3293018"/>
                  <a:ext cx="0" cy="364502"/>
                </a:xfrm>
                <a:prstGeom prst="straightConnector1">
                  <a:avLst/>
                </a:prstGeom>
                <a:ln>
                  <a:tailEnd type="triangle"/>
                </a:ln>
              </p:spPr>
              <p:style>
                <a:lnRef idx="1">
                  <a:schemeClr val="accent2"/>
                </a:lnRef>
                <a:fillRef idx="0">
                  <a:schemeClr val="accent2"/>
                </a:fillRef>
                <a:effectRef idx="0">
                  <a:schemeClr val="accent2"/>
                </a:effectRef>
                <a:fontRef idx="minor">
                  <a:schemeClr val="tx1"/>
                </a:fontRef>
              </p:style>
            </p:cxnSp>
          </p:grpSp>
          <p:sp>
            <p:nvSpPr>
              <p:cNvPr id="44" name="Rectangle: Rounded Corners 43">
                <a:extLst>
                  <a:ext uri="{FF2B5EF4-FFF2-40B4-BE49-F238E27FC236}">
                    <a16:creationId xmlns:a16="http://schemas.microsoft.com/office/drawing/2014/main" id="{9C46EAB4-6C20-BEA2-437B-16A93CFA6C32}"/>
                  </a:ext>
                </a:extLst>
              </p:cNvPr>
              <p:cNvSpPr/>
              <p:nvPr/>
            </p:nvSpPr>
            <p:spPr>
              <a:xfrm>
                <a:off x="1582302" y="2851219"/>
                <a:ext cx="1018668" cy="311685"/>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800" dirty="0"/>
                  <a:t>REGENRATOR</a:t>
                </a:r>
              </a:p>
            </p:txBody>
          </p:sp>
        </p:grpSp>
      </p:grpSp>
    </p:spTree>
    <p:extLst>
      <p:ext uri="{BB962C8B-B14F-4D97-AF65-F5344CB8AC3E}">
        <p14:creationId xmlns:p14="http://schemas.microsoft.com/office/powerpoint/2010/main" val="7501582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B1590C-8086-F29E-945A-338F02E1074A}"/>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BC416B62-E585-3EFD-F772-5DA66F1A3E46}"/>
              </a:ext>
            </a:extLst>
          </p:cNvPr>
          <p:cNvSpPr>
            <a:spLocks noGrp="1"/>
          </p:cNvSpPr>
          <p:nvPr>
            <p:ph type="title"/>
          </p:nvPr>
        </p:nvSpPr>
        <p:spPr>
          <a:xfrm>
            <a:off x="1147212" y="2536442"/>
            <a:ext cx="4138652" cy="2495121"/>
          </a:xfrm>
        </p:spPr>
        <p:txBody>
          <a:bodyPr/>
          <a:lstStyle/>
          <a:p>
            <a:r>
              <a:rPr lang="en-US" sz="6600" cap="none" dirty="0"/>
              <a:t>Questions?</a:t>
            </a:r>
            <a:br>
              <a:rPr lang="en-US" sz="6600" cap="none" dirty="0"/>
            </a:br>
            <a:endParaRPr lang="en-US" sz="6600" cap="none" dirty="0"/>
          </a:p>
        </p:txBody>
      </p:sp>
      <p:sp>
        <p:nvSpPr>
          <p:cNvPr id="3" name="Footer Placeholder 2">
            <a:extLst>
              <a:ext uri="{FF2B5EF4-FFF2-40B4-BE49-F238E27FC236}">
                <a16:creationId xmlns:a16="http://schemas.microsoft.com/office/drawing/2014/main" id="{B28D3D5E-8076-164D-93E0-7F58F8351B99}"/>
              </a:ext>
            </a:extLst>
          </p:cNvPr>
          <p:cNvSpPr>
            <a:spLocks noGrp="1"/>
          </p:cNvSpPr>
          <p:nvPr>
            <p:ph type="ftr" sz="quarter" idx="11"/>
          </p:nvPr>
        </p:nvSpPr>
        <p:spPr>
          <a:xfrm rot="16200000">
            <a:off x="-2009849" y="3308393"/>
            <a:ext cx="5170509" cy="333752"/>
          </a:xfrm>
        </p:spPr>
        <p:txBody>
          <a:bodyPr/>
          <a:lstStyle/>
          <a:p>
            <a:r>
              <a:rPr lang="en-US" sz="1100" dirty="0"/>
              <a:t>GAS TURBINE</a:t>
            </a:r>
          </a:p>
        </p:txBody>
      </p:sp>
      <p:pic>
        <p:nvPicPr>
          <p:cNvPr id="17" name="Picture Placeholder 7">
            <a:extLst>
              <a:ext uri="{FF2B5EF4-FFF2-40B4-BE49-F238E27FC236}">
                <a16:creationId xmlns:a16="http://schemas.microsoft.com/office/drawing/2014/main" id="{874A0E1D-8AAF-80A4-418A-B55D6DE909C7}"/>
              </a:ext>
            </a:extLst>
          </p:cNvPr>
          <p:cNvPicPr>
            <a:picLocks noGrp="1" noChangeAspect="1"/>
          </p:cNvPicPr>
          <p:nvPr>
            <p:ph type="pic" sz="quarter" idx="16"/>
          </p:nvPr>
        </p:nvPicPr>
        <p:blipFill>
          <a:blip r:embed="rId2">
            <a:extLst>
              <a:ext uri="{BEBA8EAE-BF5A-486C-A8C5-ECC9F3942E4B}">
                <a14:imgProps xmlns:a14="http://schemas.microsoft.com/office/drawing/2010/main">
                  <a14:imgLayer r:embed="rId3">
                    <a14:imgEffect>
                      <a14:brightnessContrast bright="-15000"/>
                    </a14:imgEffect>
                  </a14:imgLayer>
                </a14:imgProps>
              </a:ext>
            </a:extLst>
          </a:blip>
          <a:srcRect l="560" r="560" b="8856"/>
          <a:stretch/>
        </p:blipFill>
        <p:spPr>
          <a:xfrm>
            <a:off x="5690795" y="473336"/>
            <a:ext cx="5607555" cy="5842258"/>
          </a:xfrm>
          <a:effectLst>
            <a:softEdge rad="31750"/>
          </a:effectLst>
        </p:spPr>
      </p:pic>
    </p:spTree>
    <p:extLst>
      <p:ext uri="{BB962C8B-B14F-4D97-AF65-F5344CB8AC3E}">
        <p14:creationId xmlns:p14="http://schemas.microsoft.com/office/powerpoint/2010/main" val="41906004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3AD51936-FCDB-FFD4-9BDE-16794BF38F8C}"/>
              </a:ext>
            </a:extLst>
          </p:cNvPr>
          <p:cNvPicPr>
            <a:picLocks noChangeAspect="1"/>
          </p:cNvPicPr>
          <p:nvPr/>
        </p:nvPicPr>
        <p:blipFill>
          <a:blip r:embed="rId2"/>
          <a:srcRect l="20673" t="20920" r="22506" b="22520"/>
          <a:stretch/>
        </p:blipFill>
        <p:spPr>
          <a:xfrm>
            <a:off x="1155700" y="0"/>
            <a:ext cx="5448300" cy="6129945"/>
          </a:xfrm>
          <a:prstGeom prst="rect">
            <a:avLst/>
          </a:prstGeom>
        </p:spPr>
      </p:pic>
      <p:sp>
        <p:nvSpPr>
          <p:cNvPr id="5" name="Title 4">
            <a:extLst>
              <a:ext uri="{FF2B5EF4-FFF2-40B4-BE49-F238E27FC236}">
                <a16:creationId xmlns:a16="http://schemas.microsoft.com/office/drawing/2014/main" id="{D6C1AD1B-40B6-1E04-75E0-DC68236B4701}"/>
              </a:ext>
            </a:extLst>
          </p:cNvPr>
          <p:cNvSpPr>
            <a:spLocks noGrp="1"/>
          </p:cNvSpPr>
          <p:nvPr>
            <p:ph type="title"/>
          </p:nvPr>
        </p:nvSpPr>
        <p:spPr>
          <a:xfrm>
            <a:off x="7767021" y="2181440"/>
            <a:ext cx="3891578" cy="2495121"/>
          </a:xfrm>
        </p:spPr>
        <p:txBody>
          <a:bodyPr/>
          <a:lstStyle/>
          <a:p>
            <a:r>
              <a:rPr lang="en-US" sz="8800" cap="none" dirty="0"/>
              <a:t>thank </a:t>
            </a:r>
            <a:br>
              <a:rPr lang="en-US" sz="8800" cap="none" dirty="0"/>
            </a:br>
            <a:r>
              <a:rPr lang="en-US" sz="8800" cap="none" dirty="0"/>
              <a:t>you</a:t>
            </a:r>
          </a:p>
        </p:txBody>
      </p:sp>
      <p:sp>
        <p:nvSpPr>
          <p:cNvPr id="3" name="Footer Placeholder 2">
            <a:extLst>
              <a:ext uri="{FF2B5EF4-FFF2-40B4-BE49-F238E27FC236}">
                <a16:creationId xmlns:a16="http://schemas.microsoft.com/office/drawing/2014/main" id="{6298DACD-3CA3-191D-2C6A-FFCCEEB6F858}"/>
              </a:ext>
            </a:extLst>
          </p:cNvPr>
          <p:cNvSpPr>
            <a:spLocks noGrp="1"/>
          </p:cNvSpPr>
          <p:nvPr>
            <p:ph type="ftr" sz="quarter" idx="11"/>
          </p:nvPr>
        </p:nvSpPr>
        <p:spPr>
          <a:xfrm rot="16200000">
            <a:off x="-2009849" y="3308393"/>
            <a:ext cx="5170509" cy="333752"/>
          </a:xfrm>
        </p:spPr>
        <p:txBody>
          <a:bodyPr/>
          <a:lstStyle/>
          <a:p>
            <a:r>
              <a:rPr lang="en-US" sz="1100" dirty="0"/>
              <a:t>GAS TURBINES</a:t>
            </a:r>
          </a:p>
        </p:txBody>
      </p:sp>
      <p:sp>
        <p:nvSpPr>
          <p:cNvPr id="2" name="Slide Number Placeholder 1">
            <a:extLst>
              <a:ext uri="{FF2B5EF4-FFF2-40B4-BE49-F238E27FC236}">
                <a16:creationId xmlns:a16="http://schemas.microsoft.com/office/drawing/2014/main" id="{8A35170C-FF83-0610-5D8C-4729594B043D}"/>
              </a:ext>
            </a:extLst>
          </p:cNvPr>
          <p:cNvSpPr>
            <a:spLocks noGrp="1"/>
          </p:cNvSpPr>
          <p:nvPr>
            <p:ph type="sldNum" sz="quarter" idx="12"/>
          </p:nvPr>
        </p:nvSpPr>
        <p:spPr>
          <a:xfrm>
            <a:off x="11298350" y="6243403"/>
            <a:ext cx="720499" cy="279400"/>
          </a:xfrm>
        </p:spPr>
        <p:txBody>
          <a:bodyPr/>
          <a:lstStyle/>
          <a:p>
            <a:fld id="{330EA680-D336-4FF7-8B7A-9848BB0A1C32}" type="slidenum">
              <a:rPr lang="en-US" smtClean="0"/>
              <a:pPr/>
              <a:t>16</a:t>
            </a:fld>
            <a:endParaRPr lang="en-US" dirty="0"/>
          </a:p>
        </p:txBody>
      </p:sp>
      <p:sp>
        <p:nvSpPr>
          <p:cNvPr id="10" name="Isosceles Triangle 9">
            <a:extLst>
              <a:ext uri="{FF2B5EF4-FFF2-40B4-BE49-F238E27FC236}">
                <a16:creationId xmlns:a16="http://schemas.microsoft.com/office/drawing/2014/main" id="{28EB2199-D02B-6412-B7D1-B418EFE0A939}"/>
              </a:ext>
            </a:extLst>
          </p:cNvPr>
          <p:cNvSpPr/>
          <p:nvPr/>
        </p:nvSpPr>
        <p:spPr>
          <a:xfrm>
            <a:off x="2042011" y="845135"/>
            <a:ext cx="3891578" cy="3365500"/>
          </a:xfrm>
          <a:prstGeom prst="triangle">
            <a:avLst/>
          </a:prstGeom>
          <a:noFill/>
          <a:ln w="762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781898638"/>
      </p:ext>
    </p:extLst>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ustom">
  <a:themeElements>
    <a:clrScheme name="TM66931312">
      <a:dk1>
        <a:srgbClr val="000000"/>
      </a:dk1>
      <a:lt1>
        <a:srgbClr val="FFFFFF"/>
      </a:lt1>
      <a:dk2>
        <a:srgbClr val="212121"/>
      </a:dk2>
      <a:lt2>
        <a:srgbClr val="DADADA"/>
      </a:lt2>
      <a:accent1>
        <a:srgbClr val="FF0000"/>
      </a:accent1>
      <a:accent2>
        <a:srgbClr val="F5EFE7"/>
      </a:accent2>
      <a:accent3>
        <a:srgbClr val="7B49E1"/>
      </a:accent3>
      <a:accent4>
        <a:srgbClr val="9AD7C7"/>
      </a:accent4>
      <a:accent5>
        <a:srgbClr val="237BFB"/>
      </a:accent5>
      <a:accent6>
        <a:srgbClr val="E9D7E7"/>
      </a:accent6>
      <a:hlink>
        <a:srgbClr val="FFFF00"/>
      </a:hlink>
      <a:folHlink>
        <a:srgbClr val="6BF0CD"/>
      </a:folHlink>
    </a:clrScheme>
    <a:fontScheme name="Custom 60">
      <a:majorFont>
        <a:latin typeface="MS PMincho"/>
        <a:ea typeface=""/>
        <a:cs typeface=""/>
      </a:majorFont>
      <a:minorFont>
        <a:latin typeface="Mangal"/>
        <a:ea typeface=""/>
        <a:cs typeface=""/>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TM66931312_Win32_SL_V3" id="{95AE7881-AB7F-4307-BAFF-D002B22B1082}" vid="{F008C54E-045F-456B-B872-F8E3CAF3103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7" ma:contentTypeDescription="Create a new document." ma:contentTypeScope="" ma:versionID="c6f9a84f66a9c8b9a21755b9ffafb945">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27df39e3e7036dff54f89ddd5805ce72"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0A8E5EEF-D939-4E9B-B588-5A9B9A07F3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C48AA7B-8093-4312-9C92-093E87B9931D}">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E81D4CC6-3580-4AFF-ADAD-40005A217EE9}">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Digital time capsule</Template>
  <TotalTime>221</TotalTime>
  <Words>750</Words>
  <Application>Microsoft Office PowerPoint</Application>
  <PresentationFormat>Widescreen</PresentationFormat>
  <Paragraphs>76</Paragraphs>
  <Slides>16</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MS PMincho</vt:lpstr>
      <vt:lpstr>Arial</vt:lpstr>
      <vt:lpstr>Calibri</vt:lpstr>
      <vt:lpstr>Courier New</vt:lpstr>
      <vt:lpstr>DDG_ProximaNova</vt:lpstr>
      <vt:lpstr>Mangal</vt:lpstr>
      <vt:lpstr>Wingdings</vt:lpstr>
      <vt:lpstr>Custom</vt:lpstr>
      <vt:lpstr>PowerPoint Presentation</vt:lpstr>
      <vt:lpstr>GAS TURBINES</vt:lpstr>
      <vt:lpstr>INTRODUCTION</vt:lpstr>
      <vt:lpstr>BRAYTON CYCLE</vt:lpstr>
      <vt:lpstr>Gas turbine </vt:lpstr>
      <vt:lpstr>Compressor </vt:lpstr>
      <vt:lpstr>Combustor</vt:lpstr>
      <vt:lpstr>turbine</vt:lpstr>
      <vt:lpstr>Gas turbine fuels</vt:lpstr>
      <vt:lpstr>EFFICIENCY OF</vt:lpstr>
      <vt:lpstr>BLADE EFFICIENCY</vt:lpstr>
      <vt:lpstr>PROCESS OF INTERCOOLING</vt:lpstr>
      <vt:lpstr>PROCESS OF REHEATING</vt:lpstr>
      <vt:lpstr>PROCESS OF Regenerator</vt:lpstr>
      <vt:lpstr>Questions?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tanishk mr</dc:creator>
  <cp:lastModifiedBy>tanishk mr</cp:lastModifiedBy>
  <cp:revision>6</cp:revision>
  <dcterms:created xsi:type="dcterms:W3CDTF">2025-04-30T07:15:03Z</dcterms:created>
  <dcterms:modified xsi:type="dcterms:W3CDTF">2025-05-01T08:48:44Z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